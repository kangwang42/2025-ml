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14" r:id="rId2"/>
    <p:sldId id="276" r:id="rId3"/>
    <p:sldId id="542" r:id="rId4"/>
    <p:sldId id="554" r:id="rId5"/>
    <p:sldId id="557" r:id="rId6"/>
    <p:sldId id="550" r:id="rId7"/>
    <p:sldId id="530" r:id="rId8"/>
    <p:sldId id="556" r:id="rId9"/>
    <p:sldId id="555" r:id="rId10"/>
    <p:sldId id="549" r:id="rId11"/>
    <p:sldId id="462" r:id="rId12"/>
    <p:sldId id="532" r:id="rId13"/>
    <p:sldId id="534" r:id="rId14"/>
    <p:sldId id="543" r:id="rId15"/>
    <p:sldId id="535" r:id="rId16"/>
    <p:sldId id="537" r:id="rId17"/>
    <p:sldId id="538" r:id="rId18"/>
    <p:sldId id="540" r:id="rId19"/>
    <p:sldId id="551" r:id="rId20"/>
    <p:sldId id="545" r:id="rId21"/>
    <p:sldId id="553" r:id="rId22"/>
    <p:sldId id="548" r:id="rId23"/>
    <p:sldId id="552" r:id="rId24"/>
    <p:sldId id="539" r:id="rId25"/>
    <p:sldId id="558" r:id="rId26"/>
    <p:sldId id="570" r:id="rId27"/>
    <p:sldId id="561" r:id="rId28"/>
    <p:sldId id="568" r:id="rId29"/>
    <p:sldId id="569" r:id="rId30"/>
    <p:sldId id="566" r:id="rId31"/>
    <p:sldId id="572" r:id="rId32"/>
    <p:sldId id="573" r:id="rId33"/>
    <p:sldId id="565" r:id="rId34"/>
    <p:sldId id="567" r:id="rId35"/>
    <p:sldId id="560" r:id="rId36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8">
          <p15:clr>
            <a:srgbClr val="A4A3A4"/>
          </p15:clr>
        </p15:guide>
        <p15:guide id="2" pos="21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0B3"/>
    <a:srgbClr val="70AC48"/>
    <a:srgbClr val="FFE699"/>
    <a:srgbClr val="FFC000"/>
    <a:srgbClr val="0000FF"/>
    <a:srgbClr val="0E451B"/>
    <a:srgbClr val="2027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99" autoAdjust="0"/>
    <p:restoredTop sz="83167" autoAdjust="0"/>
  </p:normalViewPr>
  <p:slideViewPr>
    <p:cSldViewPr>
      <p:cViewPr varScale="1">
        <p:scale>
          <a:sx n="83" d="100"/>
          <a:sy n="83" d="100"/>
        </p:scale>
        <p:origin x="188" y="52"/>
      </p:cViewPr>
      <p:guideLst>
        <p:guide orient="horz" pos="2898"/>
        <p:guide pos="215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552" y="6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E1CF3-1557-4903-AA7A-069E8B896DA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EAE90-66CF-41CD-86CF-AB39C198B2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42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65E5E-3078-4BFF-ACDF-4DF89B4A01A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3.R</a:t>
            </a:r>
            <a:r>
              <a:rPr lang="zh-CN" altLang="en-US" dirty="0"/>
              <a:t>实践？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141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564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079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842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907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739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385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两个均方误差的比值，被</a:t>
            </a:r>
            <a:r>
              <a:rPr lang="en-US" altLang="zh-CN" dirty="0"/>
              <a:t>1</a:t>
            </a:r>
            <a:r>
              <a:rPr lang="zh-CN" altLang="en-US" dirty="0"/>
              <a:t>减去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27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257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624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258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如果让人去选择，应该会更倾向于系统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，至少会给出一些正例的信息，但如果用准确率作为评价指标，将会更倾向于准确率更高的系统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，系统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分对了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个样本，而系统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分对了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个。可见，准确率更高的系统不一定是更好的系统。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638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召回”的直观含义：在中文中，“召回”一词原意是“叫回”或“收回”，常用于产品召回（如汽车召回有缺陷的部件）。在统计学中，它被借用为一种比喻：模型的任务是“召回”所有应该被识别出的正例样本，即“找回”那些可能被遗漏的正例（</a:t>
            </a:r>
            <a:r>
              <a:rPr lang="en-US" altLang="zh-CN" sz="1200" dirty="0"/>
              <a:t>FN</a:t>
            </a:r>
            <a:r>
              <a:rPr lang="zh-CN" altLang="en-US" sz="1200" dirty="0"/>
              <a:t>部分）。例如，在垃圾邮件过滤中，高</a:t>
            </a:r>
            <a:r>
              <a:rPr lang="en-US" altLang="zh-CN" sz="1200" dirty="0"/>
              <a:t>recall</a:t>
            </a:r>
            <a:r>
              <a:rPr lang="zh-CN" altLang="en-US" sz="1200" dirty="0"/>
              <a:t>意味着模型成功“召回”了大部分实际垃圾邮件，减少了漏网之鱼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514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err="1"/>
              <a:t>Break-Even【t</a:t>
            </a:r>
            <a:r>
              <a:rPr lang="en-US" altLang="zh-CN" sz="1200" dirty="0"/>
              <a:t>】 Point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在进行比较时，若一个学习器的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曲线被另一个学习器的曲线完全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包住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则可断言后者的性能优于前者，当两个曲线发生交叉时则难以一般性地断言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两者孰优孰劣，这时一个比较合理的判据是比较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P-R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曲线节面积的大小，它在一定程度上表征了学习器在查准率和查全率上取得相对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双高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的比例。但这个值不太容易估算，因此人们设计了一些综合考虑查准率 、查全率的性能度量 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4052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算术平均数、几何平均数、调和平均数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874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在一些应用中，对查准率和查全率的重视程度有所不同</a:t>
            </a:r>
            <a:r>
              <a:rPr lang="en-US" altLang="zh-CN" dirty="0"/>
              <a:t>.</a:t>
            </a:r>
            <a:r>
              <a:rPr lang="zh-CN" altLang="en-US" dirty="0"/>
              <a:t>例如在肿瘤筛查中，我们希望有更高的查全率，有一些误诊率也可以接受，因为一旦漏诊，代价会比较高昂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7803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6941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8856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1870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996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在某一类中的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False Positive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样本，一定是其他某类别的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False Negative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样本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比如说系统错把「狗」预测成「猫」，那么对于狗而言，其错误类型就是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False Negative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，对于猫而言，其错误类型就是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False Positive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1515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642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0962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815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9010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1055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9778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4119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420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7150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191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0955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65E5E-3078-4BFF-ACDF-4DF89B4A01A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574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F1EDA-2185-4E13-833A-11DC947F0B31}" type="datetime1">
              <a:rPr lang="en-US" altLang="zh-CN" smtClean="0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438B5-E977-4F18-A537-6151DEA6F160}" type="datetime1">
              <a:rPr lang="en-US" altLang="zh-CN" smtClean="0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98017-1D30-4CC7-A6CC-54A233630E7B}" type="datetime1">
              <a:rPr lang="en-US" altLang="zh-CN" smtClean="0"/>
              <a:t>9/25/2025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356C9-F7B0-411B-8D30-BF9882AF1535}" type="datetime1">
              <a:rPr lang="en-US" altLang="zh-CN" smtClean="0"/>
              <a:t>9/25/2025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2D703-4F80-43D3-A047-6741BF785863}" type="datetime1">
              <a:rPr lang="en-US" altLang="zh-CN" smtClean="0"/>
              <a:t>9/25/2025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7656-F52A-4C60-AD4A-5BD73BEB40CB}" type="datetime1">
              <a:rPr lang="en-US" altLang="zh-CN" smtClean="0"/>
              <a:t>9/25/2025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C41060A-B4F9-43A1-9C54-EEC2C3C9E745}" type="slidenum">
              <a:rPr lang="zh-CN" altLang="en-US">
                <a:solidFill>
                  <a:srgbClr val="003366"/>
                </a:solidFill>
              </a:rPr>
              <a:t>‹#›</a:t>
            </a:fld>
            <a:endParaRPr lang="en-US" altLang="zh-CN">
              <a:solidFill>
                <a:srgbClr val="003366"/>
              </a:solidFill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4" y="6256020"/>
            <a:ext cx="12188951" cy="1097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96205" y="477205"/>
            <a:ext cx="5999588" cy="1005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41021" y="1224804"/>
            <a:ext cx="6453505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93802-85A7-4100-A586-803CE70513F5}" type="datetime1">
              <a:rPr lang="en-US" altLang="zh-CN" smtClean="0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90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8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9.png"/><Relationship Id="rId4" Type="http://schemas.openxmlformats.org/officeDocument/2006/relationships/image" Target="../media/image7.png"/><Relationship Id="rId9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7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7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1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7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46.png"/><Relationship Id="rId5" Type="http://schemas.openxmlformats.org/officeDocument/2006/relationships/image" Target="../media/image55.png"/><Relationship Id="rId10" Type="http://schemas.openxmlformats.org/officeDocument/2006/relationships/image" Target="../media/image41.png"/><Relationship Id="rId4" Type="http://schemas.openxmlformats.org/officeDocument/2006/relationships/image" Target="../media/image54.png"/><Relationship Id="rId9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49" b="60669"/>
          <a:stretch>
            <a:fillRect/>
          </a:stretch>
        </p:blipFill>
        <p:spPr>
          <a:xfrm>
            <a:off x="0" y="536121"/>
            <a:ext cx="4401879" cy="2366567"/>
          </a:xfrm>
          <a:prstGeom prst="rect">
            <a:avLst/>
          </a:prstGeom>
        </p:spPr>
      </p:pic>
      <p:pic>
        <p:nvPicPr>
          <p:cNvPr id="6" name="图片 5" descr="图片包含 看着, 女人, 房间, 食物&#10;&#10;描述已自动生成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9" b="28461"/>
          <a:stretch>
            <a:fillRect/>
          </a:stretch>
        </p:blipFill>
        <p:spPr>
          <a:xfrm>
            <a:off x="0" y="1531999"/>
            <a:ext cx="12191999" cy="12874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00099" y="1548628"/>
            <a:ext cx="10591800" cy="106984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8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机器学习（</a:t>
            </a:r>
            <a:r>
              <a:rPr lang="en-US" altLang="zh-CN" sz="48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Machine Learning)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505200" y="3641634"/>
            <a:ext cx="6172200" cy="213853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600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中山大学公共卫生学院</a:t>
            </a:r>
            <a:endParaRPr lang="en-US" altLang="zh-CN" sz="3600" dirty="0">
              <a:solidFill>
                <a:schemeClr val="accent6">
                  <a:lumMod val="50000"/>
                </a:schemeClr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讲者：周晓（</a:t>
            </a:r>
            <a:r>
              <a:rPr lang="en-US" altLang="zh-CN" sz="28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23</a:t>
            </a:r>
            <a:r>
              <a:rPr lang="zh-CN" altLang="en-US" sz="28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届全日制硕士）</a:t>
            </a:r>
            <a:endParaRPr lang="en-US" altLang="zh-CN" sz="2800" b="1" dirty="0">
              <a:solidFill>
                <a:srgbClr val="115522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导师：林爱华 教授、张晋昕 教授</a:t>
            </a:r>
          </a:p>
        </p:txBody>
      </p:sp>
      <p:pic>
        <p:nvPicPr>
          <p:cNvPr id="5" name="图片 4" descr="图片包含 游戏机, 画, 食物, 标志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E642ACB-FF2E-4207-B10F-0562BAFDF3A3}"/>
              </a:ext>
            </a:extLst>
          </p:cNvPr>
          <p:cNvSpPr txBox="1"/>
          <p:nvPr/>
        </p:nvSpPr>
        <p:spPr>
          <a:xfrm>
            <a:off x="1847331" y="2700687"/>
            <a:ext cx="8497336" cy="825094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dirty="0"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3600" b="1" dirty="0"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3.1</a:t>
            </a:r>
            <a:r>
              <a:rPr lang="zh-CN" altLang="en-US" sz="3600" b="1" dirty="0"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讲   评价指标体系（上）</a:t>
            </a:r>
            <a:endParaRPr lang="en-US" altLang="zh-CN" sz="3600" b="1" dirty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A01B10-FEC1-4283-9929-947CC1287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1731010" y="1731645"/>
            <a:ext cx="6858000" cy="339534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rot="5400000">
            <a:off x="-1663229" y="3390448"/>
            <a:ext cx="6858001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71"/>
          <p:cNvGrpSpPr/>
          <p:nvPr/>
        </p:nvGrpSpPr>
        <p:grpSpPr bwMode="auto">
          <a:xfrm>
            <a:off x="5638800" y="1596593"/>
            <a:ext cx="3901058" cy="608136"/>
            <a:chOff x="8134913" y="3271350"/>
            <a:chExt cx="3901189" cy="608807"/>
          </a:xfrm>
        </p:grpSpPr>
        <p:sp>
          <p:nvSpPr>
            <p:cNvPr id="28" name="文本框 5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034799" y="3294737"/>
              <a:ext cx="3001303" cy="585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3200" b="1" dirty="0">
                  <a:latin typeface="微软雅黑" panose="020B0503020204020204" pitchFamily="34" charset="-122"/>
                </a:rPr>
                <a:t>评价指标概述 </a:t>
              </a:r>
            </a:p>
          </p:txBody>
        </p:sp>
        <p:grpSp>
          <p:nvGrpSpPr>
            <p:cNvPr id="29" name="组合 64"/>
            <p:cNvGrpSpPr/>
            <p:nvPr/>
          </p:nvGrpSpPr>
          <p:grpSpPr bwMode="auto">
            <a:xfrm>
              <a:off x="8134913" y="3271350"/>
              <a:ext cx="899886" cy="606586"/>
              <a:chOff x="8134913" y="3271350"/>
              <a:chExt cx="899886" cy="606586"/>
            </a:xfrm>
          </p:grpSpPr>
          <p:sp>
            <p:nvSpPr>
              <p:cNvPr id="37" name="文本框 61"/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8134913" y="3292516"/>
                <a:ext cx="899886" cy="585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dirty="0">
                    <a:solidFill>
                      <a:schemeClr val="accent1"/>
                    </a:solidFill>
                    <a:latin typeface="微软雅黑" panose="020B0503020204020204" pitchFamily="34" charset="-122"/>
                  </a:rPr>
                  <a:t>1</a:t>
                </a:r>
                <a:endParaRPr lang="zh-CN" altLang="en-US" sz="3200" b="1" dirty="0">
                  <a:solidFill>
                    <a:schemeClr val="accent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48" name="矩形 47"/>
              <p:cNvSpPr/>
              <p:nvPr>
                <p:custDataLst>
                  <p:tags r:id="rId11"/>
                </p:custDataLst>
              </p:nvPr>
            </p:nvSpPr>
            <p:spPr>
              <a:xfrm>
                <a:off x="8219392" y="3271350"/>
                <a:ext cx="730928" cy="56493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 dirty="0"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8" name="组合 71"/>
          <p:cNvGrpSpPr/>
          <p:nvPr/>
        </p:nvGrpSpPr>
        <p:grpSpPr bwMode="auto">
          <a:xfrm>
            <a:off x="5638800" y="2930309"/>
            <a:ext cx="3901058" cy="608137"/>
            <a:chOff x="8134913" y="3271350"/>
            <a:chExt cx="3901189" cy="608807"/>
          </a:xfrm>
        </p:grpSpPr>
        <p:sp>
          <p:nvSpPr>
            <p:cNvPr id="63" name="文本框 5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9034799" y="3294737"/>
              <a:ext cx="3001303" cy="585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3200" b="1" dirty="0">
                  <a:latin typeface="微软雅黑" panose="020B0503020204020204" pitchFamily="34" charset="-122"/>
                </a:rPr>
                <a:t>回归任务指标</a:t>
              </a:r>
            </a:p>
          </p:txBody>
        </p:sp>
        <p:grpSp>
          <p:nvGrpSpPr>
            <p:cNvPr id="66" name="组合 64"/>
            <p:cNvGrpSpPr/>
            <p:nvPr/>
          </p:nvGrpSpPr>
          <p:grpSpPr bwMode="auto">
            <a:xfrm>
              <a:off x="8134913" y="3271350"/>
              <a:ext cx="899886" cy="606586"/>
              <a:chOff x="8134913" y="3271350"/>
              <a:chExt cx="899886" cy="606586"/>
            </a:xfrm>
          </p:grpSpPr>
          <p:sp>
            <p:nvSpPr>
              <p:cNvPr id="67" name="文本框 61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8134913" y="3292516"/>
                <a:ext cx="899886" cy="585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dirty="0">
                    <a:solidFill>
                      <a:schemeClr val="accent1"/>
                    </a:solidFill>
                    <a:latin typeface="微软雅黑" panose="020B0503020204020204" pitchFamily="34" charset="-122"/>
                  </a:rPr>
                  <a:t>2</a:t>
                </a:r>
                <a:endParaRPr lang="zh-CN" altLang="en-US" sz="3200" b="1" dirty="0">
                  <a:solidFill>
                    <a:schemeClr val="accent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68" name="矩形 67"/>
              <p:cNvSpPr/>
              <p:nvPr>
                <p:custDataLst>
                  <p:tags r:id="rId8"/>
                </p:custDataLst>
              </p:nvPr>
            </p:nvSpPr>
            <p:spPr>
              <a:xfrm>
                <a:off x="8219392" y="3271350"/>
                <a:ext cx="730928" cy="56493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 dirty="0">
                  <a:latin typeface="微软雅黑" panose="020B0503020204020204" pitchFamily="34" charset="-122"/>
                </a:endParaRPr>
              </a:p>
            </p:txBody>
          </p:sp>
        </p:grpSp>
      </p:grpSp>
      <p:sp>
        <p:nvSpPr>
          <p:cNvPr id="7172" name="文本框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95350" y="2593975"/>
            <a:ext cx="23209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目录</a:t>
            </a:r>
          </a:p>
        </p:txBody>
      </p:sp>
      <p:sp>
        <p:nvSpPr>
          <p:cNvPr id="7173" name="文本框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3556000"/>
            <a:ext cx="3225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zh-CN" altLang="en-US" sz="4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图片 35" descr="图片包含 游戏机, 画, 食物, 标志&#10;&#10;描述已自动生成">
            <a:extLst>
              <a:ext uri="{FF2B5EF4-FFF2-40B4-BE49-F238E27FC236}">
                <a16:creationId xmlns:a16="http://schemas.microsoft.com/office/drawing/2014/main" id="{F29926AE-B640-4B71-9A3D-F6EF69DFACE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grpSp>
        <p:nvGrpSpPr>
          <p:cNvPr id="38" name="组合 71">
            <a:extLst>
              <a:ext uri="{FF2B5EF4-FFF2-40B4-BE49-F238E27FC236}">
                <a16:creationId xmlns:a16="http://schemas.microsoft.com/office/drawing/2014/main" id="{96D7784A-B1D4-4E02-B475-5BC646FAA48D}"/>
              </a:ext>
            </a:extLst>
          </p:cNvPr>
          <p:cNvGrpSpPr/>
          <p:nvPr/>
        </p:nvGrpSpPr>
        <p:grpSpPr bwMode="auto">
          <a:xfrm>
            <a:off x="5638800" y="4264025"/>
            <a:ext cx="3901058" cy="608136"/>
            <a:chOff x="8134913" y="3271350"/>
            <a:chExt cx="3901189" cy="608806"/>
          </a:xfrm>
        </p:grpSpPr>
        <p:sp>
          <p:nvSpPr>
            <p:cNvPr id="39" name="文本框 59">
              <a:extLst>
                <a:ext uri="{FF2B5EF4-FFF2-40B4-BE49-F238E27FC236}">
                  <a16:creationId xmlns:a16="http://schemas.microsoft.com/office/drawing/2014/main" id="{460C9450-3435-4995-9A84-90DAC5D2F6D3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034799" y="3294737"/>
              <a:ext cx="3001303" cy="585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3200" b="1" dirty="0">
                  <a:latin typeface="微软雅黑" panose="020B0503020204020204" pitchFamily="34" charset="-122"/>
                </a:rPr>
                <a:t>分类任务指标</a:t>
              </a:r>
            </a:p>
          </p:txBody>
        </p:sp>
        <p:grpSp>
          <p:nvGrpSpPr>
            <p:cNvPr id="40" name="组合 64">
              <a:extLst>
                <a:ext uri="{FF2B5EF4-FFF2-40B4-BE49-F238E27FC236}">
                  <a16:creationId xmlns:a16="http://schemas.microsoft.com/office/drawing/2014/main" id="{57FBAC9E-F315-4A38-B142-1B83DDE7089E}"/>
                </a:ext>
              </a:extLst>
            </p:cNvPr>
            <p:cNvGrpSpPr/>
            <p:nvPr/>
          </p:nvGrpSpPr>
          <p:grpSpPr bwMode="auto">
            <a:xfrm>
              <a:off x="8134913" y="3271350"/>
              <a:ext cx="899886" cy="606586"/>
              <a:chOff x="8134913" y="3271350"/>
              <a:chExt cx="899886" cy="606586"/>
            </a:xfrm>
          </p:grpSpPr>
          <p:sp>
            <p:nvSpPr>
              <p:cNvPr id="41" name="文本框 61">
                <a:extLst>
                  <a:ext uri="{FF2B5EF4-FFF2-40B4-BE49-F238E27FC236}">
                    <a16:creationId xmlns:a16="http://schemas.microsoft.com/office/drawing/2014/main" id="{C52D1C15-A85D-4DB6-A898-31285052ED4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134913" y="3292516"/>
                <a:ext cx="899886" cy="585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dirty="0">
                    <a:solidFill>
                      <a:schemeClr val="accent1"/>
                    </a:solidFill>
                    <a:latin typeface="微软雅黑" panose="020B0503020204020204" pitchFamily="34" charset="-122"/>
                  </a:rPr>
                  <a:t>3</a:t>
                </a:r>
                <a:endParaRPr lang="zh-CN" altLang="en-US" sz="3200" b="1" dirty="0">
                  <a:solidFill>
                    <a:schemeClr val="accent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670E14E-DFB4-4415-B1FE-1326121BD0BD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8219392" y="3271350"/>
                <a:ext cx="730928" cy="56493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 dirty="0">
                  <a:latin typeface="微软雅黑" panose="020B0503020204020204" pitchFamily="34" charset="-122"/>
                </a:endParaRPr>
              </a:p>
            </p:txBody>
          </p:sp>
        </p:grp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9246E33-C83E-451C-9F76-65D882B4ED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2</a:t>
            </a:fld>
            <a:endParaRPr lang="en-US" altLang="zh-CN"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3042076"/>
            <a:ext cx="4060719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评价指标概述 </a:t>
            </a:r>
          </a:p>
        </p:txBody>
      </p:sp>
      <p:pic>
        <p:nvPicPr>
          <p:cNvPr id="12" name="图片 11" descr="图片包含 游戏机, 画, 食物, 标志&#10;&#10;描述已自动生成">
            <a:extLst>
              <a:ext uri="{FF2B5EF4-FFF2-40B4-BE49-F238E27FC236}">
                <a16:creationId xmlns:a16="http://schemas.microsoft.com/office/drawing/2014/main" id="{3890F2E0-CFB5-4624-8372-7B1D6D0A13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007E4EF-8EE4-4AF5-9193-681C01DFF6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3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3396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评价指标概述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16261D-332A-4D6D-9190-C2E8120E34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4</a:t>
            </a:fld>
            <a:endParaRPr lang="en-US" altLang="zh-CN" spc="-5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D87F24-92E1-48AC-936C-534203BECC8A}"/>
              </a:ext>
            </a:extLst>
          </p:cNvPr>
          <p:cNvSpPr txBox="1"/>
          <p:nvPr/>
        </p:nvSpPr>
        <p:spPr>
          <a:xfrm>
            <a:off x="1104900" y="1676400"/>
            <a:ext cx="9982200" cy="3905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机器学习中有很多评价指标，通常是一个具体的数字，代表系统</a:t>
            </a:r>
            <a:r>
              <a:rPr lang="en-US" altLang="zh-CN" sz="2400" spc="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spc="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在某项任务上的准确程度或者不准确的程度。</a:t>
            </a:r>
            <a:endParaRPr lang="en-US" altLang="zh-CN" sz="2400" b="0" i="0" spc="10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不同的评价指标就是用不同的方法来评价系统的好坏，或者来比较两个系统哪个</a:t>
            </a:r>
            <a:r>
              <a:rPr lang="zh-CN" altLang="en-US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更优</a:t>
            </a: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0" i="0" spc="10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选择合适的评价指标有助于选出更适合于当前任务的算法。评价指标是建立在不同的机器学习任务上的，主要分为三大类：</a:t>
            </a:r>
          </a:p>
          <a:p>
            <a:pPr algn="just">
              <a:lnSpc>
                <a:spcPct val="150000"/>
              </a:lnSpc>
            </a:pPr>
            <a:endParaRPr lang="zh-CN" altLang="zh-CN" sz="2400" b="0" i="0" spc="10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AB6614-3419-4AE2-8410-6BD2AD85AFE2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760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评价指标概述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16261D-332A-4D6D-9190-C2E8120E34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5</a:t>
            </a:fld>
            <a:endParaRPr lang="en-US" altLang="zh-CN" spc="-5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D87F24-92E1-48AC-936C-534203BECC8A}"/>
              </a:ext>
            </a:extLst>
          </p:cNvPr>
          <p:cNvSpPr txBox="1"/>
          <p:nvPr/>
        </p:nvSpPr>
        <p:spPr>
          <a:xfrm>
            <a:off x="654672" y="970819"/>
            <a:ext cx="11229842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zh-CN" sz="2400" b="1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回归任务</a:t>
            </a:r>
            <a:r>
              <a:rPr lang="zh-CN" altLang="en-US" sz="2400" b="1" spc="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，是预测具体的数字，要关注的是预测值和真实值之间的差别；</a:t>
            </a:r>
          </a:p>
          <a:p>
            <a:pPr algn="just">
              <a:lnSpc>
                <a:spcPct val="150000"/>
              </a:lnSpc>
            </a:pP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zh-CN" sz="2400" b="1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分类任务</a:t>
            </a:r>
            <a:r>
              <a:rPr lang="zh-CN" altLang="en-US" sz="2400" b="1" spc="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，评价指标关注的是系统分类正确的能力，会去计算对所有需要分类的样本，有多少分对了，多少分错了；</a:t>
            </a:r>
          </a:p>
          <a:p>
            <a:pPr algn="just">
              <a:lnSpc>
                <a:spcPct val="150000"/>
              </a:lnSpc>
            </a:pP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对于没有标记信息的</a:t>
            </a:r>
            <a:r>
              <a:rPr lang="zh-CN" altLang="zh-CN" sz="2400" b="1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无监督学习任务</a:t>
            </a:r>
            <a:r>
              <a:rPr lang="zh-CN" altLang="en-US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评价指标关注的是系统对数据的描述的好坏，</a:t>
            </a:r>
            <a:r>
              <a:rPr lang="zh-CN" altLang="en-US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评价</a:t>
            </a:r>
            <a:r>
              <a:rPr lang="zh-CN" altLang="en-US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较为困</a:t>
            </a:r>
            <a:r>
              <a:rPr lang="zh-CN" altLang="zh-CN" sz="2400" b="0" i="0" spc="10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难。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89C9029-6DD2-41B1-AAFA-659E2DCF46C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" t="5976" r="3127" b="13381"/>
          <a:stretch/>
        </p:blipFill>
        <p:spPr>
          <a:xfrm>
            <a:off x="761999" y="4267200"/>
            <a:ext cx="10995575" cy="174563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FE373FA-BDDF-415C-8292-5405972F1D1D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405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3042076"/>
            <a:ext cx="3877977" cy="156965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回归任务指标</a:t>
            </a:r>
          </a:p>
          <a:p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 descr="图片包含 游戏机, 画, 食物, 标志&#10;&#10;描述已自动生成">
            <a:extLst>
              <a:ext uri="{FF2B5EF4-FFF2-40B4-BE49-F238E27FC236}">
                <a16:creationId xmlns:a16="http://schemas.microsoft.com/office/drawing/2014/main" id="{3890F2E0-CFB5-4624-8372-7B1D6D0A13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A650A45-19B3-4DA2-958F-662F086E62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6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2160781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回归任务指标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30414BF-4B02-4BA3-AAEB-FE20115EC13A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743AA33-84D8-4ED5-AF15-2A3C465CC2AF}"/>
              </a:ext>
            </a:extLst>
          </p:cNvPr>
          <p:cNvSpPr txBox="1"/>
          <p:nvPr/>
        </p:nvSpPr>
        <p:spPr>
          <a:xfrm>
            <a:off x="644070" y="1112697"/>
            <a:ext cx="10869837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平均绝对误差</a:t>
            </a:r>
            <a:r>
              <a:rPr lang="en-US" altLang="zh-CN" sz="2400" dirty="0"/>
              <a:t>Mean Absolute Error </a:t>
            </a:r>
            <a:r>
              <a:rPr lang="zh-CN" altLang="en-US" sz="2400" dirty="0"/>
              <a:t>（</a:t>
            </a:r>
            <a:r>
              <a:rPr lang="en-US" altLang="zh-CN" sz="2400" dirty="0"/>
              <a:t>MAE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是通过计算预测值和真实值之间的距离的绝对值的均值，来衡量预测值与真实值之间的距离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绝对中位差</a:t>
            </a:r>
            <a:r>
              <a:rPr lang="en-US" altLang="zh-CN" sz="2400" dirty="0"/>
              <a:t>median absolute deviation </a:t>
            </a:r>
            <a:r>
              <a:rPr lang="zh-CN" altLang="en-US" sz="2400" dirty="0"/>
              <a:t>（</a:t>
            </a:r>
            <a:r>
              <a:rPr lang="en-US" altLang="zh-CN" sz="2400" dirty="0"/>
              <a:t> MAD 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对预测值和真实值之差的绝对值不求均值，而取中位数的话，即为</a:t>
            </a:r>
            <a:r>
              <a:rPr lang="en-US" altLang="zh-CN" sz="2400" dirty="0"/>
              <a:t>Median Absolute Deviation</a:t>
            </a:r>
            <a:r>
              <a:rPr lang="zh-CN" altLang="en-US" sz="2400" dirty="0"/>
              <a:t>（</a:t>
            </a:r>
            <a:r>
              <a:rPr lang="en-US" altLang="zh-CN" sz="2400" dirty="0"/>
              <a:t>MAD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MAE</a:t>
            </a:r>
            <a:r>
              <a:rPr lang="zh-CN" altLang="en-US" sz="2400" dirty="0"/>
              <a:t>和</a:t>
            </a:r>
            <a:r>
              <a:rPr lang="en-US" altLang="zh-CN" sz="2400" dirty="0"/>
              <a:t>MAD</a:t>
            </a:r>
            <a:r>
              <a:rPr lang="zh-CN" altLang="en-US" sz="2400" dirty="0"/>
              <a:t>对离群值不敏感，但不能求导，对于优化器来说，优化目标可导是很重要的，所以</a:t>
            </a:r>
            <a:r>
              <a:rPr lang="en-US" altLang="zh-CN" sz="2400" dirty="0"/>
              <a:t>MAD</a:t>
            </a:r>
            <a:r>
              <a:rPr lang="zh-CN" altLang="en-US" sz="2400" dirty="0"/>
              <a:t>和</a:t>
            </a:r>
            <a:r>
              <a:rPr lang="en-US" altLang="zh-CN" sz="2400" dirty="0"/>
              <a:t>MAE</a:t>
            </a:r>
            <a:r>
              <a:rPr lang="zh-CN" altLang="en-US" sz="2400" dirty="0"/>
              <a:t>不被经常使用。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CFC18E57-AE98-4F31-88BB-9C19FAE6C6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7</a:t>
            </a:fld>
            <a:endParaRPr lang="en-US" altLang="zh-CN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160C521-9118-44D6-A9CC-8E9BC7B78808}"/>
                  </a:ext>
                </a:extLst>
              </p:cNvPr>
              <p:cNvSpPr txBox="1"/>
              <p:nvPr/>
            </p:nvSpPr>
            <p:spPr>
              <a:xfrm>
                <a:off x="3405948" y="4800600"/>
                <a:ext cx="36652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400" i="1" dirty="0">
                    <a:latin typeface="+mn-ea"/>
                  </a:rPr>
                  <a:t>MAD = median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sz="24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24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24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zh-CN" altLang="en-US" sz="2400" i="1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160C521-9118-44D6-A9CC-8E9BC7B78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948" y="4800600"/>
                <a:ext cx="3665299" cy="369332"/>
              </a:xfrm>
              <a:prstGeom prst="rect">
                <a:avLst/>
              </a:prstGeom>
              <a:blipFill>
                <a:blip r:embed="rId4"/>
                <a:stretch>
                  <a:fillRect l="-5158" t="-31667" b="-4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021BE5E-3994-4658-A97E-72CF491812F8}"/>
                  </a:ext>
                </a:extLst>
              </p:cNvPr>
              <p:cNvSpPr txBox="1"/>
              <p:nvPr/>
            </p:nvSpPr>
            <p:spPr>
              <a:xfrm>
                <a:off x="3276600" y="2051087"/>
                <a:ext cx="3474284" cy="1045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021BE5E-3994-4658-A97E-72CF49181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051087"/>
                <a:ext cx="3474284" cy="1045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682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回归任务指标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30414BF-4B02-4BA3-AAEB-FE20115EC13A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743AA33-84D8-4ED5-AF15-2A3C465CC2AF}"/>
                  </a:ext>
                </a:extLst>
              </p:cNvPr>
              <p:cNvSpPr txBox="1"/>
              <p:nvPr/>
            </p:nvSpPr>
            <p:spPr>
              <a:xfrm>
                <a:off x="1371600" y="1062063"/>
                <a:ext cx="10058400" cy="4853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均方误差</a:t>
                </a:r>
                <a:r>
                  <a:rPr lang="en-US" altLang="zh-CN" sz="2400" dirty="0"/>
                  <a:t>Mean Squared Error </a:t>
                </a:r>
                <a:r>
                  <a:rPr lang="zh-CN" altLang="en-US" sz="2400" dirty="0"/>
                  <a:t>（</a:t>
                </a:r>
                <a:r>
                  <a:rPr lang="en-US" altLang="zh-CN" sz="2400" dirty="0"/>
                  <a:t>MSE</a:t>
                </a:r>
                <a:r>
                  <a:rPr lang="zh-CN" altLang="en-US" sz="2400" dirty="0"/>
                  <a:t>）</a:t>
                </a:r>
              </a:p>
              <a:p>
                <a:r>
                  <a:rPr lang="zh-CN" altLang="en-US" sz="2400" dirty="0"/>
                  <a:t>通过计算真实值与预测值的差值的平方和的均值来衡量距离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                                         </a:t>
                </a:r>
                <a:r>
                  <a:rPr lang="en-US" altLang="zh-CN" sz="2400" i="1" dirty="0"/>
                  <a:t>MSE</a:t>
                </a:r>
                <a:r>
                  <a:rPr lang="en-US" altLang="zh-CN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000" dirty="0"/>
              </a:p>
              <a:p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均方根误差 </a:t>
                </a:r>
                <a:r>
                  <a:rPr lang="en-US" altLang="zh-CN" sz="2400" dirty="0"/>
                  <a:t>Root Mean Squared Error </a:t>
                </a:r>
                <a:r>
                  <a:rPr lang="zh-CN" altLang="en-US" sz="2400" dirty="0"/>
                  <a:t>（</a:t>
                </a:r>
                <a:r>
                  <a:rPr lang="en-US" altLang="zh-CN" sz="2400" dirty="0"/>
                  <a:t>RMSE</a:t>
                </a:r>
                <a:r>
                  <a:rPr lang="zh-CN" altLang="en-US" sz="2400" dirty="0"/>
                  <a:t>）</a:t>
                </a:r>
              </a:p>
              <a:p>
                <a:r>
                  <a:rPr lang="zh-CN" altLang="en-US" sz="2400" dirty="0"/>
                  <a:t>代表的是预测值与真实值差值的样本标准差，也就是</a:t>
                </a:r>
                <a:r>
                  <a:rPr lang="en-US" altLang="zh-CN" sz="2400" dirty="0"/>
                  <a:t>MSE</a:t>
                </a:r>
                <a:r>
                  <a:rPr lang="zh-CN" altLang="en-US" sz="2400" dirty="0"/>
                  <a:t>的平方根，和 </a:t>
                </a:r>
                <a:r>
                  <a:rPr lang="en-US" altLang="zh-CN" sz="2400" dirty="0"/>
                  <a:t>MAE </a:t>
                </a:r>
                <a:r>
                  <a:rPr lang="zh-CN" altLang="en-US" sz="2400" dirty="0"/>
                  <a:t>相比，解决了不能求导的问题，但对离群点敏感，其鲁棒性不如 </a:t>
                </a:r>
                <a:r>
                  <a:rPr lang="en-US" altLang="zh-CN" sz="2400" dirty="0"/>
                  <a:t>MAE</a:t>
                </a:r>
              </a:p>
              <a:p>
                <a:endParaRPr lang="zh-CN" altLang="en-US" sz="2400" dirty="0"/>
              </a:p>
              <a:p>
                <a:r>
                  <a:rPr lang="en-US" altLang="zh-CN" sz="2400" dirty="0"/>
                  <a:t>                                                </a:t>
                </a:r>
                <a:r>
                  <a:rPr lang="en-US" altLang="zh-CN" sz="2400" i="1" dirty="0"/>
                  <a:t>RMSE</a:t>
                </a:r>
                <a:r>
                  <a:rPr lang="en-US" altLang="zh-CN" sz="2400" dirty="0"/>
                  <a:t>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rad>
                  </m:oMath>
                </a14:m>
                <a:endParaRPr lang="zh-CN" altLang="en-US" sz="24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743AA33-84D8-4ED5-AF15-2A3C465CC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062063"/>
                <a:ext cx="10058400" cy="4853252"/>
              </a:xfrm>
              <a:prstGeom prst="rect">
                <a:avLst/>
              </a:prstGeom>
              <a:blipFill>
                <a:blip r:embed="rId4"/>
                <a:stretch>
                  <a:fillRect l="-909" r="-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CFC18E57-AE98-4F31-88BB-9C19FAE6C6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8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1439569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回归任务指标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30414BF-4B02-4BA3-AAEB-FE20115EC13A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CFC18E57-AE98-4F31-88BB-9C19FAE6C6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9</a:t>
            </a:fld>
            <a:endParaRPr lang="en-US" altLang="zh-CN" spc="-5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757E54-A47D-4B17-8CCD-B296049D9BDC}"/>
              </a:ext>
            </a:extLst>
          </p:cNvPr>
          <p:cNvSpPr txBox="1"/>
          <p:nvPr/>
        </p:nvSpPr>
        <p:spPr>
          <a:xfrm>
            <a:off x="644070" y="831651"/>
            <a:ext cx="11166930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的计算中，一个离真实值很远的错误值会和许多许多小错误效果相同。如预测书价格的系统，总共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本书的价格，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将其中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99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个都预测完全正确，只有一个差了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本书都和真实价格差了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块，这两个系统的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是一样的值，因为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会取平方，所以对离群值会很敏感。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4F1C1F5-FE10-40AD-B247-0C72A194C367}"/>
              </a:ext>
            </a:extLst>
          </p:cNvPr>
          <p:cNvGrpSpPr/>
          <p:nvPr/>
        </p:nvGrpSpPr>
        <p:grpSpPr>
          <a:xfrm>
            <a:off x="1607496" y="2980017"/>
            <a:ext cx="3643007" cy="3877983"/>
            <a:chOff x="6096000" y="3034401"/>
            <a:chExt cx="3643007" cy="3877983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82A970CA-2402-4521-A7AC-D0A6EE49A0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04" t="3990" r="11926" b="3972"/>
            <a:stretch/>
          </p:blipFill>
          <p:spPr bwMode="auto">
            <a:xfrm>
              <a:off x="6096000" y="3034401"/>
              <a:ext cx="3643007" cy="3877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A1225DAD-36F0-45FB-8F83-0022AC4C58FC}"/>
                </a:ext>
              </a:extLst>
            </p:cNvPr>
            <p:cNvSpPr/>
            <p:nvPr/>
          </p:nvSpPr>
          <p:spPr>
            <a:xfrm flipH="1" flipV="1">
              <a:off x="9580715" y="6681575"/>
              <a:ext cx="158292" cy="158932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80116498-CE94-40A8-A50D-AEF8F8852885}"/>
              </a:ext>
            </a:extLst>
          </p:cNvPr>
          <p:cNvSpPr txBox="1"/>
          <p:nvPr/>
        </p:nvSpPr>
        <p:spPr>
          <a:xfrm>
            <a:off x="6096000" y="3886200"/>
            <a:ext cx="3352800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引入一个离群值（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红色点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）：红色曲线的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将比蓝色要小，系统会倾向于选择红色曲线</a:t>
            </a:r>
          </a:p>
        </p:txBody>
      </p:sp>
    </p:spTree>
    <p:extLst>
      <p:ext uri="{BB962C8B-B14F-4D97-AF65-F5344CB8AC3E}">
        <p14:creationId xmlns:p14="http://schemas.microsoft.com/office/powerpoint/2010/main" val="759533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回归任务指标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30414BF-4B02-4BA3-AAEB-FE20115EC13A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CFC18E57-AE98-4F31-88BB-9C19FAE6C6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10</a:t>
            </a:fld>
            <a:endParaRPr lang="en-US" altLang="zh-CN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4E9421D-6076-4587-A304-0BFCE178A789}"/>
                  </a:ext>
                </a:extLst>
              </p:cNvPr>
              <p:cNvSpPr txBox="1"/>
              <p:nvPr/>
            </p:nvSpPr>
            <p:spPr>
              <a:xfrm>
                <a:off x="966288" y="875124"/>
                <a:ext cx="11033633" cy="2797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决定系数（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R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决定系数评估的是预测模型相对于基准模型（真实值的平均值作为预测值）的好坏程度，当我们只有真实值的标签的时候，我们要对标签进行预测，显然，我们这时候一个最好的选择就是将均值作为我们的预测值，但是当我们存在一些特征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来帮助我们来进行预测，显然，应该得到比之前更好的结果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4E9421D-6076-4587-A304-0BFCE178A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88" y="875124"/>
                <a:ext cx="11033633" cy="2797048"/>
              </a:xfrm>
              <a:prstGeom prst="rect">
                <a:avLst/>
              </a:prstGeom>
              <a:blipFill>
                <a:blip r:embed="rId4"/>
                <a:stretch>
                  <a:fillRect l="-884" b="-43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6EA2341B-E45D-4C6D-9BA9-7C88B6CD1E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911" y="4121846"/>
            <a:ext cx="7850177" cy="259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99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3042076"/>
            <a:ext cx="3877977" cy="156965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分类任务指标</a:t>
            </a:r>
          </a:p>
          <a:p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 descr="图片包含 游戏机, 画, 食物, 标志&#10;&#10;描述已自动生成">
            <a:extLst>
              <a:ext uri="{FF2B5EF4-FFF2-40B4-BE49-F238E27FC236}">
                <a16:creationId xmlns:a16="http://schemas.microsoft.com/office/drawing/2014/main" id="{3890F2E0-CFB5-4624-8372-7B1D6D0A13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A650A45-19B3-4DA2-958F-662F086E62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11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283322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007DF147-D251-47B9-82C9-0D7BDBCE561D}"/>
              </a:ext>
            </a:extLst>
          </p:cNvPr>
          <p:cNvSpPr txBox="1"/>
          <p:nvPr/>
        </p:nvSpPr>
        <p:spPr>
          <a:xfrm>
            <a:off x="793805" y="1292693"/>
            <a:ext cx="58028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准确率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Accuracy</a:t>
            </a:r>
          </a:p>
          <a:p>
            <a:pPr marL="514350" indent="-514350">
              <a:buFont typeface="+mj-lt"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精确率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Precision &amp;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召回率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Recall</a:t>
            </a:r>
          </a:p>
          <a:p>
            <a:pPr marL="514350" indent="-514350">
              <a:buFont typeface="+mj-lt"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 startAt="3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F1-Score</a:t>
            </a:r>
          </a:p>
          <a:p>
            <a:pPr marL="514350" indent="-514350">
              <a:buFont typeface="+mj-lt"/>
              <a:buAutoNum type="arabicPeriod" startAt="3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Receiver Operating Characteristic)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AUC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Area Under Curve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代价敏感错误率与代价曲线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719C774-7564-41F0-ADB8-E7CBC399AD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12</a:t>
            </a:fld>
            <a:endParaRPr lang="en-US" altLang="zh-CN" spc="-5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6338E0F-8663-4AD4-A9DF-60E1B84C09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9" t="18375" r="5176" b="10031"/>
          <a:stretch/>
        </p:blipFill>
        <p:spPr bwMode="auto">
          <a:xfrm>
            <a:off x="8076536" y="3263580"/>
            <a:ext cx="3607018" cy="285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95F1E41-2C4E-4E29-A0E0-36310036F1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1142" y="1187989"/>
            <a:ext cx="6249323" cy="224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74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954103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准确率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Accuracy 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39193743-B6C6-41DF-8ED5-E6FBBA6AA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799" y="4419600"/>
            <a:ext cx="7531485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98F348-23F4-45FB-B4F2-C3007CCE0F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13</a:t>
            </a:fld>
            <a:endParaRPr lang="en-US" altLang="zh-CN" spc="-5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0CC73F4-2D4B-4E60-BB18-4D4C5CA2B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799" y="1722550"/>
            <a:ext cx="6845685" cy="245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036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954103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准确率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Accuracy 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7C206C9-BE7A-4F7C-83B5-44BCE3D4D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091" y="1637465"/>
            <a:ext cx="4971279" cy="445657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16261D-332A-4D6D-9190-C2E8120E34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14</a:t>
            </a:fld>
            <a:endParaRPr lang="en-US" altLang="zh-CN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1B84F62-B978-4BA9-9607-1E0DDB104C59}"/>
                  </a:ext>
                </a:extLst>
              </p:cNvPr>
              <p:cNvSpPr txBox="1"/>
              <p:nvPr/>
            </p:nvSpPr>
            <p:spPr>
              <a:xfrm>
                <a:off x="956958" y="3505200"/>
                <a:ext cx="4215974" cy="1818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ACCURACY-A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 26</m:t>
                        </m:r>
                        <m:r>
                          <a:rPr lang="en-US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4  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ACCURACY-B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26</m:t>
                        </m:r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2  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1B84F62-B978-4BA9-9607-1E0DDB104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58" y="3505200"/>
                <a:ext cx="4215974" cy="1818318"/>
              </a:xfrm>
              <a:prstGeom prst="rect">
                <a:avLst/>
              </a:prstGeom>
              <a:blipFill>
                <a:blip r:embed="rId5"/>
                <a:stretch>
                  <a:fillRect l="-2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2A4ED8F9-F768-4B6F-8904-7C6D6A49ABF1}"/>
              </a:ext>
            </a:extLst>
          </p:cNvPr>
          <p:cNvSpPr txBox="1"/>
          <p:nvPr/>
        </p:nvSpPr>
        <p:spPr>
          <a:xfrm>
            <a:off x="195035" y="1637465"/>
            <a:ext cx="64079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对于分布不均衡的样本，即对于样本中正例（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Positive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）数量远远少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大于反例（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Negative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）的情况，单看准确率将不再可靠</a:t>
            </a:r>
          </a:p>
        </p:txBody>
      </p:sp>
    </p:spTree>
    <p:extLst>
      <p:ext uri="{BB962C8B-B14F-4D97-AF65-F5344CB8AC3E}">
        <p14:creationId xmlns:p14="http://schemas.microsoft.com/office/powerpoint/2010/main" val="3847856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1323435"/>
            <a:chOff x="-254000" y="144940"/>
            <a:chExt cx="12934897" cy="1323435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7757033" cy="1323435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精确率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Precision 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（查准率）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 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召回率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Recall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（查全率）</a:t>
              </a:r>
              <a:endPara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4D68179-EBB3-4EF5-BD4E-D398129F2B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15</a:t>
            </a:fld>
            <a:endParaRPr lang="en-US" altLang="zh-CN" spc="-5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3F3105-05FD-44AA-BDCA-45D568FC87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627" y="5180705"/>
            <a:ext cx="2209800" cy="11438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08D5B0F-5CFD-474B-81E5-C50A8F9A64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73" y="4442743"/>
            <a:ext cx="4456855" cy="21336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EB6B0F0-BABB-404F-8861-0D24B7BAD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601" y="1540927"/>
            <a:ext cx="7889737" cy="282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0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954103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P-R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1EC679C-8854-49E9-B07D-F7AFD0DFFF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306882"/>
            <a:ext cx="5791200" cy="499525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E73D10EC-E036-4245-8497-DBDFD8BEB3EB}"/>
              </a:ext>
            </a:extLst>
          </p:cNvPr>
          <p:cNvSpPr txBox="1"/>
          <p:nvPr/>
        </p:nvSpPr>
        <p:spPr>
          <a:xfrm>
            <a:off x="701167" y="1753477"/>
            <a:ext cx="5877453" cy="335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P-R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图直观地显示出学习器在样本总体上的查全率、查准率。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平衡点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(Break-Even Point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BEP)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，为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查准率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查全率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时的取值，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而基于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的比较，可认为学习器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4ABBB97-06DD-4C19-AF0E-E4AE7FD66E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16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1630264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/>
                <p:nvPr/>
              </p:nvSpPr>
              <p:spPr>
                <a:xfrm>
                  <a:off x="701167" y="144940"/>
                  <a:ext cx="6690233" cy="954103"/>
                </a:xfrm>
                <a:prstGeom prst="rect">
                  <a:avLst/>
                </a:prstGeom>
                <a:noFill/>
              </p:spPr>
              <p:txBody>
                <a:bodyPr wrap="square" lIns="91436" tIns="45718" rIns="91436" bIns="45718" rtlCol="0">
                  <a:spAutoFit/>
                </a:bodyPr>
                <a:lstStyle/>
                <a:p>
                  <a:r>
                    <a:rPr lang="zh-CN" altLang="en-US" sz="3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分类任务指标</a:t>
                  </a:r>
                  <a:endParaRPr lang="en-US" altLang="zh-CN" sz="3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i="1" dirty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400" i="1" dirty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2400" i="1" dirty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𝑆𝑐𝑜𝑟𝑒</m:t>
                        </m:r>
                        <m:r>
                          <a:rPr lang="en-US" altLang="zh-CN" sz="2400" i="1" dirty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167" y="144940"/>
                  <a:ext cx="6690233" cy="954103"/>
                </a:xfrm>
                <a:prstGeom prst="rect">
                  <a:avLst/>
                </a:prstGeom>
                <a:blipFill>
                  <a:blip r:embed="rId3"/>
                  <a:stretch>
                    <a:fillRect l="-2277" t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4B8D12-1416-4586-8DCC-C222E56105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17</a:t>
            </a:fld>
            <a:endParaRPr lang="en-US" altLang="zh-CN" spc="-5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AE1A64-60F8-4052-A47B-2A9EB8027B3C}"/>
              </a:ext>
            </a:extLst>
          </p:cNvPr>
          <p:cNvSpPr txBox="1"/>
          <p:nvPr/>
        </p:nvSpPr>
        <p:spPr>
          <a:xfrm>
            <a:off x="1295400" y="1078544"/>
            <a:ext cx="91822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是基于查准率与查全率的调和平均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(harmonic mean)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0EEE97-458A-41AD-99D1-641000CF2AA7}"/>
                  </a:ext>
                </a:extLst>
              </p:cNvPr>
              <p:cNvSpPr txBox="1"/>
              <p:nvPr/>
            </p:nvSpPr>
            <p:spPr>
              <a:xfrm>
                <a:off x="1143000" y="1938940"/>
                <a:ext cx="3530649" cy="9681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0EEE97-458A-41AD-99D1-641000CF2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938940"/>
                <a:ext cx="3530649" cy="968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图片 38">
            <a:extLst>
              <a:ext uri="{FF2B5EF4-FFF2-40B4-BE49-F238E27FC236}">
                <a16:creationId xmlns:a16="http://schemas.microsoft.com/office/drawing/2014/main" id="{199E1EA3-F0BD-4304-A2A9-55BF576746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38" y="1759765"/>
            <a:ext cx="7021962" cy="469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77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87061"/>
            <a:chOff x="-254000" y="144940"/>
            <a:chExt cx="12934897" cy="98706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/>
                <p:nvPr/>
              </p:nvSpPr>
              <p:spPr>
                <a:xfrm>
                  <a:off x="701167" y="144940"/>
                  <a:ext cx="6690233" cy="987061"/>
                </a:xfrm>
                <a:prstGeom prst="rect">
                  <a:avLst/>
                </a:prstGeom>
                <a:noFill/>
              </p:spPr>
              <p:txBody>
                <a:bodyPr wrap="square" lIns="91436" tIns="45718" rIns="91436" bIns="45718" rtlCol="0">
                  <a:spAutoFit/>
                </a:bodyPr>
                <a:lstStyle/>
                <a:p>
                  <a:r>
                    <a:rPr lang="zh-CN" altLang="en-US" sz="3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分类任务指标</a:t>
                  </a:r>
                  <a:endParaRPr lang="en-US" altLang="zh-CN" sz="3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2400" i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400" i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𝑆𝑐𝑜𝑟𝑒</m:t>
                          </m:r>
                          <m:r>
                            <a:rPr lang="en-US" altLang="zh-CN" sz="2400" i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zh-CN" sz="2400" b="0" i="1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altLang="zh-CN" sz="2400" i="1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sub>
                      </m:sSub>
                    </m:oMath>
                  </a14:m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-Score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（加权调和平均数）</a:t>
                  </a:r>
                  <a:endPara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167" y="144940"/>
                  <a:ext cx="6690233" cy="987061"/>
                </a:xfrm>
                <a:prstGeom prst="rect">
                  <a:avLst/>
                </a:prstGeom>
                <a:blipFill>
                  <a:blip r:embed="rId3"/>
                  <a:stretch>
                    <a:fillRect l="-2277" t="-8025" b="-98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A797233-BF5B-4644-AF3E-5E6719468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5175118"/>
            <a:ext cx="3631048" cy="11987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424CAAF-1A25-4194-BA8C-7972697786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133153"/>
            <a:ext cx="6537030" cy="143495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5F7C6CC-2044-4027-B40D-B71DA9DBF3E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71"/>
          <a:stretch/>
        </p:blipFill>
        <p:spPr>
          <a:xfrm>
            <a:off x="3486097" y="1371889"/>
            <a:ext cx="4603698" cy="131055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02B7D2-D964-467B-8648-53F80CDD80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18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2335752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/>
                <p:nvPr/>
              </p:nvSpPr>
              <p:spPr>
                <a:xfrm>
                  <a:off x="701167" y="144940"/>
                  <a:ext cx="2727833" cy="954103"/>
                </a:xfrm>
                <a:prstGeom prst="rect">
                  <a:avLst/>
                </a:prstGeom>
                <a:noFill/>
              </p:spPr>
              <p:txBody>
                <a:bodyPr wrap="square" lIns="91436" tIns="45718" rIns="91436" bIns="45718" rtlCol="0">
                  <a:spAutoFit/>
                </a:bodyPr>
                <a:lstStyle/>
                <a:p>
                  <a:r>
                    <a:rPr lang="zh-CN" altLang="en-US" sz="3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分类任务指标</a:t>
                  </a:r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167" y="144940"/>
                  <a:ext cx="2727833" cy="954103"/>
                </a:xfrm>
                <a:prstGeom prst="rect">
                  <a:avLst/>
                </a:prstGeom>
                <a:blipFill>
                  <a:blip r:embed="rId3"/>
                  <a:stretch>
                    <a:fillRect l="-5580" t="-8333" r="-22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DE7515-EC7C-484E-A231-E420D7808E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19</a:t>
            </a:fld>
            <a:endParaRPr lang="en-US" altLang="zh-CN" spc="-5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102B28A-8644-4A46-8F4D-DB1F4B6EB1B8}"/>
              </a:ext>
            </a:extLst>
          </p:cNvPr>
          <p:cNvGrpSpPr/>
          <p:nvPr/>
        </p:nvGrpSpPr>
        <p:grpSpPr>
          <a:xfrm>
            <a:off x="4254673" y="695468"/>
            <a:ext cx="6370603" cy="6089522"/>
            <a:chOff x="381000" y="709918"/>
            <a:chExt cx="6370603" cy="6089522"/>
          </a:xfrm>
        </p:grpSpPr>
        <p:pic>
          <p:nvPicPr>
            <p:cNvPr id="15362" name="Picture 2">
              <a:extLst>
                <a:ext uri="{FF2B5EF4-FFF2-40B4-BE49-F238E27FC236}">
                  <a16:creationId xmlns:a16="http://schemas.microsoft.com/office/drawing/2014/main" id="{85DB5445-6FCC-4B61-9667-B04B29F2B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943" y="709918"/>
              <a:ext cx="6249660" cy="14460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530" name="Picture 2">
              <a:extLst>
                <a:ext uri="{FF2B5EF4-FFF2-40B4-BE49-F238E27FC236}">
                  <a16:creationId xmlns:a16="http://schemas.microsoft.com/office/drawing/2014/main" id="{3D1C1ABC-9011-4A41-AD1D-A02095E5D2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2034724"/>
              <a:ext cx="6370603" cy="47647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2A55C1D7-1D27-4756-91F1-5D61EF6E8FCF}"/>
              </a:ext>
            </a:extLst>
          </p:cNvPr>
          <p:cNvSpPr txBox="1"/>
          <p:nvPr/>
        </p:nvSpPr>
        <p:spPr>
          <a:xfrm>
            <a:off x="216892" y="6594357"/>
            <a:ext cx="64661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https://www.zhihu.com/question/47980482/answer/316968792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CCD7E6-531B-443A-A2B6-11C640D3AD40}"/>
              </a:ext>
            </a:extLst>
          </p:cNvPr>
          <p:cNvSpPr txBox="1"/>
          <p:nvPr/>
        </p:nvSpPr>
        <p:spPr>
          <a:xfrm>
            <a:off x="597876" y="2424601"/>
            <a:ext cx="35394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指标最早是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van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Rijsbergen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《Information Retrieval》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这本书中提出来的</a:t>
            </a:r>
          </a:p>
        </p:txBody>
      </p:sp>
    </p:spTree>
    <p:extLst>
      <p:ext uri="{BB962C8B-B14F-4D97-AF65-F5344CB8AC3E}">
        <p14:creationId xmlns:p14="http://schemas.microsoft.com/office/powerpoint/2010/main" val="267888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/>
                <p:nvPr/>
              </p:nvSpPr>
              <p:spPr>
                <a:xfrm>
                  <a:off x="701167" y="144940"/>
                  <a:ext cx="7757033" cy="954103"/>
                </a:xfrm>
                <a:prstGeom prst="rect">
                  <a:avLst/>
                </a:prstGeom>
                <a:noFill/>
              </p:spPr>
              <p:txBody>
                <a:bodyPr wrap="square" lIns="91436" tIns="45718" rIns="91436" bIns="45718" rtlCol="0">
                  <a:spAutoFit/>
                </a:bodyPr>
                <a:lstStyle/>
                <a:p>
                  <a:r>
                    <a:rPr lang="zh-CN" altLang="en-US" sz="3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分类任务指标</a:t>
                  </a:r>
                  <a:endParaRPr lang="en-US" altLang="zh-CN" sz="3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altLang="zh-CN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altLang="zh-CN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altLang="zh-CN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</m:oMath>
                  </a14:m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宏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macro-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）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&amp; 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微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micro-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）</a:t>
                  </a:r>
                  <a:endPara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167" y="144940"/>
                  <a:ext cx="7757033" cy="954103"/>
                </a:xfrm>
                <a:prstGeom prst="rect">
                  <a:avLst/>
                </a:prstGeom>
                <a:blipFill>
                  <a:blip r:embed="rId3"/>
                  <a:stretch>
                    <a:fillRect l="-1964" t="-8333" r="-864" b="-141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80E0C7-0374-46F3-A24A-52132BE01D39}"/>
              </a:ext>
            </a:extLst>
          </p:cNvPr>
          <p:cNvSpPr txBox="1"/>
          <p:nvPr/>
        </p:nvSpPr>
        <p:spPr>
          <a:xfrm>
            <a:off x="966460" y="1152458"/>
            <a:ext cx="98105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多个二分类混淆矩阵，甚或是执行多分类任务时，我们希望在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个二分类混淆矩阵上综合考察查准率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和查全率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：宏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macro-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micro-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366C74B-B981-45F5-B8CC-A05A52ECF201}"/>
              </a:ext>
            </a:extLst>
          </p:cNvPr>
          <p:cNvGrpSpPr/>
          <p:nvPr/>
        </p:nvGrpSpPr>
        <p:grpSpPr>
          <a:xfrm>
            <a:off x="-80334" y="2173829"/>
            <a:ext cx="5952050" cy="4303171"/>
            <a:chOff x="-80334" y="1945229"/>
            <a:chExt cx="5952050" cy="4303171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3C21ACAC-BEDE-4C0C-A83C-7BA6AD77AC37}"/>
                </a:ext>
              </a:extLst>
            </p:cNvPr>
            <p:cNvGrpSpPr/>
            <p:nvPr/>
          </p:nvGrpSpPr>
          <p:grpSpPr>
            <a:xfrm>
              <a:off x="-80334" y="1945229"/>
              <a:ext cx="5952050" cy="4303171"/>
              <a:chOff x="347457" y="2335679"/>
              <a:chExt cx="4906709" cy="5344106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AC890C0-A1A0-4C0F-9CF9-104CC22FB963}"/>
                  </a:ext>
                </a:extLst>
              </p:cNvPr>
              <p:cNvGrpSpPr/>
              <p:nvPr/>
            </p:nvGrpSpPr>
            <p:grpSpPr>
              <a:xfrm>
                <a:off x="546635" y="2335679"/>
                <a:ext cx="4707531" cy="5344106"/>
                <a:chOff x="657305" y="2618557"/>
                <a:chExt cx="4707531" cy="5344106"/>
              </a:xfrm>
            </p:grpSpPr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48DD2CBD-2D2D-4B54-B9A6-20E74C2CEBDC}"/>
                    </a:ext>
                  </a:extLst>
                </p:cNvPr>
                <p:cNvSpPr/>
                <p:nvPr/>
              </p:nvSpPr>
              <p:spPr>
                <a:xfrm>
                  <a:off x="657305" y="2618557"/>
                  <a:ext cx="4685906" cy="534410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AA72977D-875B-45AE-8FE5-F0514C901618}"/>
                    </a:ext>
                  </a:extLst>
                </p:cNvPr>
                <p:cNvSpPr/>
                <p:nvPr/>
              </p:nvSpPr>
              <p:spPr>
                <a:xfrm>
                  <a:off x="678933" y="2664285"/>
                  <a:ext cx="4685903" cy="589728"/>
                </a:xfrm>
                <a:prstGeom prst="rect">
                  <a:avLst/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4437A872-204E-4070-8F18-27AF5E13AA9D}"/>
                      </a:ext>
                    </a:extLst>
                  </p:cNvPr>
                  <p:cNvSpPr/>
                  <p:nvPr/>
                </p:nvSpPr>
                <p:spPr>
                  <a:xfrm>
                    <a:off x="347457" y="2882730"/>
                    <a:ext cx="4785149" cy="211793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marL="269875" algn="just">
                      <a:lnSpc>
                        <a:spcPct val="150000"/>
                      </a:lnSpc>
                    </a:pPr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先在各混淆矩阵上分别计算出查准率</a:t>
                    </a:r>
                    <a:r>
                      <a:rPr lang="en-US" altLang="zh-CN" i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P </a:t>
                    </a:r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和查全率</a:t>
                    </a:r>
                    <a:r>
                      <a:rPr lang="en-US" altLang="zh-CN" i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R</a:t>
                    </a:r>
                    <a:endParaRPr lang="en-US" altLang="zh-CN" sz="1800" i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  <a:p>
                    <a:pPr marL="269875" algn="just">
                      <a:lnSpc>
                        <a:spcPct val="150000"/>
                      </a:lnSpc>
                    </a:pPr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记为 </a:t>
                    </a:r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，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 ) </a:t>
                    </a:r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， </a:t>
                    </a:r>
                    <a:r>
                      <a: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，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 ) … 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a14:m>
                    <a:r>
                      <a: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，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a14:m>
                    <a:r>
                      <a: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 ) </a:t>
                    </a:r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， 再计算平均值，这样就得到</a:t>
                    </a:r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"</a:t>
                    </a:r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宏查准率</a:t>
                    </a:r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" (m</a:t>
                    </a:r>
                    <a:r>
                      <a: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ac</a:t>
                    </a:r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ro-</a:t>
                    </a:r>
                    <a:r>
                      <a:rPr lang="en-US" altLang="zh-CN" sz="1800" i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P</a:t>
                    </a:r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) </a:t>
                    </a:r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、 </a:t>
                    </a:r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"</a:t>
                    </a:r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宏查全率</a:t>
                    </a:r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" (macro-</a:t>
                    </a:r>
                    <a:r>
                      <a:rPr lang="en-US" altLang="zh-CN" sz="1800" i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R</a:t>
                    </a:r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) </a:t>
                    </a:r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，以及相应的</a:t>
                    </a:r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"</a:t>
                    </a:r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宏</a:t>
                    </a:r>
                    <a:r>
                      <a:rPr lang="en-US" altLang="zh-CN" sz="1800" i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F1</a:t>
                    </a:r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" (macro-</a:t>
                    </a:r>
                    <a:r>
                      <a:rPr lang="en-US" altLang="zh-CN" sz="1800" i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F1</a:t>
                    </a:r>
                    <a: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)</a:t>
                    </a:r>
                    <a:endParaRPr lang="zh-CN" altLang="zh-CN" sz="18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4437A872-204E-4070-8F18-27AF5E13AA9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457" y="2882730"/>
                    <a:ext cx="4785149" cy="211793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840" b="-46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8207E37A-1BEC-4C81-B127-9E99C1B8B279}"/>
                  </a:ext>
                </a:extLst>
              </p:cNvPr>
              <p:cNvSpPr/>
              <p:nvPr/>
            </p:nvSpPr>
            <p:spPr>
              <a:xfrm>
                <a:off x="674395" y="2381407"/>
                <a:ext cx="4166921" cy="62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宏</a:t>
                </a:r>
                <a:r>
                  <a:rPr lang="en-US" altLang="zh-CN" sz="2000" b="1" i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F1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（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macro-</a:t>
                </a:r>
                <a:r>
                  <a:rPr lang="en-US" altLang="zh-CN" sz="2000" b="1" i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F1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）</a:t>
                </a:r>
              </a:p>
            </p:txBody>
          </p:sp>
        </p:grp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BE588AD-18D8-4A24-B402-12B96E55BE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46" t="3700" r="519" b="4557"/>
            <a:stretch/>
          </p:blipFill>
          <p:spPr>
            <a:xfrm>
              <a:off x="203830" y="4032794"/>
              <a:ext cx="5563159" cy="2209159"/>
            </a:xfrm>
            <a:prstGeom prst="rect">
              <a:avLst/>
            </a:prstGeom>
          </p:spPr>
        </p:pic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76F47F-FD0A-41BD-A538-24E4D7973842}"/>
              </a:ext>
            </a:extLst>
          </p:cNvPr>
          <p:cNvGrpSpPr/>
          <p:nvPr/>
        </p:nvGrpSpPr>
        <p:grpSpPr>
          <a:xfrm>
            <a:off x="6239950" y="2173829"/>
            <a:ext cx="5959050" cy="4303171"/>
            <a:chOff x="6239950" y="1945229"/>
            <a:chExt cx="5959050" cy="4303171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533CB996-B10A-4851-94B0-33F7A1232AB0}"/>
                </a:ext>
              </a:extLst>
            </p:cNvPr>
            <p:cNvGrpSpPr/>
            <p:nvPr/>
          </p:nvGrpSpPr>
          <p:grpSpPr>
            <a:xfrm>
              <a:off x="6239950" y="1945229"/>
              <a:ext cx="5952050" cy="4303171"/>
              <a:chOff x="347457" y="2335679"/>
              <a:chExt cx="4906709" cy="5344106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A4D2591E-72DE-4449-A7FD-29CF90526930}"/>
                  </a:ext>
                </a:extLst>
              </p:cNvPr>
              <p:cNvGrpSpPr/>
              <p:nvPr/>
            </p:nvGrpSpPr>
            <p:grpSpPr>
              <a:xfrm>
                <a:off x="546635" y="2335679"/>
                <a:ext cx="4707531" cy="5344106"/>
                <a:chOff x="657305" y="2618557"/>
                <a:chExt cx="4707531" cy="5344106"/>
              </a:xfrm>
            </p:grpSpPr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FF7E6A44-0154-4AD6-87AB-BCDCD20A5918}"/>
                    </a:ext>
                  </a:extLst>
                </p:cNvPr>
                <p:cNvSpPr/>
                <p:nvPr/>
              </p:nvSpPr>
              <p:spPr>
                <a:xfrm>
                  <a:off x="657305" y="2618557"/>
                  <a:ext cx="4685906" cy="534410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5D3C10FA-B043-402C-B738-D563D7EAC903}"/>
                    </a:ext>
                  </a:extLst>
                </p:cNvPr>
                <p:cNvSpPr/>
                <p:nvPr/>
              </p:nvSpPr>
              <p:spPr>
                <a:xfrm>
                  <a:off x="678933" y="2664285"/>
                  <a:ext cx="4685903" cy="589728"/>
                </a:xfrm>
                <a:prstGeom prst="rect">
                  <a:avLst/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矩形 42">
                    <a:extLst>
                      <a:ext uri="{FF2B5EF4-FFF2-40B4-BE49-F238E27FC236}">
                        <a16:creationId xmlns:a16="http://schemas.microsoft.com/office/drawing/2014/main" id="{6BB7D62B-4E85-404A-8553-0E828C1D29AC}"/>
                      </a:ext>
                    </a:extLst>
                  </p:cNvPr>
                  <p:cNvSpPr/>
                  <p:nvPr/>
                </p:nvSpPr>
                <p:spPr>
                  <a:xfrm>
                    <a:off x="347457" y="2882730"/>
                    <a:ext cx="4785149" cy="211793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marL="269875" algn="just">
                      <a:lnSpc>
                        <a:spcPct val="150000"/>
                      </a:lnSpc>
                    </a:pPr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还可先将各</a:t>
                    </a:r>
                    <a:r>
                      <a: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混淆矩阵</a:t>
                    </a:r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的对应元素</a:t>
                    </a:r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(</a:t>
                    </a:r>
                    <a:r>
                      <a:rPr lang="en-US" altLang="zh-CN" sz="1800" b="0" i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TP </a:t>
                    </a:r>
                    <a:r>
                      <a:rPr lang="zh-CN" altLang="en-US" sz="1800" b="0" i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、</a:t>
                    </a:r>
                    <a:r>
                      <a:rPr lang="en-US" altLang="zh-CN" sz="1800" b="0" i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FP </a:t>
                    </a:r>
                    <a:r>
                      <a:rPr lang="zh-CN" altLang="en-US" sz="1800" b="0" i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、</a:t>
                    </a:r>
                    <a:r>
                      <a:rPr lang="en-US" altLang="zh-CN" sz="1800" b="0" i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TN </a:t>
                    </a:r>
                    <a:r>
                      <a:rPr lang="zh-CN" altLang="en-US" sz="1800" b="0" i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、</a:t>
                    </a:r>
                    <a:r>
                      <a:rPr lang="en-US" altLang="zh-CN" sz="1800" b="0" i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FN</a:t>
                    </a:r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)</a:t>
                    </a:r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进行平均，</a:t>
                    </a: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18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18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𝑇𝑃</m:t>
                            </m:r>
                          </m:e>
                        </m:acc>
                      </m:oMath>
                    </a14:m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、 </a:t>
                    </a: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1800" b="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b="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𝐹𝑃</m:t>
                            </m:r>
                          </m:e>
                        </m:acc>
                      </m:oMath>
                    </a14:m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</a:t>
                    </a:r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、 </a:t>
                    </a: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1800" b="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b="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𝑇𝑁</m:t>
                            </m:r>
                          </m:e>
                        </m:acc>
                      </m:oMath>
                    </a14:m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、 </a:t>
                    </a: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1800" b="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1800" b="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𝐹𝑁</m:t>
                            </m:r>
                          </m:e>
                        </m:acc>
                      </m:oMath>
                    </a14:m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，再基于这些平均值计算出</a:t>
                    </a:r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“</a:t>
                    </a:r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微查准率 </a:t>
                    </a:r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”(micro-</a:t>
                    </a:r>
                    <a:r>
                      <a:rPr lang="en-US" altLang="zh-CN" sz="1800" b="0" i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P</a:t>
                    </a:r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) </a:t>
                    </a:r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、 </a:t>
                    </a:r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“</a:t>
                    </a:r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微查全率</a:t>
                    </a:r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" (micro-</a:t>
                    </a:r>
                    <a:r>
                      <a:rPr lang="en-US" altLang="zh-CN" sz="1800" b="0" i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R</a:t>
                    </a:r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)</a:t>
                    </a:r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和</a:t>
                    </a:r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"</a:t>
                    </a:r>
                    <a:r>
                      <a:rPr lang="zh-CN" altLang="en-US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微</a:t>
                    </a:r>
                    <a:r>
                      <a:rPr lang="en-US" altLang="zh-CN" sz="1800" b="0" i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F1</a:t>
                    </a:r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" (micro-</a:t>
                    </a:r>
                    <a:r>
                      <a:rPr lang="en-US" altLang="zh-CN" sz="1800" b="0" i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F1</a:t>
                    </a:r>
                    <a:r>
                      <a:rPr lang="en-US" altLang="zh-CN" sz="18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)</a:t>
                    </a:r>
                    <a:endParaRPr lang="zh-CN" altLang="zh-CN" sz="18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3" name="矩形 42">
                    <a:extLst>
                      <a:ext uri="{FF2B5EF4-FFF2-40B4-BE49-F238E27FC236}">
                        <a16:creationId xmlns:a16="http://schemas.microsoft.com/office/drawing/2014/main" id="{6BB7D62B-4E85-404A-8553-0E828C1D29A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457" y="2882730"/>
                    <a:ext cx="4785149" cy="211793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101" b="-46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BC369D55-11A4-4DD9-B9A8-85720F86585C}"/>
                  </a:ext>
                </a:extLst>
              </p:cNvPr>
              <p:cNvSpPr/>
              <p:nvPr/>
            </p:nvSpPr>
            <p:spPr>
              <a:xfrm>
                <a:off x="674395" y="2381407"/>
                <a:ext cx="4166921" cy="62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微</a:t>
                </a:r>
                <a:r>
                  <a:rPr lang="en-US" altLang="zh-CN" sz="2000" b="1" i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F1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（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micro-</a:t>
                </a:r>
                <a:r>
                  <a:rPr lang="en-US" altLang="zh-CN" sz="2000" b="1" i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F1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）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D4CFD4F2-91E5-438B-8127-54C23065D7E0}"/>
                </a:ext>
              </a:extLst>
            </p:cNvPr>
            <p:cNvGrpSpPr/>
            <p:nvPr/>
          </p:nvGrpSpPr>
          <p:grpSpPr>
            <a:xfrm>
              <a:off x="6448329" y="4053357"/>
              <a:ext cx="5750671" cy="2174489"/>
              <a:chOff x="6804053" y="4317725"/>
              <a:chExt cx="4740947" cy="1730225"/>
            </a:xfrm>
          </p:grpSpPr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FB5B0A21-2CAD-482A-8D93-6E47784BC7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45" t="656" r="1209" b="-192"/>
              <a:stretch/>
            </p:blipFill>
            <p:spPr>
              <a:xfrm>
                <a:off x="6816171" y="4317725"/>
                <a:ext cx="4728829" cy="663689"/>
              </a:xfrm>
              <a:prstGeom prst="rect">
                <a:avLst/>
              </a:prstGeom>
            </p:spPr>
          </p:pic>
          <p:pic>
            <p:nvPicPr>
              <p:cNvPr id="38" name="图片 37">
                <a:extLst>
                  <a:ext uri="{FF2B5EF4-FFF2-40B4-BE49-F238E27FC236}">
                    <a16:creationId xmlns:a16="http://schemas.microsoft.com/office/drawing/2014/main" id="{C5962AF4-DFEC-46C8-B819-480336DC99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890"/>
              <a:stretch/>
            </p:blipFill>
            <p:spPr>
              <a:xfrm>
                <a:off x="6804053" y="4841388"/>
                <a:ext cx="4728829" cy="1206562"/>
              </a:xfrm>
              <a:prstGeom prst="rect">
                <a:avLst/>
              </a:prstGeom>
            </p:spPr>
          </p:pic>
        </p:grpSp>
      </p:grpSp>
      <p:sp>
        <p:nvSpPr>
          <p:cNvPr id="48" name="灯片编号占位符 47">
            <a:extLst>
              <a:ext uri="{FF2B5EF4-FFF2-40B4-BE49-F238E27FC236}">
                <a16:creationId xmlns:a16="http://schemas.microsoft.com/office/drawing/2014/main" id="{0A635C89-CA9B-460C-865D-B95D91D19B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20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3960012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/>
                <p:nvPr/>
              </p:nvSpPr>
              <p:spPr>
                <a:xfrm>
                  <a:off x="701167" y="144940"/>
                  <a:ext cx="7909433" cy="954103"/>
                </a:xfrm>
                <a:prstGeom prst="rect">
                  <a:avLst/>
                </a:prstGeom>
                <a:noFill/>
              </p:spPr>
              <p:txBody>
                <a:bodyPr wrap="square" lIns="91436" tIns="45718" rIns="91436" bIns="45718" rtlCol="0">
                  <a:spAutoFit/>
                </a:bodyPr>
                <a:lstStyle/>
                <a:p>
                  <a:r>
                    <a:rPr lang="zh-CN" altLang="en-US" sz="3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分类任务指标</a:t>
                  </a:r>
                  <a:endParaRPr lang="en-US" altLang="zh-CN" sz="3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</m:oMath>
                  </a14:m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宏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macro-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）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&amp; 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微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micro-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）</a:t>
                  </a:r>
                  <a:endPara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167" y="144940"/>
                  <a:ext cx="7909433" cy="954103"/>
                </a:xfrm>
                <a:prstGeom prst="rect">
                  <a:avLst/>
                </a:prstGeom>
                <a:blipFill>
                  <a:blip r:embed="rId3"/>
                  <a:stretch>
                    <a:fillRect l="-1926" t="-8333" b="-141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" name="灯片编号占位符 47">
            <a:extLst>
              <a:ext uri="{FF2B5EF4-FFF2-40B4-BE49-F238E27FC236}">
                <a16:creationId xmlns:a16="http://schemas.microsoft.com/office/drawing/2014/main" id="{0A635C89-CA9B-460C-865D-B95D91D19B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21</a:t>
            </a:fld>
            <a:endParaRPr lang="en-US" altLang="zh-CN" spc="-5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CDBB16-2A02-434E-9068-649E28E521F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2" r="12576"/>
          <a:stretch/>
        </p:blipFill>
        <p:spPr>
          <a:xfrm>
            <a:off x="152400" y="3429000"/>
            <a:ext cx="11421332" cy="308957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D072B44-E77C-4712-AE4F-0CE3F14B0EF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6" t="3700" r="519" b="4557"/>
          <a:stretch/>
        </p:blipFill>
        <p:spPr>
          <a:xfrm>
            <a:off x="1235058" y="1381883"/>
            <a:ext cx="5181182" cy="205747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20DA33A-EE61-4997-8C49-90D8B5E9690E}"/>
              </a:ext>
            </a:extLst>
          </p:cNvPr>
          <p:cNvGrpSpPr/>
          <p:nvPr/>
        </p:nvGrpSpPr>
        <p:grpSpPr>
          <a:xfrm>
            <a:off x="6553200" y="1507643"/>
            <a:ext cx="5008992" cy="1921357"/>
            <a:chOff x="6781800" y="2394382"/>
            <a:chExt cx="4828158" cy="1757738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23D99FE9-421C-405C-AAF0-29C1F3B673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45" t="656" r="1209" b="-192"/>
            <a:stretch/>
          </p:blipFill>
          <p:spPr>
            <a:xfrm>
              <a:off x="6781800" y="2394382"/>
              <a:ext cx="4828158" cy="702091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39E1A53-00EF-4F7F-B1F5-6DCCA29B09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890"/>
            <a:stretch/>
          </p:blipFill>
          <p:spPr>
            <a:xfrm>
              <a:off x="7066404" y="2958267"/>
              <a:ext cx="4515996" cy="11938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7731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/>
                <p:nvPr/>
              </p:nvSpPr>
              <p:spPr>
                <a:xfrm>
                  <a:off x="701167" y="144940"/>
                  <a:ext cx="8061833" cy="954103"/>
                </a:xfrm>
                <a:prstGeom prst="rect">
                  <a:avLst/>
                </a:prstGeom>
                <a:noFill/>
              </p:spPr>
              <p:txBody>
                <a:bodyPr wrap="square" lIns="91436" tIns="45718" rIns="91436" bIns="45718" rtlCol="0">
                  <a:spAutoFit/>
                </a:bodyPr>
                <a:lstStyle/>
                <a:p>
                  <a:r>
                    <a:rPr lang="zh-CN" altLang="en-US" sz="3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分类任务指标</a:t>
                  </a:r>
                  <a:endParaRPr lang="en-US" altLang="zh-CN" sz="3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</m:oMath>
                  </a14:m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宏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macro-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）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&amp; 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微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micro-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）</a:t>
                  </a:r>
                  <a:endPara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167" y="144940"/>
                  <a:ext cx="8061833" cy="954103"/>
                </a:xfrm>
                <a:prstGeom prst="rect">
                  <a:avLst/>
                </a:prstGeom>
                <a:blipFill>
                  <a:blip r:embed="rId3"/>
                  <a:stretch>
                    <a:fillRect l="-1890" t="-8333" b="-141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80E0C7-0374-46F3-A24A-52132BE01D39}"/>
              </a:ext>
            </a:extLst>
          </p:cNvPr>
          <p:cNvSpPr txBox="1"/>
          <p:nvPr/>
        </p:nvSpPr>
        <p:spPr>
          <a:xfrm>
            <a:off x="951447" y="1156205"/>
            <a:ext cx="98105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在‌单标签多分类任务‌中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灯片编号占位符 47">
            <a:extLst>
              <a:ext uri="{FF2B5EF4-FFF2-40B4-BE49-F238E27FC236}">
                <a16:creationId xmlns:a16="http://schemas.microsoft.com/office/drawing/2014/main" id="{0A635C89-CA9B-460C-865D-B95D91D19B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22</a:t>
            </a:fld>
            <a:endParaRPr lang="en-US" altLang="zh-CN" spc="-5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363A81-F754-443A-AFE0-D05CD47C19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979" y="1687532"/>
            <a:ext cx="9319448" cy="476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404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/>
                <p:nvPr/>
              </p:nvSpPr>
              <p:spPr>
                <a:xfrm>
                  <a:off x="701167" y="144940"/>
                  <a:ext cx="8138033" cy="954103"/>
                </a:xfrm>
                <a:prstGeom prst="rect">
                  <a:avLst/>
                </a:prstGeom>
                <a:noFill/>
              </p:spPr>
              <p:txBody>
                <a:bodyPr wrap="square" lIns="91436" tIns="45718" rIns="91436" bIns="45718" rtlCol="0">
                  <a:spAutoFit/>
                </a:bodyPr>
                <a:lstStyle/>
                <a:p>
                  <a:r>
                    <a:rPr lang="zh-CN" altLang="en-US" sz="3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分类任务指标</a:t>
                  </a:r>
                  <a:endParaRPr lang="en-US" altLang="zh-CN" sz="3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altLang="zh-CN" sz="2400" i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</m:oMath>
                  </a14:m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宏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macro-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）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&amp; 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微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</a:t>
                  </a:r>
                  <a:r>
                    <a:rPr lang="en-US" altLang="zh-CN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micro-</a:t>
                  </a:r>
                  <a:r>
                    <a:rPr lang="en-US" altLang="zh-CN" sz="24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F1</a:t>
                  </a:r>
                  <a:r>
                    <a:rPr lang="zh-CN" altLang="en-US" sz="2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）</a:t>
                  </a:r>
                  <a:endPara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8D215A-4F3A-4466-BE5A-7DE32742A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167" y="144940"/>
                  <a:ext cx="8138033" cy="954103"/>
                </a:xfrm>
                <a:prstGeom prst="rect">
                  <a:avLst/>
                </a:prstGeom>
                <a:blipFill>
                  <a:blip r:embed="rId3"/>
                  <a:stretch>
                    <a:fillRect l="-1873" t="-8333" b="-141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" name="灯片编号占位符 47">
            <a:extLst>
              <a:ext uri="{FF2B5EF4-FFF2-40B4-BE49-F238E27FC236}">
                <a16:creationId xmlns:a16="http://schemas.microsoft.com/office/drawing/2014/main" id="{0A635C89-CA9B-460C-865D-B95D91D19B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23</a:t>
            </a:fld>
            <a:endParaRPr lang="en-US" altLang="zh-CN" spc="-5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832E53-5682-41EC-B95B-A81B023B76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6488"/>
            <a:ext cx="12192000" cy="50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7629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1323435"/>
            <a:chOff x="-254000" y="144940"/>
            <a:chExt cx="12934897" cy="1323435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766433" cy="1323435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ROC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Receiver Operating Characteristic)&amp;</a:t>
              </a:r>
            </a:p>
            <a:p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AUC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Area Under Curve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B2C34F-64DB-495B-9807-B2DADC586E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24</a:t>
            </a:fld>
            <a:endParaRPr lang="en-US" altLang="zh-CN" spc="-5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8EF7CF6-1E60-4C49-BB9A-30CE891899BE}"/>
              </a:ext>
            </a:extLst>
          </p:cNvPr>
          <p:cNvSpPr txBox="1"/>
          <p:nvPr/>
        </p:nvSpPr>
        <p:spPr>
          <a:xfrm>
            <a:off x="1066800" y="1687603"/>
            <a:ext cx="979533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分类器会为每个样本产生一个实值分数或概率预测，将这个预测的值和一个分类阈值（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threshold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）相比，大于阈值则预测为真，小于阈值则预测为假。在不同的应用任务中，我们可根据任务需求来采用不同的截断点，例如若我们更重视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查准率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，则可较大的阈值，若更重视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查全率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，则可选择较小的阈值。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在不同的阈值下，可以算出不同的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假正例率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(False Positive Rate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，简称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FPR)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真正例率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(True Positive Rate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TPR)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，以此为横纵坐标可以绘制出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7879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1323435"/>
            <a:chOff x="-254000" y="144940"/>
            <a:chExt cx="12934897" cy="1323435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766433" cy="1323435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ROC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Receiver Operating Characteristic)&amp;</a:t>
              </a:r>
            </a:p>
            <a:p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AUC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Area Under Curve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85ABEDA-AC58-4651-8BCE-58A365C18D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800" y="2057400"/>
            <a:ext cx="6801200" cy="361968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B2C34F-64DB-495B-9807-B2DADC586E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25</a:t>
            </a:fld>
            <a:endParaRPr lang="en-US" altLang="zh-CN" spc="-5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8EF7CF6-1E60-4C49-BB9A-30CE891899BE}"/>
              </a:ext>
            </a:extLst>
          </p:cNvPr>
          <p:cNvSpPr txBox="1"/>
          <p:nvPr/>
        </p:nvSpPr>
        <p:spPr>
          <a:xfrm>
            <a:off x="381000" y="1637722"/>
            <a:ext cx="5009800" cy="4459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P-R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图相似， 若一个学习器的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曲线被另 一个学习器的曲线完全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则可断言后者的性能优于前者；若两个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曲线发生交叉，则难以一般性地断言两者孰优孰劣。此时较为合理的判据是比较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曲线下 的面积，即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AUC (Area Under ROC Curve)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9327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1323435"/>
            <a:chOff x="-254000" y="144940"/>
            <a:chExt cx="12934897" cy="1323435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766433" cy="1323435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ROC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Receiver Operating Characteristic)&amp;</a:t>
              </a:r>
            </a:p>
            <a:p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AUC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Area Under Curve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B2C34F-64DB-495B-9807-B2DADC586E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26</a:t>
            </a:fld>
            <a:endParaRPr lang="en-US" altLang="zh-CN" spc="-5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746CCA-2BA6-4372-A613-9DC320EF71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46" y="1371600"/>
            <a:ext cx="5074257" cy="47695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77FAA61-FB27-49CE-B609-BF945852B2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73" y="3202507"/>
            <a:ext cx="6766434" cy="85134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990E893-BFDE-4DE0-B5F2-A876B2D28B32}"/>
              </a:ext>
            </a:extLst>
          </p:cNvPr>
          <p:cNvSpPr/>
          <p:nvPr/>
        </p:nvSpPr>
        <p:spPr>
          <a:xfrm>
            <a:off x="2438399" y="3483897"/>
            <a:ext cx="772251" cy="154530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A7C04C77-AA8B-4B49-9B81-0CF0159D38F3}"/>
              </a:ext>
            </a:extLst>
          </p:cNvPr>
          <p:cNvSpPr/>
          <p:nvPr/>
        </p:nvSpPr>
        <p:spPr>
          <a:xfrm>
            <a:off x="2438400" y="2840703"/>
            <a:ext cx="772251" cy="664497"/>
          </a:xfrm>
          <a:prstGeom prst="triangle">
            <a:avLst>
              <a:gd name="adj" fmla="val 99422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929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954103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代价敏感错误率与代价曲线</a:t>
              </a:r>
              <a:endPara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4B8D12-1416-4586-8DCC-C222E56105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27</a:t>
            </a:fld>
            <a:endParaRPr lang="en-US" altLang="zh-CN" spc="-5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E07A146-EB29-41AC-90B6-4881CCA594F0}"/>
              </a:ext>
            </a:extLst>
          </p:cNvPr>
          <p:cNvSpPr txBox="1"/>
          <p:nvPr/>
        </p:nvSpPr>
        <p:spPr>
          <a:xfrm>
            <a:off x="1252172" y="1360678"/>
            <a:ext cx="9753600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回顾前面介绍的一些性能度量可看出，它们大都隐式地假设了均等代价，如错误率是直接计算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错误次数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，并没有考虑不同错误会造成不同的后果。在非均等代价下，我们所希望的不再是简单地最小化错误次数，而是希望最小化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总体代价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(total cost)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C9EE8CB-DBF7-454B-AA25-71080D586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25" y="4033805"/>
            <a:ext cx="5815276" cy="20853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表格 5">
                <a:extLst>
                  <a:ext uri="{FF2B5EF4-FFF2-40B4-BE49-F238E27FC236}">
                    <a16:creationId xmlns:a16="http://schemas.microsoft.com/office/drawing/2014/main" id="{CB933225-606C-4AE5-99E0-C3B350631F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9778893"/>
                  </p:ext>
                </p:extLst>
              </p:nvPr>
            </p:nvGraphicFramePr>
            <p:xfrm>
              <a:off x="6372125" y="3948579"/>
              <a:ext cx="5402516" cy="2180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8046">
                      <a:extLst>
                        <a:ext uri="{9D8B030D-6E8A-4147-A177-3AD203B41FA5}">
                          <a16:colId xmlns:a16="http://schemas.microsoft.com/office/drawing/2014/main" val="3970128321"/>
                        </a:ext>
                      </a:extLst>
                    </a:gridCol>
                    <a:gridCol w="808046">
                      <a:extLst>
                        <a:ext uri="{9D8B030D-6E8A-4147-A177-3AD203B41FA5}">
                          <a16:colId xmlns:a16="http://schemas.microsoft.com/office/drawing/2014/main" val="2536867386"/>
                        </a:ext>
                      </a:extLst>
                    </a:gridCol>
                    <a:gridCol w="2104507">
                      <a:extLst>
                        <a:ext uri="{9D8B030D-6E8A-4147-A177-3AD203B41FA5}">
                          <a16:colId xmlns:a16="http://schemas.microsoft.com/office/drawing/2014/main" val="1733110905"/>
                        </a:ext>
                      </a:extLst>
                    </a:gridCol>
                    <a:gridCol w="1681917">
                      <a:extLst>
                        <a:ext uri="{9D8B030D-6E8A-4147-A177-3AD203B41FA5}">
                          <a16:colId xmlns:a16="http://schemas.microsoft.com/office/drawing/2014/main" val="2778957932"/>
                        </a:ext>
                      </a:extLst>
                    </a:gridCol>
                  </a:tblGrid>
                  <a:tr h="545196">
                    <a:tc rowSpan="2"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二分类代价矩阵</a:t>
                          </a:r>
                        </a:p>
                      </a:txBody>
                      <a:tcPr anchor="ctr"/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真实类别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预测类别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271494"/>
                      </a:ext>
                    </a:extLst>
                  </a:tr>
                  <a:tr h="545196">
                    <a:tc gridSpan="2"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+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-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3597610"/>
                      </a:ext>
                    </a:extLst>
                  </a:tr>
                  <a:tr h="545196">
                    <a:tc rowSpan="2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/>
                            <a:t>真实类别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+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cost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++</m:t>
                                    </m:r>
                                  </m:sub>
                                </m:sSub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（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）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cost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+−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77270"/>
                      </a:ext>
                    </a:extLst>
                  </a:tr>
                  <a:tr h="545196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-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cost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−+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cost</m:t>
                                  </m:r>
                                </m:e>
                                <m:sub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−−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/>
                            <a:t>（</a:t>
                          </a:r>
                          <a:r>
                            <a:rPr lang="en-US" altLang="zh-CN" sz="2000" dirty="0"/>
                            <a:t>0</a:t>
                          </a:r>
                          <a:r>
                            <a:rPr lang="zh-CN" altLang="en-US" sz="2000" dirty="0"/>
                            <a:t>）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82758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表格 5">
                <a:extLst>
                  <a:ext uri="{FF2B5EF4-FFF2-40B4-BE49-F238E27FC236}">
                    <a16:creationId xmlns:a16="http://schemas.microsoft.com/office/drawing/2014/main" id="{CB933225-606C-4AE5-99E0-C3B350631F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9778893"/>
                  </p:ext>
                </p:extLst>
              </p:nvPr>
            </p:nvGraphicFramePr>
            <p:xfrm>
              <a:off x="6372125" y="3948579"/>
              <a:ext cx="5402516" cy="2180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8046">
                      <a:extLst>
                        <a:ext uri="{9D8B030D-6E8A-4147-A177-3AD203B41FA5}">
                          <a16:colId xmlns:a16="http://schemas.microsoft.com/office/drawing/2014/main" val="3970128321"/>
                        </a:ext>
                      </a:extLst>
                    </a:gridCol>
                    <a:gridCol w="808046">
                      <a:extLst>
                        <a:ext uri="{9D8B030D-6E8A-4147-A177-3AD203B41FA5}">
                          <a16:colId xmlns:a16="http://schemas.microsoft.com/office/drawing/2014/main" val="2536867386"/>
                        </a:ext>
                      </a:extLst>
                    </a:gridCol>
                    <a:gridCol w="2104507">
                      <a:extLst>
                        <a:ext uri="{9D8B030D-6E8A-4147-A177-3AD203B41FA5}">
                          <a16:colId xmlns:a16="http://schemas.microsoft.com/office/drawing/2014/main" val="1733110905"/>
                        </a:ext>
                      </a:extLst>
                    </a:gridCol>
                    <a:gridCol w="1681917">
                      <a:extLst>
                        <a:ext uri="{9D8B030D-6E8A-4147-A177-3AD203B41FA5}">
                          <a16:colId xmlns:a16="http://schemas.microsoft.com/office/drawing/2014/main" val="2778957932"/>
                        </a:ext>
                      </a:extLst>
                    </a:gridCol>
                  </a:tblGrid>
                  <a:tr h="545196">
                    <a:tc rowSpan="2"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二分类代价矩阵</a:t>
                          </a:r>
                        </a:p>
                      </a:txBody>
                      <a:tcPr anchor="ctr"/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真实类别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预测类别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271494"/>
                      </a:ext>
                    </a:extLst>
                  </a:tr>
                  <a:tr h="545196">
                    <a:tc gridSpan="2"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+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-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3597610"/>
                      </a:ext>
                    </a:extLst>
                  </a:tr>
                  <a:tr h="545196">
                    <a:tc rowSpan="2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/>
                            <a:t>真实类别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+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76879" t="-211236" r="-80925" b="-107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21739" t="-211236" r="-1449" b="-1078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677270"/>
                      </a:ext>
                    </a:extLst>
                  </a:tr>
                  <a:tr h="545196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-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76879" t="-307778" r="-80925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1739" t="-307778" r="-1449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82758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10659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954103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代价敏感错误率与代价曲线</a:t>
              </a:r>
              <a:endPara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4B8D12-1416-4586-8DCC-C222E56105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28</a:t>
            </a:fld>
            <a:endParaRPr lang="en-US" altLang="zh-CN" spc="-5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D3C700-E2CE-4197-A15B-2822E79E93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7"/>
          <a:stretch/>
        </p:blipFill>
        <p:spPr>
          <a:xfrm>
            <a:off x="914399" y="1981200"/>
            <a:ext cx="10333505" cy="4555783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62C99DA8-7F41-4C19-A03D-B96F17E90698}"/>
              </a:ext>
            </a:extLst>
          </p:cNvPr>
          <p:cNvGrpSpPr/>
          <p:nvPr/>
        </p:nvGrpSpPr>
        <p:grpSpPr>
          <a:xfrm>
            <a:off x="914400" y="1023631"/>
            <a:ext cx="10805034" cy="1033769"/>
            <a:chOff x="914400" y="1042281"/>
            <a:chExt cx="10805034" cy="1033769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B281BC78-BCD7-462C-A2F3-5756CA4DB0AE}"/>
                </a:ext>
              </a:extLst>
            </p:cNvPr>
            <p:cNvGrpSpPr/>
            <p:nvPr/>
          </p:nvGrpSpPr>
          <p:grpSpPr>
            <a:xfrm>
              <a:off x="914400" y="1042281"/>
              <a:ext cx="10805034" cy="1033769"/>
              <a:chOff x="464883" y="945368"/>
              <a:chExt cx="10805034" cy="1033769"/>
            </a:xfrm>
          </p:grpSpPr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104E037E-BCF8-4EF2-8F16-161BB19207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670" t="6184" r="22752" b="51600"/>
              <a:stretch/>
            </p:blipFill>
            <p:spPr>
              <a:xfrm>
                <a:off x="464883" y="1029961"/>
                <a:ext cx="5402517" cy="944884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930EECDB-9592-4CCA-A074-55A70F6D93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362" t="48562" r="1058" b="5251"/>
              <a:stretch/>
            </p:blipFill>
            <p:spPr>
              <a:xfrm>
                <a:off x="5867400" y="945368"/>
                <a:ext cx="5402517" cy="1033769"/>
              </a:xfrm>
              <a:prstGeom prst="rect">
                <a:avLst/>
              </a:prstGeom>
            </p:spPr>
          </p:pic>
        </p:grp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E1E2A4F6-3E6C-45D4-94D8-CABE24C96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2600" y="1474574"/>
              <a:ext cx="784252" cy="300146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27F0FFEC-F0CB-41B6-8B3D-217B0A761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1600" y="1449243"/>
              <a:ext cx="723882" cy="30014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1422E03-1ED2-4734-90AB-16AB6EEF1503}"/>
                  </a:ext>
                </a:extLst>
              </p:cNvPr>
              <p:cNvSpPr txBox="1"/>
              <p:nvPr/>
            </p:nvSpPr>
            <p:spPr>
              <a:xfrm>
                <a:off x="9829800" y="653219"/>
                <a:ext cx="19812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𝟙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是</m:t>
                    </m:r>
                    <m:r>
                      <a:rPr lang="zh-CN" altLang="en-US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指示</m:t>
                    </m:r>
                  </m:oMath>
                </a14:m>
                <a:r>
                  <a:rPr lang="zh-CN" altLang="en-US" sz="1600" dirty="0">
                    <a:solidFill>
                      <a:srgbClr val="FF0000"/>
                    </a:solidFill>
                  </a:rPr>
                  <a:t>函数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Indicator function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，若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x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为真则为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，否则为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0</a:t>
                </a:r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1422E03-1ED2-4734-90AB-16AB6EEF1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800" y="653219"/>
                <a:ext cx="1981200" cy="738664"/>
              </a:xfrm>
              <a:prstGeom prst="rect">
                <a:avLst/>
              </a:prstGeom>
              <a:blipFill>
                <a:blip r:embed="rId8"/>
                <a:stretch>
                  <a:fillRect l="-6462" t="-9091" r="-4308" b="-17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9088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954103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代价敏感错误率与代价曲线</a:t>
              </a:r>
              <a:endPara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4B8D12-1416-4586-8DCC-C222E56105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29</a:t>
            </a:fld>
            <a:endParaRPr lang="en-US" altLang="zh-CN" spc="-5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D3C700-E2CE-4197-A15B-2822E79E93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7" t="78619" r="19493" b="2592"/>
          <a:stretch/>
        </p:blipFill>
        <p:spPr>
          <a:xfrm>
            <a:off x="1964219" y="5881625"/>
            <a:ext cx="7903663" cy="9399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5">
                <a:extLst>
                  <a:ext uri="{FF2B5EF4-FFF2-40B4-BE49-F238E27FC236}">
                    <a16:creationId xmlns:a16="http://schemas.microsoft.com/office/drawing/2014/main" id="{35FFD861-0EF8-4343-A158-7DED65A93B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860357"/>
                  </p:ext>
                </p:extLst>
              </p:nvPr>
            </p:nvGraphicFramePr>
            <p:xfrm>
              <a:off x="6400800" y="2284236"/>
              <a:ext cx="5402516" cy="2180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8046">
                      <a:extLst>
                        <a:ext uri="{9D8B030D-6E8A-4147-A177-3AD203B41FA5}">
                          <a16:colId xmlns:a16="http://schemas.microsoft.com/office/drawing/2014/main" val="3970128321"/>
                        </a:ext>
                      </a:extLst>
                    </a:gridCol>
                    <a:gridCol w="808046">
                      <a:extLst>
                        <a:ext uri="{9D8B030D-6E8A-4147-A177-3AD203B41FA5}">
                          <a16:colId xmlns:a16="http://schemas.microsoft.com/office/drawing/2014/main" val="2536867386"/>
                        </a:ext>
                      </a:extLst>
                    </a:gridCol>
                    <a:gridCol w="2104507">
                      <a:extLst>
                        <a:ext uri="{9D8B030D-6E8A-4147-A177-3AD203B41FA5}">
                          <a16:colId xmlns:a16="http://schemas.microsoft.com/office/drawing/2014/main" val="1733110905"/>
                        </a:ext>
                      </a:extLst>
                    </a:gridCol>
                    <a:gridCol w="1681917">
                      <a:extLst>
                        <a:ext uri="{9D8B030D-6E8A-4147-A177-3AD203B41FA5}">
                          <a16:colId xmlns:a16="http://schemas.microsoft.com/office/drawing/2014/main" val="2778957932"/>
                        </a:ext>
                      </a:extLst>
                    </a:gridCol>
                  </a:tblGrid>
                  <a:tr h="545196">
                    <a:tc rowSpan="2"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二分类代价矩阵</a:t>
                          </a:r>
                        </a:p>
                      </a:txBody>
                      <a:tcPr anchor="ctr"/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真实类别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预测类别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271494"/>
                      </a:ext>
                    </a:extLst>
                  </a:tr>
                  <a:tr h="545196">
                    <a:tc gridSpan="2"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+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-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3597610"/>
                      </a:ext>
                    </a:extLst>
                  </a:tr>
                  <a:tr h="545196">
                    <a:tc rowSpan="2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/>
                            <a:t>真实类别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+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cost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++</m:t>
                                    </m:r>
                                  </m:sub>
                                </m:sSub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（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）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cost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+−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77270"/>
                      </a:ext>
                    </a:extLst>
                  </a:tr>
                  <a:tr h="545196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-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cost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−+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cost</m:t>
                                  </m:r>
                                </m:e>
                                <m:sub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−−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/>
                            <a:t>（</a:t>
                          </a:r>
                          <a:r>
                            <a:rPr lang="en-US" altLang="zh-CN" sz="2000" dirty="0"/>
                            <a:t>0</a:t>
                          </a:r>
                          <a:r>
                            <a:rPr lang="zh-CN" altLang="en-US" sz="2000" dirty="0"/>
                            <a:t>）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82758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5">
                <a:extLst>
                  <a:ext uri="{FF2B5EF4-FFF2-40B4-BE49-F238E27FC236}">
                    <a16:creationId xmlns:a16="http://schemas.microsoft.com/office/drawing/2014/main" id="{35FFD861-0EF8-4343-A158-7DED65A93B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860357"/>
                  </p:ext>
                </p:extLst>
              </p:nvPr>
            </p:nvGraphicFramePr>
            <p:xfrm>
              <a:off x="6400800" y="2284236"/>
              <a:ext cx="5402516" cy="2180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8046">
                      <a:extLst>
                        <a:ext uri="{9D8B030D-6E8A-4147-A177-3AD203B41FA5}">
                          <a16:colId xmlns:a16="http://schemas.microsoft.com/office/drawing/2014/main" val="3970128321"/>
                        </a:ext>
                      </a:extLst>
                    </a:gridCol>
                    <a:gridCol w="808046">
                      <a:extLst>
                        <a:ext uri="{9D8B030D-6E8A-4147-A177-3AD203B41FA5}">
                          <a16:colId xmlns:a16="http://schemas.microsoft.com/office/drawing/2014/main" val="2536867386"/>
                        </a:ext>
                      </a:extLst>
                    </a:gridCol>
                    <a:gridCol w="2104507">
                      <a:extLst>
                        <a:ext uri="{9D8B030D-6E8A-4147-A177-3AD203B41FA5}">
                          <a16:colId xmlns:a16="http://schemas.microsoft.com/office/drawing/2014/main" val="1733110905"/>
                        </a:ext>
                      </a:extLst>
                    </a:gridCol>
                    <a:gridCol w="1681917">
                      <a:extLst>
                        <a:ext uri="{9D8B030D-6E8A-4147-A177-3AD203B41FA5}">
                          <a16:colId xmlns:a16="http://schemas.microsoft.com/office/drawing/2014/main" val="2778957932"/>
                        </a:ext>
                      </a:extLst>
                    </a:gridCol>
                  </a:tblGrid>
                  <a:tr h="545196">
                    <a:tc rowSpan="2"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二分类代价矩阵</a:t>
                          </a:r>
                        </a:p>
                      </a:txBody>
                      <a:tcPr anchor="ctr"/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真实类别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预测类别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271494"/>
                      </a:ext>
                    </a:extLst>
                  </a:tr>
                  <a:tr h="545196">
                    <a:tc gridSpan="2"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+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-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3597610"/>
                      </a:ext>
                    </a:extLst>
                  </a:tr>
                  <a:tr h="545196">
                    <a:tc rowSpan="2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/>
                            <a:t>真实类别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+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77168" t="-211236" r="-80925" b="-107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22101" t="-211236" r="-1449" b="-1078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677270"/>
                      </a:ext>
                    </a:extLst>
                  </a:tr>
                  <a:tr h="545196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/>
                            <a:t>-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77168" t="-307778" r="-80925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2101" t="-307778" r="-1449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82758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D9D26AA-B8BE-4DCC-A1C7-B7B1CEFB1E05}"/>
                  </a:ext>
                </a:extLst>
              </p:cNvPr>
              <p:cNvSpPr txBox="1"/>
              <p:nvPr/>
            </p:nvSpPr>
            <p:spPr>
              <a:xfrm>
                <a:off x="2438400" y="4442585"/>
                <a:ext cx="8820142" cy="13113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𝐹𝑁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 −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    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 +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</m:sup>
                        </m:sSup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</m:sup>
                        </m:sSup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𝐹𝑁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 −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    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</m:sup>
                        </m:sSup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</m:sup>
                        </m:sSup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 +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D9D26AA-B8BE-4DCC-A1C7-B7B1CEFB1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4442585"/>
                <a:ext cx="8820142" cy="1311385"/>
              </a:xfrm>
              <a:prstGeom prst="rect">
                <a:avLst/>
              </a:prstGeom>
              <a:blipFill>
                <a:blip r:embed="rId6"/>
                <a:stretch>
                  <a:fillRect l="-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D22E846A-F703-483A-98B2-C253EF7DBE95}"/>
              </a:ext>
            </a:extLst>
          </p:cNvPr>
          <p:cNvGrpSpPr/>
          <p:nvPr/>
        </p:nvGrpSpPr>
        <p:grpSpPr>
          <a:xfrm>
            <a:off x="1371599" y="1143000"/>
            <a:ext cx="10119234" cy="954103"/>
            <a:chOff x="914400" y="1042281"/>
            <a:chExt cx="10805034" cy="103376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9970FFC-E12B-4D04-B96A-CC5C944E0A26}"/>
                </a:ext>
              </a:extLst>
            </p:cNvPr>
            <p:cNvGrpSpPr/>
            <p:nvPr/>
          </p:nvGrpSpPr>
          <p:grpSpPr>
            <a:xfrm>
              <a:off x="914400" y="1042281"/>
              <a:ext cx="10805034" cy="1033769"/>
              <a:chOff x="464883" y="945368"/>
              <a:chExt cx="10805034" cy="1033769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31B98E5F-79C5-4BB7-AA84-F60D964116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670" t="6184" r="22752" b="51600"/>
              <a:stretch/>
            </p:blipFill>
            <p:spPr>
              <a:xfrm>
                <a:off x="464883" y="1029961"/>
                <a:ext cx="5402517" cy="944884"/>
              </a:xfrm>
              <a:prstGeom prst="rect">
                <a:avLst/>
              </a:prstGeom>
            </p:spPr>
          </p:pic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4484FC93-6D27-428E-B91B-80FF647503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362" t="48562" r="1058" b="5251"/>
              <a:stretch/>
            </p:blipFill>
            <p:spPr>
              <a:xfrm>
                <a:off x="5867400" y="945368"/>
                <a:ext cx="5402517" cy="1033769"/>
              </a:xfrm>
              <a:prstGeom prst="rect">
                <a:avLst/>
              </a:prstGeom>
            </p:spPr>
          </p:pic>
        </p:grp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3D1DA128-92C3-4E0A-A753-A186607B2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2600" y="1474574"/>
              <a:ext cx="784252" cy="300146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7C5DC876-CB45-42B3-BA2C-3239FB2F3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1600" y="1449243"/>
              <a:ext cx="723882" cy="30014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表格 26">
                <a:extLst>
                  <a:ext uri="{FF2B5EF4-FFF2-40B4-BE49-F238E27FC236}">
                    <a16:creationId xmlns:a16="http://schemas.microsoft.com/office/drawing/2014/main" id="{6B2F5328-65A5-4F83-A1CA-F094C88E4E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74132"/>
                  </p:ext>
                </p:extLst>
              </p:nvPr>
            </p:nvGraphicFramePr>
            <p:xfrm>
              <a:off x="499052" y="2301625"/>
              <a:ext cx="5819232" cy="219417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830515">
                      <a:extLst>
                        <a:ext uri="{9D8B030D-6E8A-4147-A177-3AD203B41FA5}">
                          <a16:colId xmlns:a16="http://schemas.microsoft.com/office/drawing/2014/main" val="151525828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745830234"/>
                        </a:ext>
                      </a:extLst>
                    </a:gridCol>
                    <a:gridCol w="1343795">
                      <a:extLst>
                        <a:ext uri="{9D8B030D-6E8A-4147-A177-3AD203B41FA5}">
                          <a16:colId xmlns:a16="http://schemas.microsoft.com/office/drawing/2014/main" val="507632955"/>
                        </a:ext>
                      </a:extLst>
                    </a:gridCol>
                    <a:gridCol w="1441461">
                      <a:extLst>
                        <a:ext uri="{9D8B030D-6E8A-4147-A177-3AD203B41FA5}">
                          <a16:colId xmlns:a16="http://schemas.microsoft.com/office/drawing/2014/main" val="774412683"/>
                        </a:ext>
                      </a:extLst>
                    </a:gridCol>
                    <a:gridCol w="1441461">
                      <a:extLst>
                        <a:ext uri="{9D8B030D-6E8A-4147-A177-3AD203B41FA5}">
                          <a16:colId xmlns:a16="http://schemas.microsoft.com/office/drawing/2014/main" val="713102840"/>
                        </a:ext>
                      </a:extLst>
                    </a:gridCol>
                  </a:tblGrid>
                  <a:tr h="373437">
                    <a:tc rowSpan="2" gridSpan="2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ysClr val="windowText" lastClr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混淆矩阵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预测结果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0AC48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总计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0AC4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322837"/>
                      </a:ext>
                    </a:extLst>
                  </a:tr>
                  <a:tr h="373437">
                    <a:tc gridSpan="2"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正例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6E0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反例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6E0B3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6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4893738"/>
                      </a:ext>
                    </a:extLst>
                  </a:tr>
                  <a:tr h="509869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真实结果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正例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E6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真正例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TP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假反例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FN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4892368"/>
                      </a:ext>
                    </a:extLst>
                  </a:tr>
                  <a:tr h="495586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反例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E6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假正例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FP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真反例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TN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190960"/>
                      </a:ext>
                    </a:extLst>
                  </a:tr>
                  <a:tr h="373437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总计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E6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m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91078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表格 26">
                <a:extLst>
                  <a:ext uri="{FF2B5EF4-FFF2-40B4-BE49-F238E27FC236}">
                    <a16:creationId xmlns:a16="http://schemas.microsoft.com/office/drawing/2014/main" id="{6B2F5328-65A5-4F83-A1CA-F094C88E4E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74132"/>
                  </p:ext>
                </p:extLst>
              </p:nvPr>
            </p:nvGraphicFramePr>
            <p:xfrm>
              <a:off x="499052" y="2301625"/>
              <a:ext cx="5819232" cy="219417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830515">
                      <a:extLst>
                        <a:ext uri="{9D8B030D-6E8A-4147-A177-3AD203B41FA5}">
                          <a16:colId xmlns:a16="http://schemas.microsoft.com/office/drawing/2014/main" val="151525828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745830234"/>
                        </a:ext>
                      </a:extLst>
                    </a:gridCol>
                    <a:gridCol w="1343795">
                      <a:extLst>
                        <a:ext uri="{9D8B030D-6E8A-4147-A177-3AD203B41FA5}">
                          <a16:colId xmlns:a16="http://schemas.microsoft.com/office/drawing/2014/main" val="507632955"/>
                        </a:ext>
                      </a:extLst>
                    </a:gridCol>
                    <a:gridCol w="1441461">
                      <a:extLst>
                        <a:ext uri="{9D8B030D-6E8A-4147-A177-3AD203B41FA5}">
                          <a16:colId xmlns:a16="http://schemas.microsoft.com/office/drawing/2014/main" val="774412683"/>
                        </a:ext>
                      </a:extLst>
                    </a:gridCol>
                    <a:gridCol w="1441461">
                      <a:extLst>
                        <a:ext uri="{9D8B030D-6E8A-4147-A177-3AD203B41FA5}">
                          <a16:colId xmlns:a16="http://schemas.microsoft.com/office/drawing/2014/main" val="713102840"/>
                        </a:ext>
                      </a:extLst>
                    </a:gridCol>
                  </a:tblGrid>
                  <a:tr h="396240">
                    <a:tc rowSpan="2" gridSpan="2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ysClr val="windowText" lastClr="0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混淆矩阵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预测结果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0AC48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总计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0AC4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322837"/>
                      </a:ext>
                    </a:extLst>
                  </a:tr>
                  <a:tr h="396240">
                    <a:tc gridSpan="2"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正例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6E0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反例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6E0B3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6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4893738"/>
                      </a:ext>
                    </a:extLst>
                  </a:tr>
                  <a:tr h="509869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真实结果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正例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E6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真正例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TP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假反例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FN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303797" t="-160714" r="-844" b="-19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4892368"/>
                      </a:ext>
                    </a:extLst>
                  </a:tr>
                  <a:tr h="495586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反例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E6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假正例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FP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真反例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TN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303797" t="-267073" r="-84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190960"/>
                      </a:ext>
                    </a:extLst>
                  </a:tr>
                  <a:tr h="3962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总计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E6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m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91078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66049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954103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代价敏感错误率与代价曲线</a:t>
              </a:r>
              <a:endPara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4B8D12-1416-4586-8DCC-C222E56105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30</a:t>
            </a:fld>
            <a:endParaRPr lang="en-US" altLang="zh-CN" spc="-5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39D14AC-3017-4676-AFE5-FD4139B3BF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315" y="1742170"/>
            <a:ext cx="7732730" cy="110660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61B2E7D-05BF-4258-ADEA-9847CEF69A6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" t="1" r="1138" b="70994"/>
          <a:stretch/>
        </p:blipFill>
        <p:spPr>
          <a:xfrm>
            <a:off x="703155" y="3462793"/>
            <a:ext cx="11353800" cy="253174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A963D525-AE96-4ADA-9629-FC46FEAF68D3}"/>
              </a:ext>
            </a:extLst>
          </p:cNvPr>
          <p:cNvSpPr txBox="1"/>
          <p:nvPr/>
        </p:nvSpPr>
        <p:spPr>
          <a:xfrm>
            <a:off x="1109207" y="2057400"/>
            <a:ext cx="23197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正例概率代价：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705167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954103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代价敏感错误率与代价曲线</a:t>
              </a:r>
              <a:endPara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4B8D12-1416-4586-8DCC-C222E56105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31</a:t>
            </a:fld>
            <a:endParaRPr lang="en-US" altLang="zh-CN" spc="-5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D1D7A9-2AA0-48BE-8E59-23AF471117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29"/>
          <a:stretch/>
        </p:blipFill>
        <p:spPr>
          <a:xfrm>
            <a:off x="373674" y="1064587"/>
            <a:ext cx="10642700" cy="545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14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954103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代价敏感错误率与代价曲线</a:t>
              </a:r>
              <a:endPara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4B8D12-1416-4586-8DCC-C222E56105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32</a:t>
            </a:fld>
            <a:endParaRPr lang="en-US" altLang="zh-CN" spc="-5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A3894C-8C6A-43AF-99D0-1D336E71CEC7}"/>
              </a:ext>
            </a:extLst>
          </p:cNvPr>
          <p:cNvSpPr txBox="1"/>
          <p:nvPr/>
        </p:nvSpPr>
        <p:spPr>
          <a:xfrm>
            <a:off x="1295400" y="1259561"/>
            <a:ext cx="10820400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在非均等代价下，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曲线不能直接反映出学习器的期望总体代价，而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代价曲线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(cost curve)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则可达到该目的。代价曲线图的横轴是取值为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的正例概率代价，纵轴是取值为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1]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的归一化代价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CF061F7-4093-4217-A417-2CE8BEC89A03}"/>
              </a:ext>
            </a:extLst>
          </p:cNvPr>
          <p:cNvSpPr txBox="1"/>
          <p:nvPr/>
        </p:nvSpPr>
        <p:spPr>
          <a:xfrm>
            <a:off x="9648175" y="4301153"/>
            <a:ext cx="2467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1" dirty="0">
                <a:solidFill>
                  <a:srgbClr val="000000"/>
                </a:solidFill>
                <a:effectLst/>
                <a:latin typeface="HiddenHorzOCR-Identity-H"/>
              </a:rPr>
              <a:t>p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HiddenHorzOCR-Identity-H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HiddenHorzOCR-Identity-H"/>
              </a:rPr>
              <a:t>是样例为正例的概率</a:t>
            </a:r>
            <a:r>
              <a:rPr lang="zh-CN" altLang="en-US" dirty="0"/>
              <a:t> 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39D14AC-3017-4676-AFE5-FD4139B3BF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676" y="3200400"/>
            <a:ext cx="7732730" cy="1106604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79D32219-3BDC-40D7-AF1C-8985711526EE}"/>
              </a:ext>
            </a:extLst>
          </p:cNvPr>
          <p:cNvGrpSpPr/>
          <p:nvPr/>
        </p:nvGrpSpPr>
        <p:grpSpPr>
          <a:xfrm>
            <a:off x="2021140" y="4670485"/>
            <a:ext cx="7961059" cy="1203918"/>
            <a:chOff x="1524001" y="4633689"/>
            <a:chExt cx="7543800" cy="104481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A74DBC2-483C-43B2-B38F-0C721A9BF9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627"/>
            <a:stretch/>
          </p:blipFill>
          <p:spPr>
            <a:xfrm>
              <a:off x="1524001" y="4633689"/>
              <a:ext cx="7543800" cy="954103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88D74DA-4843-4C91-910A-83B31E62BA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33"/>
            <a:stretch/>
          </p:blipFill>
          <p:spPr>
            <a:xfrm>
              <a:off x="2819400" y="4724400"/>
              <a:ext cx="6088268" cy="9541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305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954103"/>
            <a:chOff x="-254000" y="144940"/>
            <a:chExt cx="12934897" cy="954103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954103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代价敏感错误率与代价曲线</a:t>
              </a:r>
              <a:endPara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4B8D12-1416-4586-8DCC-C222E56105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33</a:t>
            </a:fld>
            <a:endParaRPr lang="en-US" altLang="zh-CN" spc="-5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1FEAD2-0BC3-48A2-BD08-D8A2D027FE4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5" t="4537" r="7417" b="8685"/>
          <a:stretch/>
        </p:blipFill>
        <p:spPr>
          <a:xfrm>
            <a:off x="7383089" y="1577745"/>
            <a:ext cx="4800601" cy="425286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688CE90-29B5-4103-8864-3ECBBCE9B4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36" y="2008348"/>
            <a:ext cx="6185418" cy="648300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DB4F4795-CA46-4971-A800-359B1E5534D7}"/>
              </a:ext>
            </a:extLst>
          </p:cNvPr>
          <p:cNvGrpSpPr/>
          <p:nvPr/>
        </p:nvGrpSpPr>
        <p:grpSpPr>
          <a:xfrm>
            <a:off x="39689" y="2971800"/>
            <a:ext cx="7351711" cy="804730"/>
            <a:chOff x="762000" y="3276600"/>
            <a:chExt cx="9362095" cy="954103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C0AA444-403B-4C8A-A21D-FF8E085C70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42"/>
            <a:stretch/>
          </p:blipFill>
          <p:spPr>
            <a:xfrm>
              <a:off x="2286001" y="3276600"/>
              <a:ext cx="7838094" cy="954103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35E32610-0FDD-46C3-A883-B693EAEF4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3452104"/>
              <a:ext cx="1846220" cy="585698"/>
            </a:xfrm>
            <a:prstGeom prst="rect">
              <a:avLst/>
            </a:prstGeom>
          </p:spPr>
        </p:pic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C3B52A70-AB79-4B67-9770-0CD7A03D29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35" y="5087477"/>
            <a:ext cx="7032895" cy="684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80A86E2-2D88-437F-9A14-0DE39339E4FE}"/>
                  </a:ext>
                </a:extLst>
              </p:cNvPr>
              <p:cNvSpPr txBox="1"/>
              <p:nvPr/>
            </p:nvSpPr>
            <p:spPr>
              <a:xfrm>
                <a:off x="732183" y="5867637"/>
                <a:ext cx="57840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𝐹𝑁𝑅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𝐹𝑃𝑅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𝑐𝑜𝑠𝑡</m:t>
                    </m:r>
                  </m:oMath>
                </a14:m>
                <a:r>
                  <a:rPr lang="zh-CN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</a:rPr>
                  <a:t>+FPR</a:t>
                </a:r>
                <a:endParaRPr lang="zh-CN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80A86E2-2D88-437F-9A14-0DE39339E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83" y="5867637"/>
                <a:ext cx="5784084" cy="369332"/>
              </a:xfrm>
              <a:prstGeom prst="rect">
                <a:avLst/>
              </a:prstGeom>
              <a:blipFill>
                <a:blip r:embed="rId9"/>
                <a:stretch>
                  <a:fillRect l="-1581" t="-26667" r="-2213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EF6774BE-FBEA-4872-898B-4D22BE550717}"/>
              </a:ext>
            </a:extLst>
          </p:cNvPr>
          <p:cNvGrpSpPr/>
          <p:nvPr/>
        </p:nvGrpSpPr>
        <p:grpSpPr>
          <a:xfrm>
            <a:off x="762000" y="1149730"/>
            <a:ext cx="9024878" cy="526670"/>
            <a:chOff x="1095907" y="997330"/>
            <a:chExt cx="9024878" cy="526670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D2BCE0B8-C622-4F78-A12F-20A532B093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29" t="90660" r="19493" b="1825"/>
            <a:stretch/>
          </p:blipFill>
          <p:spPr>
            <a:xfrm>
              <a:off x="1905000" y="1032846"/>
              <a:ext cx="8215785" cy="444391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FF2BEC19-8DCD-484E-8813-6F4BD3C86A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02" r="71146" b="18761"/>
            <a:stretch/>
          </p:blipFill>
          <p:spPr>
            <a:xfrm>
              <a:off x="1095907" y="997330"/>
              <a:ext cx="689794" cy="526670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8854A1F-AA6A-4E09-ADC2-3C10DCF6021A}"/>
                </a:ext>
              </a:extLst>
            </p:cNvPr>
            <p:cNvSpPr txBox="1"/>
            <p:nvPr/>
          </p:nvSpPr>
          <p:spPr>
            <a:xfrm>
              <a:off x="1731192" y="1091245"/>
              <a:ext cx="4492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endParaRPr lang="zh-CN" altLang="en-US" dirty="0"/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6AA18F1E-8B3F-4F40-B304-60C19CF766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339639"/>
            <a:ext cx="5552517" cy="79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026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66902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分类任务指标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4B8D12-1416-4586-8DCC-C222E56105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34</a:t>
            </a:fld>
            <a:endParaRPr lang="en-US" altLang="zh-CN" spc="-5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C1CBCFF-9FDB-45A8-9A0B-E285C1BA23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8"/>
          <a:stretch/>
        </p:blipFill>
        <p:spPr bwMode="auto">
          <a:xfrm>
            <a:off x="3733800" y="719754"/>
            <a:ext cx="5486400" cy="605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ED773507-5923-4A39-91F5-00F369E8C1E7}"/>
              </a:ext>
            </a:extLst>
          </p:cNvPr>
          <p:cNvSpPr txBox="1"/>
          <p:nvPr/>
        </p:nvSpPr>
        <p:spPr>
          <a:xfrm>
            <a:off x="2328724" y="4724400"/>
            <a:ext cx="15922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分类任务指标</a:t>
            </a:r>
          </a:p>
        </p:txBody>
      </p:sp>
    </p:spTree>
    <p:extLst>
      <p:ext uri="{BB962C8B-B14F-4D97-AF65-F5344CB8AC3E}">
        <p14:creationId xmlns:p14="http://schemas.microsoft.com/office/powerpoint/2010/main" val="1044351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0169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53620" y="2345095"/>
            <a:ext cx="10387025" cy="1106805"/>
          </a:xfrm>
          <a:prstGeom prst="rect">
            <a:avLst/>
          </a:prstGeom>
          <a:noFill/>
          <a:effectLst>
            <a:outerShdw blurRad="25400" dist="50800" dir="600000" algn="tl" rotWithShape="0">
              <a:schemeClr val="accent1">
                <a:lumMod val="60000"/>
                <a:lumOff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rgbClr val="115522"/>
                </a:solidFill>
                <a:latin typeface="微软雅黑" panose="020B0503020204020204" charset="-122"/>
                <a:ea typeface="微软雅黑" panose="020B0503020204020204" charset="-122"/>
              </a:rPr>
              <a:t>谢  谢  ！</a:t>
            </a:r>
          </a:p>
        </p:txBody>
      </p:sp>
      <p:pic>
        <p:nvPicPr>
          <p:cNvPr id="4" name="图片 3" descr="图片包含 游戏机, 画, 食物, 标志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619D1B-D755-473B-B5A6-3D3E6F0CF8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35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47252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9334</TotalTime>
  <Words>2287</Words>
  <Application>Microsoft Office PowerPoint</Application>
  <PresentationFormat>宽屏</PresentationFormat>
  <Paragraphs>300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HiddenHorzOCR-Identity-H</vt:lpstr>
      <vt:lpstr>pingfang SC</vt:lpstr>
      <vt:lpstr>等线</vt:lpstr>
      <vt:lpstr>SimSun</vt:lpstr>
      <vt:lpstr>SimSun</vt:lpstr>
      <vt:lpstr>微软雅黑</vt:lpstr>
      <vt:lpstr>Arial</vt:lpstr>
      <vt:lpstr>Calibri</vt:lpstr>
      <vt:lpstr>Cambria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描述平均水平的指标</dc:title>
  <dc:creator>HP</dc:creator>
  <cp:lastModifiedBy>周 eddy</cp:lastModifiedBy>
  <cp:revision>262</cp:revision>
  <dcterms:created xsi:type="dcterms:W3CDTF">2021-11-08T11:24:24Z</dcterms:created>
  <dcterms:modified xsi:type="dcterms:W3CDTF">2025-09-25T15:09:16Z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Acrobat PDFMaker 10.1 PowerPoint 版</vt:lpwstr>
  </property>
  <property fmtid="{D5CDD505-2E9C-101B-9397-08002B2CF9AE}" pid="3" name="ICV">
    <vt:lpwstr>FF2BB430853C4DD589440B9E6908D641</vt:lpwstr>
  </property>
  <property fmtid="{D5CDD505-2E9C-101B-9397-08002B2CF9AE}" pid="4" name="KSOProductBuildVer">
    <vt:lpwstr>1033-3.1.6.6275</vt:lpwstr>
  </property>
</Properties>
</file>