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314" r:id="rId2"/>
    <p:sldId id="411" r:id="rId3"/>
    <p:sldId id="517" r:id="rId4"/>
    <p:sldId id="518" r:id="rId5"/>
    <p:sldId id="549" r:id="rId6"/>
    <p:sldId id="548" r:id="rId7"/>
    <p:sldId id="512" r:id="rId8"/>
    <p:sldId id="523" r:id="rId9"/>
    <p:sldId id="550" r:id="rId10"/>
    <p:sldId id="529" r:id="rId11"/>
    <p:sldId id="551" r:id="rId12"/>
    <p:sldId id="552" r:id="rId13"/>
    <p:sldId id="553" r:id="rId14"/>
    <p:sldId id="554" r:id="rId15"/>
    <p:sldId id="541" r:id="rId16"/>
    <p:sldId id="555" r:id="rId17"/>
    <p:sldId id="557" r:id="rId18"/>
    <p:sldId id="558" r:id="rId19"/>
    <p:sldId id="556" r:id="rId20"/>
    <p:sldId id="256" r:id="rId21"/>
    <p:sldId id="445" r:id="rId22"/>
  </p:sldIdLst>
  <p:sldSz cx="12192000" cy="6858000"/>
  <p:notesSz cx="12192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98">
          <p15:clr>
            <a:srgbClr val="A4A3A4"/>
          </p15:clr>
        </p15:guide>
        <p15:guide id="2" pos="215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202710"/>
    <a:srgbClr val="115522"/>
    <a:srgbClr val="005825"/>
    <a:srgbClr val="0E45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045" autoAdjust="0"/>
  </p:normalViewPr>
  <p:slideViewPr>
    <p:cSldViewPr>
      <p:cViewPr varScale="1">
        <p:scale>
          <a:sx n="91" d="100"/>
          <a:sy n="91" d="100"/>
        </p:scale>
        <p:origin x="285" y="48"/>
      </p:cViewPr>
      <p:guideLst>
        <p:guide orient="horz" pos="2898"/>
        <p:guide pos="2157"/>
      </p:guideLst>
    </p:cSldViewPr>
  </p:slideViewPr>
  <p:notesTextViewPr>
    <p:cViewPr>
      <p:scale>
        <a:sx n="3" d="2"/>
        <a:sy n="3" d="2"/>
      </p:scale>
      <p:origin x="0" y="0"/>
    </p:cViewPr>
  </p:notesTextViewPr>
  <p:notesViewPr>
    <p:cSldViewPr>
      <p:cViewPr varScale="1">
        <p:scale>
          <a:sx n="72" d="100"/>
          <a:sy n="72" d="100"/>
        </p:scale>
        <p:origin x="552" y="65"/>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096E1CF3-1557-4903-AA7A-069E8B896DA4}" type="datetimeFigureOut">
              <a:rPr lang="zh-CN" altLang="en-US" smtClean="0"/>
              <a:t>2025/10/10</a:t>
            </a:fld>
            <a:endParaRPr lang="zh-CN" altLang="en-US"/>
          </a:p>
        </p:txBody>
      </p:sp>
      <p:sp>
        <p:nvSpPr>
          <p:cNvPr id="4" name="页脚占位符 3"/>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25CEAE90-66CF-41CD-86CF-AB39C198B21B}" type="slidenum">
              <a:rPr lang="zh-CN" altLang="en-US" smtClean="0"/>
              <a:t>‹#›</a:t>
            </a:fld>
            <a:endParaRPr lang="zh-CN" altLang="en-US"/>
          </a:p>
        </p:txBody>
      </p:sp>
    </p:spTree>
    <p:extLst>
      <p:ext uri="{BB962C8B-B14F-4D97-AF65-F5344CB8AC3E}">
        <p14:creationId xmlns:p14="http://schemas.microsoft.com/office/powerpoint/2010/main" val="3782420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2025/10/10</a:t>
            </a:fld>
            <a:endParaRPr lang="zh-CN" altLang="en-US"/>
          </a:p>
        </p:txBody>
      </p:sp>
      <p:sp>
        <p:nvSpPr>
          <p:cNvPr id="4" name="幻灯片图像占位符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94813" y="642938"/>
            <a:ext cx="3086100" cy="173672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6265E5E-3078-4BFF-ACDF-4DF89B4A01A0}"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94813" y="642938"/>
            <a:ext cx="3086100" cy="173672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050245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94813" y="642938"/>
            <a:ext cx="3086100" cy="1736725"/>
          </a:xfrm>
        </p:spPr>
      </p:sp>
      <p:sp>
        <p:nvSpPr>
          <p:cNvPr id="3" name="备注占位符 2"/>
          <p:cNvSpPr>
            <a:spLocks noGrp="1"/>
          </p:cNvSpPr>
          <p:nvPr>
            <p:ph type="body" idx="1"/>
          </p:nvPr>
        </p:nvSpPr>
        <p:spPr/>
        <p:txBody>
          <a:bodyPr/>
          <a:lstStyle/>
          <a:p>
            <a:pPr>
              <a:spcAft>
                <a:spcPts val="600"/>
              </a:spcAft>
            </a:pPr>
            <a:r>
              <a:rPr lang="en-US" altLang="zh-CN" dirty="0"/>
              <a:t>【Bagging</a:t>
            </a:r>
            <a:r>
              <a:rPr lang="zh-CN" altLang="en-US" dirty="0"/>
              <a:t>（装袋法）</a:t>
            </a:r>
            <a:r>
              <a:rPr lang="en-US" altLang="zh-CN" dirty="0"/>
              <a:t>】</a:t>
            </a:r>
          </a:p>
          <a:p>
            <a:pPr>
              <a:spcAft>
                <a:spcPts val="600"/>
              </a:spcAft>
            </a:pPr>
            <a:r>
              <a:rPr lang="en-US" altLang="zh-CN" dirty="0"/>
              <a:t>• </a:t>
            </a:r>
            <a:r>
              <a:rPr lang="zh-CN" altLang="en-US" dirty="0"/>
              <a:t>将多个同类型模型的预测结果进行平均或投票</a:t>
            </a:r>
          </a:p>
          <a:p>
            <a:pPr>
              <a:spcAft>
                <a:spcPts val="600"/>
              </a:spcAft>
            </a:pPr>
            <a:r>
              <a:rPr lang="en-US" altLang="zh-CN" dirty="0"/>
              <a:t>• </a:t>
            </a:r>
            <a:r>
              <a:rPr lang="zh-CN" altLang="en-US" dirty="0"/>
              <a:t>主要降低方差（</a:t>
            </a:r>
            <a:r>
              <a:rPr lang="en-US" altLang="zh-CN" dirty="0"/>
              <a:t>Variance</a:t>
            </a:r>
            <a:r>
              <a:rPr lang="zh-CN" altLang="en-US" dirty="0"/>
              <a:t>）</a:t>
            </a:r>
          </a:p>
          <a:p>
            <a:pPr>
              <a:spcAft>
                <a:spcPts val="600"/>
              </a:spcAft>
            </a:pPr>
            <a:r>
              <a:rPr lang="en-US" altLang="zh-CN" dirty="0"/>
              <a:t>• </a:t>
            </a:r>
            <a:r>
              <a:rPr lang="zh-CN" altLang="en-US" dirty="0"/>
              <a:t>各模型独立并行训练</a:t>
            </a:r>
          </a:p>
          <a:p>
            <a:pPr>
              <a:spcAft>
                <a:spcPts val="600"/>
              </a:spcAft>
            </a:pPr>
            <a:r>
              <a:rPr lang="en-US" altLang="zh-CN" dirty="0"/>
              <a:t>【Boosting</a:t>
            </a:r>
            <a:r>
              <a:rPr lang="zh-CN" altLang="en-US" dirty="0"/>
              <a:t>（提升法）</a:t>
            </a:r>
            <a:r>
              <a:rPr lang="en-US" altLang="zh-CN" dirty="0"/>
              <a:t>】</a:t>
            </a:r>
          </a:p>
          <a:p>
            <a:pPr>
              <a:spcAft>
                <a:spcPts val="600"/>
              </a:spcAft>
            </a:pPr>
            <a:r>
              <a:rPr lang="en-US" altLang="zh-CN" dirty="0"/>
              <a:t>• </a:t>
            </a:r>
            <a:r>
              <a:rPr lang="zh-CN" altLang="en-US" dirty="0"/>
              <a:t>将多个弱模型组合成强模型</a:t>
            </a:r>
          </a:p>
          <a:p>
            <a:pPr>
              <a:spcAft>
                <a:spcPts val="600"/>
              </a:spcAft>
            </a:pPr>
            <a:r>
              <a:rPr lang="en-US" altLang="zh-CN" dirty="0"/>
              <a:t>• </a:t>
            </a:r>
            <a:r>
              <a:rPr lang="zh-CN" altLang="en-US" dirty="0"/>
              <a:t>主要降低偏差（</a:t>
            </a:r>
            <a:r>
              <a:rPr lang="en-US" altLang="zh-CN" dirty="0"/>
              <a:t>Bias</a:t>
            </a:r>
            <a:r>
              <a:rPr lang="zh-CN" altLang="en-US" dirty="0"/>
              <a:t>）</a:t>
            </a:r>
          </a:p>
          <a:p>
            <a:pPr>
              <a:spcAft>
                <a:spcPts val="600"/>
              </a:spcAft>
            </a:pPr>
            <a:r>
              <a:rPr lang="en-US" altLang="zh-CN" dirty="0"/>
              <a:t>• </a:t>
            </a:r>
            <a:r>
              <a:rPr lang="zh-CN" altLang="en-US" dirty="0"/>
              <a:t>模型按顺序依次训练，后一个模型纠正前一个模型的错误</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610608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94813" y="642938"/>
            <a:ext cx="3086100" cy="1736725"/>
          </a:xfrm>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采样出</a:t>
            </a:r>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个含</a:t>
            </a:r>
            <a:r>
              <a:rPr lang="en-US" altLang="zh-CN" sz="1200" b="0" i="0" kern="1200" dirty="0">
                <a:solidFill>
                  <a:schemeClr val="tx1"/>
                </a:solidFill>
                <a:effectLst/>
                <a:latin typeface="+mn-lt"/>
                <a:ea typeface="+mn-ea"/>
                <a:cs typeface="+mn-cs"/>
              </a:rPr>
              <a:t>m</a:t>
            </a:r>
            <a:r>
              <a:rPr lang="zh-CN" altLang="en-US" sz="1200" b="0" i="0" kern="1200" dirty="0">
                <a:solidFill>
                  <a:schemeClr val="tx1"/>
                </a:solidFill>
                <a:effectLst/>
                <a:latin typeface="+mn-lt"/>
                <a:ea typeface="+mn-ea"/>
                <a:cs typeface="+mn-cs"/>
              </a:rPr>
              <a:t>个训练样本的采样集，然后基于每个采样集训练出一个基学习器，然后将这些基学习器进行结合。在对预测输出进行结合时，</a:t>
            </a:r>
            <a:r>
              <a:rPr lang="en-US" altLang="zh-CN" sz="1200" b="0" i="0" kern="1200" dirty="0">
                <a:solidFill>
                  <a:schemeClr val="tx1"/>
                </a:solidFill>
                <a:effectLst/>
                <a:latin typeface="+mn-lt"/>
                <a:ea typeface="+mn-ea"/>
                <a:cs typeface="+mn-cs"/>
              </a:rPr>
              <a:t>Bagging</a:t>
            </a:r>
            <a:r>
              <a:rPr lang="zh-CN" altLang="en-US" sz="1200" b="0" i="0" kern="1200" dirty="0">
                <a:solidFill>
                  <a:schemeClr val="tx1"/>
                </a:solidFill>
                <a:effectLst/>
                <a:latin typeface="+mn-lt"/>
                <a:ea typeface="+mn-ea"/>
                <a:cs typeface="+mn-cs"/>
              </a:rPr>
              <a:t>通常对分类任务使用简单投票法，对回归任务使用简单平均法，这就是</a:t>
            </a:r>
            <a:r>
              <a:rPr lang="en-US" altLang="zh-CN" sz="1200" b="0" i="0" kern="1200" dirty="0">
                <a:solidFill>
                  <a:schemeClr val="tx1"/>
                </a:solidFill>
                <a:effectLst/>
                <a:latin typeface="+mn-lt"/>
                <a:ea typeface="+mn-ea"/>
                <a:cs typeface="+mn-cs"/>
              </a:rPr>
              <a:t>Bagging</a:t>
            </a:r>
            <a:r>
              <a:rPr lang="zh-CN" altLang="en-US" sz="1200" b="0" i="0" kern="1200" dirty="0">
                <a:solidFill>
                  <a:schemeClr val="tx1"/>
                </a:solidFill>
                <a:effectLst/>
                <a:latin typeface="+mn-lt"/>
                <a:ea typeface="+mn-ea"/>
                <a:cs typeface="+mn-cs"/>
              </a:rPr>
              <a:t>的基本流程。</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156676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94813" y="642938"/>
            <a:ext cx="3086100" cy="1736725"/>
          </a:xfrm>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先从初始训练集训练出一个基学习器，再根据基学习器的表现对训练样本分布进行调整，提高被错误分类的样本的权重，降低被正确分类的样本的权重，使得先前基学习器做错的训练样本在后续受到更多的关注，然后基于调整后的样本分布来训练下一个基学习器；如此重复进行，直至基学习器数目达到事先指定的值</a:t>
            </a:r>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，最后将这</a:t>
            </a:r>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个基学习器进行加权结合。</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1889456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94813" y="642938"/>
            <a:ext cx="3086100"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所谓袋外数据是指，每次建立决策树时，通过重复抽样得到一个数据用于训练决策树，这时还有大约</a:t>
            </a:r>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1/3</a:t>
            </a:r>
            <a:r>
              <a:rPr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的数据没有被利用，没有参与决策树的建立。这部分数据可以用于对决策树的性能进行评估，计算模型的预测错误率，称为袋外数据误差。</a:t>
            </a:r>
            <a:b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这已经经过证明是无偏估计的</a:t>
            </a:r>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所以在随机森林算法中不需要再进行交叉验证或者单独的测试集来获取测试集误差的无偏估计。</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3081261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2F24C-BFF6-11DA-E77D-50F4BADD8F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5CCC5B-5B8E-7145-F30D-87AFC3CB97AD}"/>
              </a:ext>
            </a:extLst>
          </p:cNvPr>
          <p:cNvSpPr>
            <a:spLocks noGrp="1" noRot="1" noChangeAspect="1"/>
          </p:cNvSpPr>
          <p:nvPr>
            <p:ph type="sldImg"/>
          </p:nvPr>
        </p:nvSpPr>
        <p:spPr>
          <a:xfrm>
            <a:off x="9294813" y="642938"/>
            <a:ext cx="3086100" cy="1736725"/>
          </a:xfrm>
        </p:spPr>
      </p:sp>
      <p:sp>
        <p:nvSpPr>
          <p:cNvPr id="3" name="备注占位符 2">
            <a:extLst>
              <a:ext uri="{FF2B5EF4-FFF2-40B4-BE49-F238E27FC236}">
                <a16:creationId xmlns:a16="http://schemas.microsoft.com/office/drawing/2014/main" id="{69CD2D23-C952-1FBD-6D4D-B845A70E025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BF780B6-3B20-E561-013E-CC69180E330C}"/>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3052659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930D1-72E0-C55E-E00A-A989A6E0E7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56A0AC-829E-D8D6-6A4F-A1BE2576E65A}"/>
              </a:ext>
            </a:extLst>
          </p:cNvPr>
          <p:cNvSpPr>
            <a:spLocks noGrp="1" noRot="1" noChangeAspect="1"/>
          </p:cNvSpPr>
          <p:nvPr>
            <p:ph type="sldImg"/>
          </p:nvPr>
        </p:nvSpPr>
        <p:spPr>
          <a:xfrm>
            <a:off x="9294813" y="642938"/>
            <a:ext cx="3086100" cy="1736725"/>
          </a:xfrm>
        </p:spPr>
      </p:sp>
      <p:sp>
        <p:nvSpPr>
          <p:cNvPr id="3" name="备注占位符 2">
            <a:extLst>
              <a:ext uri="{FF2B5EF4-FFF2-40B4-BE49-F238E27FC236}">
                <a16:creationId xmlns:a16="http://schemas.microsoft.com/office/drawing/2014/main" id="{3C514091-CCDA-F719-A397-5F41E75E278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5CF11D5-6E8F-9724-B08F-703A53C9B6EB}"/>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6793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5706-85EE-217B-16E7-56BD961198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07773A-DA96-419B-6C94-F2016CC5F557}"/>
              </a:ext>
            </a:extLst>
          </p:cNvPr>
          <p:cNvSpPr>
            <a:spLocks noGrp="1" noRot="1" noChangeAspect="1"/>
          </p:cNvSpPr>
          <p:nvPr>
            <p:ph type="sldImg"/>
          </p:nvPr>
        </p:nvSpPr>
        <p:spPr>
          <a:xfrm>
            <a:off x="9294813" y="642938"/>
            <a:ext cx="3086100" cy="1736725"/>
          </a:xfrm>
        </p:spPr>
      </p:sp>
      <p:sp>
        <p:nvSpPr>
          <p:cNvPr id="3" name="备注占位符 2">
            <a:extLst>
              <a:ext uri="{FF2B5EF4-FFF2-40B4-BE49-F238E27FC236}">
                <a16:creationId xmlns:a16="http://schemas.microsoft.com/office/drawing/2014/main" id="{22DFD09D-F557-86D9-6A88-F2E448B0FF10}"/>
              </a:ext>
            </a:extLst>
          </p:cNvPr>
          <p:cNvSpPr>
            <a:spLocks noGrp="1"/>
          </p:cNvSpPr>
          <p:nvPr>
            <p:ph type="body" idx="1"/>
          </p:nvPr>
        </p:nvSpPr>
        <p:spPr/>
        <p: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这个数值之所以能够说明特征的重要性是因为，</a:t>
            </a:r>
            <a:endParaRPr lang="zh-CN" altLang="en-US" dirty="0"/>
          </a:p>
        </p:txBody>
      </p:sp>
      <p:sp>
        <p:nvSpPr>
          <p:cNvPr id="4" name="灯片编号占位符 3">
            <a:extLst>
              <a:ext uri="{FF2B5EF4-FFF2-40B4-BE49-F238E27FC236}">
                <a16:creationId xmlns:a16="http://schemas.microsoft.com/office/drawing/2014/main" id="{8A82DBB8-A496-C448-DF84-6DCE2DAD0D4D}"/>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2938008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3C719-580B-F018-757A-060B170B9B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38EE2C-3D40-8347-239B-6E2A9EFAFDA4}"/>
              </a:ext>
            </a:extLst>
          </p:cNvPr>
          <p:cNvSpPr>
            <a:spLocks noGrp="1" noRot="1" noChangeAspect="1"/>
          </p:cNvSpPr>
          <p:nvPr>
            <p:ph type="sldImg"/>
          </p:nvPr>
        </p:nvSpPr>
        <p:spPr>
          <a:xfrm>
            <a:off x="9294813" y="642938"/>
            <a:ext cx="3086100" cy="1736725"/>
          </a:xfrm>
        </p:spPr>
      </p:sp>
      <p:sp>
        <p:nvSpPr>
          <p:cNvPr id="3" name="备注占位符 2">
            <a:extLst>
              <a:ext uri="{FF2B5EF4-FFF2-40B4-BE49-F238E27FC236}">
                <a16:creationId xmlns:a16="http://schemas.microsoft.com/office/drawing/2014/main" id="{3A491415-255E-21FB-C66C-45A8F5C7DE2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0C88710-ADDB-57FE-A547-E40F355786CF}"/>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2641592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0508E-DB89-88B4-5805-2BBAE196A5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3D0BB3-9520-B1AA-0B0F-9A8ABB4E09AD}"/>
              </a:ext>
            </a:extLst>
          </p:cNvPr>
          <p:cNvSpPr>
            <a:spLocks noGrp="1" noRot="1" noChangeAspect="1"/>
          </p:cNvSpPr>
          <p:nvPr>
            <p:ph type="sldImg"/>
          </p:nvPr>
        </p:nvSpPr>
        <p:spPr>
          <a:xfrm>
            <a:off x="9294813" y="642938"/>
            <a:ext cx="3086100" cy="1736725"/>
          </a:xfrm>
        </p:spPr>
      </p:sp>
      <p:sp>
        <p:nvSpPr>
          <p:cNvPr id="3" name="备注占位符 2">
            <a:extLst>
              <a:ext uri="{FF2B5EF4-FFF2-40B4-BE49-F238E27FC236}">
                <a16:creationId xmlns:a16="http://schemas.microsoft.com/office/drawing/2014/main" id="{1190D4B5-8EB1-0FB9-CEDC-FE38C699935C}"/>
              </a:ext>
            </a:extLst>
          </p:cNvPr>
          <p:cNvSpPr>
            <a:spLocks noGrp="1"/>
          </p:cNvSpPr>
          <p:nvPr>
            <p:ph type="body" idx="1"/>
          </p:nvPr>
        </p:nvSpPr>
        <p:spPr/>
        <p:txBody>
          <a:bodyPr/>
          <a:lstStyle/>
          <a:p>
            <a:r>
              <a:rPr lang="zh-CN" altLang="en-US" b="1" dirty="0"/>
              <a:t>横轴（</a:t>
            </a:r>
            <a:r>
              <a:rPr lang="en-US" altLang="zh-CN" b="1" dirty="0" err="1"/>
              <a:t>mean_min_depth</a:t>
            </a:r>
            <a:r>
              <a:rPr lang="zh-CN" altLang="en-US" b="1" dirty="0"/>
              <a:t>）</a:t>
            </a:r>
            <a:r>
              <a:rPr lang="zh-CN" altLang="en-US" dirty="0"/>
              <a:t>：</a:t>
            </a:r>
            <a:br>
              <a:rPr lang="zh-CN" altLang="en-US" dirty="0"/>
            </a:br>
            <a:r>
              <a:rPr lang="zh-CN" altLang="en-US" dirty="0"/>
              <a:t>表示某个变量在所有树中的</a:t>
            </a:r>
            <a:r>
              <a:rPr lang="zh-CN" altLang="en-US" b="1" dirty="0"/>
              <a:t>平均最小分裂深度</a:t>
            </a:r>
            <a:r>
              <a:rPr lang="zh-CN" altLang="en-US" dirty="0"/>
              <a:t>。</a:t>
            </a:r>
            <a:br>
              <a:rPr lang="zh-CN" altLang="en-US" dirty="0"/>
            </a:br>
            <a:r>
              <a:rPr lang="zh-CN" altLang="en-US" dirty="0"/>
              <a:t>➤ 值越小，说明变量越靠近树根部（即越早被用来分裂），代表其</a:t>
            </a:r>
            <a:r>
              <a:rPr lang="zh-CN" altLang="en-US" b="1" dirty="0"/>
              <a:t>越重要</a:t>
            </a:r>
            <a:r>
              <a:rPr lang="zh-CN" altLang="en-US" dirty="0"/>
              <a:t>。</a:t>
            </a:r>
          </a:p>
          <a:p>
            <a:r>
              <a:rPr lang="zh-CN" altLang="en-US" b="1" dirty="0"/>
              <a:t>纵轴（</a:t>
            </a:r>
            <a:r>
              <a:rPr lang="en-US" altLang="zh-CN" b="1" dirty="0" err="1"/>
              <a:t>times_a_root</a:t>
            </a:r>
            <a:r>
              <a:rPr lang="zh-CN" altLang="en-US" b="1" dirty="0"/>
              <a:t>）</a:t>
            </a:r>
            <a:r>
              <a:rPr lang="zh-CN" altLang="en-US" dirty="0"/>
              <a:t>：</a:t>
            </a:r>
            <a:br>
              <a:rPr lang="zh-CN" altLang="en-US" dirty="0"/>
            </a:br>
            <a:r>
              <a:rPr lang="zh-CN" altLang="en-US" dirty="0"/>
              <a:t>表示该变量在所有树中作为</a:t>
            </a:r>
            <a:r>
              <a:rPr lang="zh-CN" altLang="en-US" b="1" dirty="0"/>
              <a:t>根节点变量的次数</a:t>
            </a:r>
            <a:r>
              <a:rPr lang="zh-CN" altLang="en-US" dirty="0"/>
              <a:t>。</a:t>
            </a:r>
            <a:br>
              <a:rPr lang="zh-CN" altLang="en-US" dirty="0"/>
            </a:br>
            <a:r>
              <a:rPr lang="zh-CN" altLang="en-US" dirty="0"/>
              <a:t>➤ 值越大，说明变量经常被选为树的起始分裂点，也说明其</a:t>
            </a:r>
            <a:r>
              <a:rPr lang="zh-CN" altLang="en-US" b="1" dirty="0"/>
              <a:t>重要性较高</a:t>
            </a:r>
            <a:r>
              <a:rPr lang="zh-CN" altLang="en-US" dirty="0"/>
              <a:t>。</a:t>
            </a:r>
          </a:p>
        </p:txBody>
      </p:sp>
      <p:sp>
        <p:nvSpPr>
          <p:cNvPr id="4" name="灯片编号占位符 3">
            <a:extLst>
              <a:ext uri="{FF2B5EF4-FFF2-40B4-BE49-F238E27FC236}">
                <a16:creationId xmlns:a16="http://schemas.microsoft.com/office/drawing/2014/main" id="{18D319F4-0B36-751D-E83C-2F451BA30541}"/>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2849921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5846C-2A0A-E424-46B0-9ACCEE2E03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949F78-B8C8-0147-B54E-758434C3305D}"/>
              </a:ext>
            </a:extLst>
          </p:cNvPr>
          <p:cNvSpPr>
            <a:spLocks noGrp="1" noRot="1" noChangeAspect="1"/>
          </p:cNvSpPr>
          <p:nvPr>
            <p:ph type="sldImg"/>
          </p:nvPr>
        </p:nvSpPr>
        <p:spPr>
          <a:xfrm>
            <a:off x="9294813" y="642938"/>
            <a:ext cx="3086100" cy="1736725"/>
          </a:xfrm>
        </p:spPr>
      </p:sp>
      <p:sp>
        <p:nvSpPr>
          <p:cNvPr id="3" name="备注占位符 2">
            <a:extLst>
              <a:ext uri="{FF2B5EF4-FFF2-40B4-BE49-F238E27FC236}">
                <a16:creationId xmlns:a16="http://schemas.microsoft.com/office/drawing/2014/main" id="{FF19F7F2-E2C3-C817-B827-653B7C889D8A}"/>
              </a:ext>
            </a:extLst>
          </p:cNvPr>
          <p:cNvSpPr>
            <a:spLocks noGrp="1"/>
          </p:cNvSpPr>
          <p:nvPr>
            <p:ph type="body" idx="1"/>
          </p:nvPr>
        </p:nvSpPr>
        <p:spPr/>
        <p:txBody>
          <a:bodyPr/>
          <a:lstStyle/>
          <a:p>
            <a:r>
              <a:rPr lang="zh-CN" altLang="en-US" b="1" dirty="0"/>
              <a:t>横轴（</a:t>
            </a:r>
            <a:r>
              <a:rPr lang="en-US" altLang="zh-CN" b="1" dirty="0" err="1"/>
              <a:t>mean_min_depth</a:t>
            </a:r>
            <a:r>
              <a:rPr lang="zh-CN" altLang="en-US" b="1" dirty="0"/>
              <a:t>）</a:t>
            </a:r>
            <a:r>
              <a:rPr lang="zh-CN" altLang="en-US" dirty="0"/>
              <a:t>：</a:t>
            </a:r>
            <a:br>
              <a:rPr lang="zh-CN" altLang="en-US" dirty="0"/>
            </a:br>
            <a:r>
              <a:rPr lang="zh-CN" altLang="en-US" dirty="0"/>
              <a:t>表示某个变量在所有树中的</a:t>
            </a:r>
            <a:r>
              <a:rPr lang="zh-CN" altLang="en-US" b="1" dirty="0"/>
              <a:t>平均最小分裂深度</a:t>
            </a:r>
            <a:r>
              <a:rPr lang="zh-CN" altLang="en-US" dirty="0"/>
              <a:t>。</a:t>
            </a:r>
            <a:br>
              <a:rPr lang="zh-CN" altLang="en-US" dirty="0"/>
            </a:br>
            <a:r>
              <a:rPr lang="zh-CN" altLang="en-US" dirty="0"/>
              <a:t>➤ 值越小，说明变量越靠近树根部（即越早被用来分裂），代表其</a:t>
            </a:r>
            <a:r>
              <a:rPr lang="zh-CN" altLang="en-US" b="1" dirty="0"/>
              <a:t>越重要</a:t>
            </a:r>
            <a:r>
              <a:rPr lang="zh-CN" altLang="en-US" dirty="0"/>
              <a:t>。</a:t>
            </a:r>
          </a:p>
          <a:p>
            <a:r>
              <a:rPr lang="zh-CN" altLang="en-US" b="1" dirty="0"/>
              <a:t>纵轴（</a:t>
            </a:r>
            <a:r>
              <a:rPr lang="en-US" altLang="zh-CN" b="1" dirty="0" err="1"/>
              <a:t>times_a_root</a:t>
            </a:r>
            <a:r>
              <a:rPr lang="zh-CN" altLang="en-US" b="1" dirty="0"/>
              <a:t>）</a:t>
            </a:r>
            <a:r>
              <a:rPr lang="zh-CN" altLang="en-US" dirty="0"/>
              <a:t>：</a:t>
            </a:r>
            <a:br>
              <a:rPr lang="zh-CN" altLang="en-US" dirty="0"/>
            </a:br>
            <a:r>
              <a:rPr lang="zh-CN" altLang="en-US" dirty="0"/>
              <a:t>表示该变量在所有树中作为</a:t>
            </a:r>
            <a:r>
              <a:rPr lang="zh-CN" altLang="en-US" b="1" dirty="0"/>
              <a:t>根节点变量的次数</a:t>
            </a:r>
            <a:r>
              <a:rPr lang="zh-CN" altLang="en-US" dirty="0"/>
              <a:t>。</a:t>
            </a:r>
            <a:br>
              <a:rPr lang="zh-CN" altLang="en-US" dirty="0"/>
            </a:br>
            <a:r>
              <a:rPr lang="zh-CN" altLang="en-US" dirty="0"/>
              <a:t>➤ 值越大，说明变量经常被选为树的起始分裂点，也说明其</a:t>
            </a:r>
            <a:r>
              <a:rPr lang="zh-CN" altLang="en-US" b="1" dirty="0"/>
              <a:t>重要性较高</a:t>
            </a:r>
            <a:r>
              <a:rPr lang="zh-CN" altLang="en-US" dirty="0"/>
              <a:t>。</a:t>
            </a:r>
          </a:p>
        </p:txBody>
      </p:sp>
      <p:sp>
        <p:nvSpPr>
          <p:cNvPr id="4" name="灯片编号占位符 3">
            <a:extLst>
              <a:ext uri="{FF2B5EF4-FFF2-40B4-BE49-F238E27FC236}">
                <a16:creationId xmlns:a16="http://schemas.microsoft.com/office/drawing/2014/main" id="{13782C29-0197-8C69-D9A8-A36C8D2E6398}"/>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38155921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94813" y="642938"/>
            <a:ext cx="3086100" cy="1736725"/>
          </a:xfrm>
        </p:spPr>
      </p:sp>
      <p:sp>
        <p:nvSpPr>
          <p:cNvPr id="3" name="备注占位符 2"/>
          <p:cNvSpPr>
            <a:spLocks noGrp="1"/>
          </p:cNvSpPr>
          <p:nvPr>
            <p:ph type="body" idx="1"/>
          </p:nvPr>
        </p:nvSpPr>
        <p:spPr/>
        <p:txBody>
          <a:bodyPr/>
          <a:lstStyle/>
          <a:p>
            <a:r>
              <a:rPr lang="zh-CN" altLang="en-US" b="1" dirty="0"/>
              <a:t>横轴（</a:t>
            </a:r>
            <a:r>
              <a:rPr lang="en-US" altLang="zh-CN" b="1" dirty="0" err="1"/>
              <a:t>mean_min_depth</a:t>
            </a:r>
            <a:r>
              <a:rPr lang="zh-CN" altLang="en-US" b="1" dirty="0"/>
              <a:t>）</a:t>
            </a:r>
            <a:r>
              <a:rPr lang="zh-CN" altLang="en-US" dirty="0"/>
              <a:t>：</a:t>
            </a:r>
            <a:br>
              <a:rPr lang="zh-CN" altLang="en-US" dirty="0"/>
            </a:br>
            <a:r>
              <a:rPr lang="zh-CN" altLang="en-US" dirty="0"/>
              <a:t>表示某个变量在所有树中的</a:t>
            </a:r>
            <a:r>
              <a:rPr lang="zh-CN" altLang="en-US" b="1" dirty="0"/>
              <a:t>平均最小分裂深度</a:t>
            </a:r>
            <a:r>
              <a:rPr lang="zh-CN" altLang="en-US" dirty="0"/>
              <a:t>。</a:t>
            </a:r>
            <a:br>
              <a:rPr lang="zh-CN" altLang="en-US" dirty="0"/>
            </a:br>
            <a:r>
              <a:rPr lang="zh-CN" altLang="en-US" dirty="0"/>
              <a:t>➤ 值越小，说明变量越靠近树根部（即越早被用来分裂），代表其</a:t>
            </a:r>
            <a:r>
              <a:rPr lang="zh-CN" altLang="en-US" b="1" dirty="0"/>
              <a:t>越重要</a:t>
            </a:r>
            <a:r>
              <a:rPr lang="zh-CN" altLang="en-US" dirty="0"/>
              <a:t>。</a:t>
            </a:r>
          </a:p>
          <a:p>
            <a:r>
              <a:rPr lang="zh-CN" altLang="en-US" b="1" dirty="0"/>
              <a:t>纵轴（</a:t>
            </a:r>
            <a:r>
              <a:rPr lang="en-US" altLang="zh-CN" b="1" dirty="0" err="1"/>
              <a:t>times_a_root</a:t>
            </a:r>
            <a:r>
              <a:rPr lang="zh-CN" altLang="en-US" b="1" dirty="0"/>
              <a:t>）</a:t>
            </a:r>
            <a:r>
              <a:rPr lang="zh-CN" altLang="en-US" dirty="0"/>
              <a:t>：</a:t>
            </a:r>
            <a:br>
              <a:rPr lang="zh-CN" altLang="en-US" dirty="0"/>
            </a:br>
            <a:r>
              <a:rPr lang="zh-CN" altLang="en-US" dirty="0"/>
              <a:t>表示该变量在所有树中作为</a:t>
            </a:r>
            <a:r>
              <a:rPr lang="zh-CN" altLang="en-US" b="1" dirty="0"/>
              <a:t>根节点变量的次数</a:t>
            </a:r>
            <a:r>
              <a:rPr lang="zh-CN" altLang="en-US" dirty="0"/>
              <a:t>。</a:t>
            </a:r>
            <a:br>
              <a:rPr lang="zh-CN" altLang="en-US" dirty="0"/>
            </a:br>
            <a:r>
              <a:rPr lang="zh-CN" altLang="en-US" dirty="0"/>
              <a:t>➤ 值越大，说明变量经常被选为树的起始分裂点，也说明其</a:t>
            </a:r>
            <a:r>
              <a:rPr lang="zh-CN" altLang="en-US" b="1" dirty="0"/>
              <a:t>重要性较高</a:t>
            </a:r>
            <a:r>
              <a:rPr lang="zh-CN" altLang="en-US" dirty="0"/>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4164114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1130775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94813" y="642938"/>
            <a:ext cx="3086100" cy="173672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6265E5E-3078-4BFF-ACDF-4DF89B4A01A0}" type="slidenum">
              <a:rPr lang="zh-CN" altLang="en-US" smtClean="0"/>
              <a:t>21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0348A4A-F9CD-4C01-946A-2CCCC9F443B2}" type="datetime1">
              <a:rPr lang="en-US" altLang="zh-CN" smtClean="0"/>
              <a:t>10/10/2025</a:t>
            </a:fld>
            <a:endParaRPr lang="en-US"/>
          </a:p>
        </p:txBody>
      </p:sp>
      <p:sp>
        <p:nvSpPr>
          <p:cNvPr id="6" name="Holder 6"/>
          <p:cNvSpPr>
            <a:spLocks noGrp="1"/>
          </p:cNvSpPr>
          <p:nvPr>
            <p:ph type="sldNum" sz="quarter" idx="7"/>
          </p:nvPr>
        </p:nvSpPr>
        <p:spPr>
          <a:xfrm>
            <a:off x="10625276" y="6453264"/>
            <a:ext cx="804724" cy="307777"/>
          </a:xfrm>
        </p:spPr>
        <p:txBody>
          <a:bodyPr lIns="0" tIns="0" rIns="0" bIns="0"/>
          <a:lstStyle>
            <a:lvl1pPr>
              <a:defRPr sz="2000" b="1" i="0">
                <a:solidFill>
                  <a:srgbClr val="514A40"/>
                </a:solidFill>
                <a:latin typeface="Cambria" panose="02040503050406030204"/>
                <a:cs typeface="Cambria" panose="02040503050406030204"/>
              </a:defRPr>
            </a:lvl1pPr>
          </a:lstStyle>
          <a:p>
            <a:pPr marL="38100">
              <a:spcBef>
                <a:spcPts val="45"/>
              </a:spcBef>
            </a:pPr>
            <a:fld id="{81D60167-4931-47E6-BA6A-407CBD079E47}" type="slidenum">
              <a:rPr lang="en-US" altLang="zh-CN" spc="-5" smtClean="0"/>
              <a:pPr marL="38100">
                <a:spcBef>
                  <a:spcPts val="45"/>
                </a:spcBef>
              </a:pPr>
              <a:t>‹#›</a:t>
            </a:fld>
            <a:endParaRPr lang="en-US" altLang="zh-CN"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50" b="1" i="0">
                <a:solidFill>
                  <a:schemeClr val="bg1"/>
                </a:solidFill>
                <a:latin typeface="SimSun" panose="02010600030101010101" pitchFamily="2" charset="-122"/>
                <a:cs typeface="SimSun" panose="02010600030101010101" pitchFamily="2" charset="-122"/>
              </a:defRPr>
            </a:lvl1pPr>
          </a:lstStyle>
          <a:p>
            <a:endParaRPr/>
          </a:p>
        </p:txBody>
      </p:sp>
      <p:sp>
        <p:nvSpPr>
          <p:cNvPr id="3" name="Holder 3"/>
          <p:cNvSpPr>
            <a:spLocks noGrp="1"/>
          </p:cNvSpPr>
          <p:nvPr>
            <p:ph type="body" idx="1"/>
          </p:nvPr>
        </p:nvSpPr>
        <p:spPr/>
        <p:txBody>
          <a:bodyPr lIns="0" tIns="0" rIns="0" bIns="0"/>
          <a:lstStyle>
            <a:lvl1pPr>
              <a:defRPr sz="2300" b="1" i="0">
                <a:solidFill>
                  <a:schemeClr val="tx1"/>
                </a:solidFill>
                <a:latin typeface="SimSun" panose="02010600030101010101" pitchFamily="2" charset="-122"/>
                <a:cs typeface="SimSun" panose="02010600030101010101" pitchFamily="2" charset="-122"/>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90C3B23-CF71-4261-9781-986BA6C334DD}" type="datetime1">
              <a:rPr lang="en-US" altLang="zh-CN" smtClean="0"/>
              <a:t>10/10/2025</a:t>
            </a:fld>
            <a:endParaRPr lang="en-US"/>
          </a:p>
        </p:txBody>
      </p:sp>
      <p:sp>
        <p:nvSpPr>
          <p:cNvPr id="6" name="Holder 6"/>
          <p:cNvSpPr>
            <a:spLocks noGrp="1"/>
          </p:cNvSpPr>
          <p:nvPr>
            <p:ph type="sldNum" sz="quarter" idx="7"/>
          </p:nvPr>
        </p:nvSpPr>
        <p:spPr/>
        <p:txBody>
          <a:bodyPr lIns="0" tIns="0" rIns="0" bIns="0"/>
          <a:lstStyle>
            <a:lvl1pPr>
              <a:defRPr sz="2000" b="1" i="0">
                <a:solidFill>
                  <a:srgbClr val="514A40"/>
                </a:solidFill>
                <a:latin typeface="Cambria" panose="02040503050406030204"/>
                <a:cs typeface="Cambria" panose="02040503050406030204"/>
              </a:defRPr>
            </a:lvl1pPr>
          </a:lstStyle>
          <a:p>
            <a:pPr marL="38100">
              <a:spcBef>
                <a:spcPts val="45"/>
              </a:spcBef>
            </a:pPr>
            <a:fld id="{81D60167-4931-47E6-BA6A-407CBD079E47}" type="slidenum">
              <a:rPr lang="en-US" altLang="zh-CN" spc="-5" smtClean="0"/>
              <a:pPr marL="38100">
                <a:spcBef>
                  <a:spcPts val="45"/>
                </a:spcBef>
              </a:pPr>
              <a:t>‹#›</a:t>
            </a:fld>
            <a:endParaRPr lang="en-US" altLang="zh-CN"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50" b="1" i="0">
                <a:solidFill>
                  <a:schemeClr val="bg1"/>
                </a:solidFill>
                <a:latin typeface="SimSun" panose="02010600030101010101" pitchFamily="2" charset="-122"/>
                <a:cs typeface="SimSun" panose="02010600030101010101" pitchFamily="2" charset="-122"/>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C86CD487-E2B2-4E8B-8070-0F31549F4F99}" type="datetime1">
              <a:rPr lang="en-US" altLang="zh-CN" smtClean="0"/>
              <a:t>10/10/2025</a:t>
            </a:fld>
            <a:endParaRPr lang="en-US"/>
          </a:p>
        </p:txBody>
      </p:sp>
      <p:sp>
        <p:nvSpPr>
          <p:cNvPr id="7" name="Holder 7"/>
          <p:cNvSpPr>
            <a:spLocks noGrp="1"/>
          </p:cNvSpPr>
          <p:nvPr>
            <p:ph type="sldNum" sz="quarter" idx="7"/>
          </p:nvPr>
        </p:nvSpPr>
        <p:spPr/>
        <p:txBody>
          <a:bodyPr lIns="0" tIns="0" rIns="0" bIns="0"/>
          <a:lstStyle>
            <a:lvl1pPr>
              <a:defRPr sz="2000" b="1" i="0">
                <a:solidFill>
                  <a:srgbClr val="514A40"/>
                </a:solidFill>
                <a:latin typeface="Cambria" panose="02040503050406030204"/>
                <a:cs typeface="Cambria" panose="02040503050406030204"/>
              </a:defRPr>
            </a:lvl1pPr>
          </a:lstStyle>
          <a:p>
            <a:pPr marL="38100">
              <a:spcBef>
                <a:spcPts val="45"/>
              </a:spcBef>
            </a:pPr>
            <a:fld id="{81D60167-4931-47E6-BA6A-407CBD079E47}" type="slidenum">
              <a:rPr lang="en-US" altLang="zh-CN" spc="-5" smtClean="0"/>
              <a:pPr marL="38100">
                <a:spcBef>
                  <a:spcPts val="45"/>
                </a:spcBef>
              </a:pPr>
              <a:t>‹#›</a:t>
            </a:fld>
            <a:endParaRPr lang="en-US" altLang="zh-CN"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 name="Holder 2"/>
          <p:cNvSpPr>
            <a:spLocks noGrp="1"/>
          </p:cNvSpPr>
          <p:nvPr>
            <p:ph type="title"/>
          </p:nvPr>
        </p:nvSpPr>
        <p:spPr/>
        <p:txBody>
          <a:bodyPr lIns="0" tIns="0" rIns="0" bIns="0"/>
          <a:lstStyle>
            <a:lvl1pPr>
              <a:defRPr sz="2950" b="1" i="0">
                <a:solidFill>
                  <a:schemeClr val="bg1"/>
                </a:solidFill>
                <a:latin typeface="SimSun" panose="02010600030101010101" pitchFamily="2" charset="-122"/>
                <a:cs typeface="SimSun" panose="02010600030101010101" pitchFamily="2" charset="-122"/>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CFC0987-B437-4014-8445-36DDD162A75C}" type="datetime1">
              <a:rPr lang="en-US" altLang="zh-CN" smtClean="0"/>
              <a:t>10/10/2025</a:t>
            </a:fld>
            <a:endParaRPr lang="en-US"/>
          </a:p>
        </p:txBody>
      </p:sp>
      <p:sp>
        <p:nvSpPr>
          <p:cNvPr id="5" name="Holder 5"/>
          <p:cNvSpPr>
            <a:spLocks noGrp="1"/>
          </p:cNvSpPr>
          <p:nvPr>
            <p:ph type="sldNum" sz="quarter" idx="7"/>
          </p:nvPr>
        </p:nvSpPr>
        <p:spPr/>
        <p:txBody>
          <a:bodyPr lIns="0" tIns="0" rIns="0" bIns="0"/>
          <a:lstStyle>
            <a:lvl1pPr>
              <a:defRPr sz="2000" b="1" i="0">
                <a:solidFill>
                  <a:srgbClr val="514A40"/>
                </a:solidFill>
                <a:latin typeface="Cambria" panose="02040503050406030204"/>
                <a:cs typeface="Cambria" panose="02040503050406030204"/>
              </a:defRPr>
            </a:lvl1pPr>
          </a:lstStyle>
          <a:p>
            <a:pPr marL="38100">
              <a:spcBef>
                <a:spcPts val="45"/>
              </a:spcBef>
            </a:pPr>
            <a:fld id="{81D60167-4931-47E6-BA6A-407CBD079E47}" type="slidenum">
              <a:rPr lang="en-US" altLang="zh-CN" spc="-5" smtClean="0"/>
              <a:pPr marL="38100">
                <a:spcBef>
                  <a:spcPts val="45"/>
                </a:spcBef>
              </a:pPr>
              <a:t>‹#›</a:t>
            </a:fld>
            <a:endParaRPr lang="en-US" altLang="zh-CN"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22A85F46-8E67-46B8-AD13-08EBD43727A4}" type="datetime1">
              <a:rPr lang="en-US" altLang="zh-CN" smtClean="0"/>
              <a:t>10/10/2025</a:t>
            </a:fld>
            <a:endParaRPr lang="en-US"/>
          </a:p>
        </p:txBody>
      </p:sp>
      <p:sp>
        <p:nvSpPr>
          <p:cNvPr id="4" name="Holder 4"/>
          <p:cNvSpPr>
            <a:spLocks noGrp="1"/>
          </p:cNvSpPr>
          <p:nvPr>
            <p:ph type="sldNum" sz="quarter" idx="7"/>
          </p:nvPr>
        </p:nvSpPr>
        <p:spPr/>
        <p:txBody>
          <a:bodyPr lIns="0" tIns="0" rIns="0" bIns="0"/>
          <a:lstStyle>
            <a:lvl1pPr>
              <a:defRPr sz="2000" b="1" i="0">
                <a:solidFill>
                  <a:srgbClr val="514A40"/>
                </a:solidFill>
                <a:latin typeface="Cambria" panose="02040503050406030204"/>
                <a:cs typeface="Cambria" panose="02040503050406030204"/>
              </a:defRPr>
            </a:lvl1pPr>
          </a:lstStyle>
          <a:p>
            <a:pPr marL="38100">
              <a:spcBef>
                <a:spcPts val="45"/>
              </a:spcBef>
            </a:pPr>
            <a:fld id="{81D60167-4931-47E6-BA6A-407CBD079E47}" type="slidenum">
              <a:rPr lang="en-US" altLang="zh-CN" spc="-5" smtClean="0"/>
              <a:pPr marL="38100">
                <a:spcBef>
                  <a:spcPts val="45"/>
                </a:spcBef>
              </a:pPr>
              <a:t>‹#›</a:t>
            </a:fld>
            <a:endParaRPr lang="en-US" altLang="zh-CN" spc="-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407E55-CB4D-4E60-A244-EE8B97B13CC8}" type="datetime1">
              <a:rPr lang="en-US" altLang="zh-CN" smtClean="0"/>
              <a:t>10/10/2025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sz="1800">
                <a:latin typeface="微软雅黑" panose="020B0503020204020204" charset="-122"/>
                <a:ea typeface="微软雅黑" panose="020B0503020204020204" charset="-122"/>
                <a:cs typeface="微软雅黑" panose="020B0503020204020204" charset="-122"/>
              </a:defRPr>
            </a:lvl1pPr>
          </a:lstStyle>
          <a:p>
            <a:fld id="{565CE74E-AB26-4998-AD42-012C4C1AD076}"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p:txBody>
          <a:bodyPr/>
          <a:lstStyle>
            <a:lvl1pPr>
              <a:defRPr/>
            </a:lvl1pPr>
          </a:lstStyle>
          <a:p>
            <a:fld id="{0C41060A-B4F9-43A1-9C54-EEC2C3C9E745}" type="slidenum">
              <a:rPr lang="zh-CN" altLang="en-US">
                <a:solidFill>
                  <a:srgbClr val="003366"/>
                </a:solidFill>
              </a:rPr>
              <a:t>‹#›</a:t>
            </a:fld>
            <a:endParaRPr lang="en-US" altLang="zh-CN">
              <a:solidFill>
                <a:srgbClr val="003366"/>
              </a:solidFill>
            </a:endParaRPr>
          </a:p>
        </p:txBody>
      </p:sp>
    </p:spTree>
  </p:cSld>
  <p:clrMapOvr>
    <a:masterClrMapping/>
  </p:clrMapOvr>
  <p:transition spd="slow">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17" name="bg object 17"/>
          <p:cNvPicPr/>
          <p:nvPr/>
        </p:nvPicPr>
        <p:blipFill>
          <a:blip r:embed="rId10" cstate="print"/>
          <a:stretch>
            <a:fillRect/>
          </a:stretch>
        </p:blipFill>
        <p:spPr>
          <a:xfrm>
            <a:off x="1524" y="6256020"/>
            <a:ext cx="12188951" cy="109727"/>
          </a:xfrm>
          <a:prstGeom prst="rect">
            <a:avLst/>
          </a:prstGeom>
        </p:spPr>
      </p:pic>
      <p:sp>
        <p:nvSpPr>
          <p:cNvPr id="2" name="Holder 2"/>
          <p:cNvSpPr>
            <a:spLocks noGrp="1"/>
          </p:cNvSpPr>
          <p:nvPr>
            <p:ph type="title"/>
          </p:nvPr>
        </p:nvSpPr>
        <p:spPr>
          <a:xfrm>
            <a:off x="3096205" y="477205"/>
            <a:ext cx="5999588" cy="1005840"/>
          </a:xfrm>
          <a:prstGeom prst="rect">
            <a:avLst/>
          </a:prstGeom>
        </p:spPr>
        <p:txBody>
          <a:bodyPr wrap="square" lIns="0" tIns="0" rIns="0" bIns="0">
            <a:spAutoFit/>
          </a:bodyPr>
          <a:lstStyle>
            <a:lvl1pPr>
              <a:defRPr sz="2950" b="1" i="0">
                <a:solidFill>
                  <a:schemeClr val="bg1"/>
                </a:solidFill>
                <a:latin typeface="SimSun" panose="02010600030101010101" pitchFamily="2" charset="-122"/>
                <a:cs typeface="SimSun" panose="02010600030101010101" pitchFamily="2" charset="-122"/>
              </a:defRPr>
            </a:lvl1pPr>
          </a:lstStyle>
          <a:p>
            <a:endParaRPr/>
          </a:p>
        </p:txBody>
      </p:sp>
      <p:sp>
        <p:nvSpPr>
          <p:cNvPr id="3" name="Holder 3"/>
          <p:cNvSpPr>
            <a:spLocks noGrp="1"/>
          </p:cNvSpPr>
          <p:nvPr>
            <p:ph type="body" idx="1"/>
          </p:nvPr>
        </p:nvSpPr>
        <p:spPr>
          <a:xfrm>
            <a:off x="2841021" y="1224804"/>
            <a:ext cx="6453505" cy="2571750"/>
          </a:xfrm>
          <a:prstGeom prst="rect">
            <a:avLst/>
          </a:prstGeom>
        </p:spPr>
        <p:txBody>
          <a:bodyPr wrap="square" lIns="0" tIns="0" rIns="0" bIns="0">
            <a:spAutoFit/>
          </a:bodyPr>
          <a:lstStyle>
            <a:lvl1pPr>
              <a:defRPr sz="2300" b="1" i="0">
                <a:solidFill>
                  <a:schemeClr val="tx1"/>
                </a:solidFill>
                <a:latin typeface="SimSun" panose="02010600030101010101" pitchFamily="2" charset="-122"/>
                <a:cs typeface="SimSun" panose="02010600030101010101" pitchFamily="2" charset="-122"/>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5D426EFB-8F6A-4F48-8625-F778D4CB8899}" type="datetime1">
              <a:rPr lang="en-US" altLang="zh-CN" smtClean="0"/>
              <a:t>10/10/2025</a:t>
            </a:fld>
            <a:endParaRPr lang="en-US"/>
          </a:p>
        </p:txBody>
      </p:sp>
      <p:sp>
        <p:nvSpPr>
          <p:cNvPr id="6" name="Holder 6"/>
          <p:cNvSpPr>
            <a:spLocks noGrp="1"/>
          </p:cNvSpPr>
          <p:nvPr>
            <p:ph type="sldNum" sz="quarter" idx="7"/>
          </p:nvPr>
        </p:nvSpPr>
        <p:spPr>
          <a:xfrm>
            <a:off x="10625276" y="6453264"/>
            <a:ext cx="804724" cy="307777"/>
          </a:xfrm>
          <a:prstGeom prst="rect">
            <a:avLst/>
          </a:prstGeom>
        </p:spPr>
        <p:txBody>
          <a:bodyPr wrap="square" lIns="0" tIns="0" rIns="0" bIns="0">
            <a:spAutoFit/>
          </a:bodyPr>
          <a:lstStyle>
            <a:lvl1pPr>
              <a:defRPr sz="2000" b="1" i="0">
                <a:solidFill>
                  <a:srgbClr val="514A40"/>
                </a:solidFill>
                <a:latin typeface="Cambria" panose="02040503050406030204"/>
                <a:cs typeface="Cambria" panose="02040503050406030204"/>
              </a:defRPr>
            </a:lvl1pPr>
          </a:lstStyle>
          <a:p>
            <a:pPr marL="38100">
              <a:spcBef>
                <a:spcPts val="45"/>
              </a:spcBef>
            </a:pPr>
            <a:fld id="{81D60167-4931-47E6-BA6A-407CBD079E47}" type="slidenum">
              <a:rPr lang="en-US" altLang="zh-CN" spc="-5" smtClean="0"/>
              <a:pPr marL="38100">
                <a:spcBef>
                  <a:spcPts val="45"/>
                </a:spcBef>
              </a:pPr>
              <a:t>‹#›</a:t>
            </a:fld>
            <a:endParaRPr lang="en-US" altLang="zh-CN" spc="-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片包含 游戏机&#10;&#10;描述已自动生成"/>
          <p:cNvPicPr>
            <a:picLocks noChangeAspect="1"/>
          </p:cNvPicPr>
          <p:nvPr/>
        </p:nvPicPr>
        <p:blipFill rotWithShape="1">
          <a:blip r:embed="rId3">
            <a:extLst>
              <a:ext uri="{28A0092B-C50C-407E-A947-70E740481C1C}">
                <a14:useLocalDpi xmlns:a14="http://schemas.microsoft.com/office/drawing/2010/main" val="0"/>
              </a:ext>
            </a:extLst>
          </a:blip>
          <a:srcRect r="58849" b="60669"/>
          <a:stretch>
            <a:fillRect/>
          </a:stretch>
        </p:blipFill>
        <p:spPr>
          <a:xfrm>
            <a:off x="0" y="536121"/>
            <a:ext cx="4401879" cy="2366567"/>
          </a:xfrm>
          <a:prstGeom prst="rect">
            <a:avLst/>
          </a:prstGeom>
        </p:spPr>
      </p:pic>
      <p:pic>
        <p:nvPicPr>
          <p:cNvPr id="6" name="图片 5" descr="图片包含 看着, 女人, 房间, 食物&#10;&#10;描述已自动生成"/>
          <p:cNvPicPr>
            <a:picLocks noChangeAspect="1"/>
          </p:cNvPicPr>
          <p:nvPr/>
        </p:nvPicPr>
        <p:blipFill rotWithShape="1">
          <a:blip r:embed="rId4">
            <a:extLst>
              <a:ext uri="{28A0092B-C50C-407E-A947-70E740481C1C}">
                <a14:useLocalDpi xmlns:a14="http://schemas.microsoft.com/office/drawing/2010/main" val="0"/>
              </a:ext>
            </a:extLst>
          </a:blip>
          <a:srcRect t="30179" b="28461"/>
          <a:stretch>
            <a:fillRect/>
          </a:stretch>
        </p:blipFill>
        <p:spPr>
          <a:xfrm>
            <a:off x="0" y="1531999"/>
            <a:ext cx="12191999" cy="1287402"/>
          </a:xfrm>
          <a:prstGeom prst="rect">
            <a:avLst/>
          </a:prstGeom>
        </p:spPr>
      </p:pic>
      <p:sp>
        <p:nvSpPr>
          <p:cNvPr id="12" name="文本框 11"/>
          <p:cNvSpPr txBox="1"/>
          <p:nvPr/>
        </p:nvSpPr>
        <p:spPr>
          <a:xfrm>
            <a:off x="800099" y="1510501"/>
            <a:ext cx="10591800" cy="1069841"/>
          </a:xfrm>
          <a:prstGeom prst="rect">
            <a:avLst/>
          </a:prstGeom>
          <a:noFill/>
        </p:spPr>
        <p:txBody>
          <a:bodyPr wrap="square" lIns="91436" tIns="45718" rIns="91436" bIns="45718" rtlCol="0">
            <a:spAutoFit/>
          </a:bodyPr>
          <a:lstStyle/>
          <a:p>
            <a:pPr algn="ctr">
              <a:lnSpc>
                <a:spcPct val="150000"/>
              </a:lnSpc>
              <a:defRPr/>
            </a:pPr>
            <a:r>
              <a:rPr lang="zh-CN" altLang="en-US" sz="48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rPr>
              <a:t>随机森林</a:t>
            </a:r>
            <a:endParaRPr lang="en-US" altLang="zh-CN" sz="48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endParaRPr>
          </a:p>
        </p:txBody>
      </p:sp>
      <p:sp>
        <p:nvSpPr>
          <p:cNvPr id="13" name="文本框 12"/>
          <p:cNvSpPr txBox="1"/>
          <p:nvPr/>
        </p:nvSpPr>
        <p:spPr>
          <a:xfrm>
            <a:off x="2566033" y="3962400"/>
            <a:ext cx="7059931" cy="1873522"/>
          </a:xfrm>
          <a:prstGeom prst="rect">
            <a:avLst/>
          </a:prstGeom>
          <a:noFill/>
        </p:spPr>
        <p:txBody>
          <a:bodyPr wrap="square" lIns="91436" tIns="45718" rIns="91436" bIns="45718" rtlCol="0">
            <a:spAutoFit/>
          </a:bodyPr>
          <a:lstStyle/>
          <a:p>
            <a:pPr algn="ctr">
              <a:lnSpc>
                <a:spcPct val="150000"/>
              </a:lnSpc>
              <a:defRPr/>
            </a:pPr>
            <a:r>
              <a:rPr lang="zh-CN" altLang="en-US" sz="2800" b="1"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讲者：杨朔</a:t>
            </a:r>
            <a:r>
              <a:rPr lang="zh-CN" altLang="en-US" sz="2400" b="1"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2025</a:t>
            </a:r>
            <a:r>
              <a:rPr lang="zh-CN" altLang="en-US" sz="2400" b="1"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届全日制博士）</a:t>
            </a:r>
            <a:endParaRPr lang="en-US" altLang="zh-CN" sz="2400" b="1"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defRPr/>
            </a:pPr>
            <a:r>
              <a:rPr lang="zh-CN" altLang="en-US" sz="2800" b="1"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指导老师： 张晋昕老师</a:t>
            </a:r>
            <a:endParaRPr lang="en-US" altLang="zh-CN" sz="2800" b="1"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defRPr/>
            </a:pPr>
            <a:r>
              <a:rPr lang="en-US" altLang="zh-CN" sz="2400"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2025</a:t>
            </a:r>
            <a:r>
              <a:rPr lang="zh-CN" altLang="en-US" sz="2400"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400"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2400"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月</a:t>
            </a:r>
            <a:r>
              <a:rPr lang="en-US" altLang="zh-CN" sz="2400"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2400"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rPr>
              <a:t>日</a:t>
            </a:r>
            <a:endParaRPr lang="en-US" altLang="zh-CN" sz="2400" dirty="0">
              <a:solidFill>
                <a:srgbClr val="115522"/>
              </a:solidFill>
              <a:effectLst>
                <a:innerShdw blurRad="63500" dist="50800" dir="18900000">
                  <a:prstClr val="black">
                    <a:alpha val="50000"/>
                  </a:prstClr>
                </a:inn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descr="图片包含 游戏机, 画, 食物, 标志&#10;&#10;描述已自动生成"/>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27771" y="120250"/>
            <a:ext cx="2159377" cy="67280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0ADB755E-6AB4-4743-B12A-15E52CE09C4A}"/>
              </a:ext>
            </a:extLst>
          </p:cNvPr>
          <p:cNvSpPr>
            <a:spLocks noGrp="1"/>
          </p:cNvSpPr>
          <p:nvPr>
            <p:ph type="body" idx="1"/>
          </p:nvPr>
        </p:nvSpPr>
        <p:spPr>
          <a:xfrm>
            <a:off x="2438400" y="227310"/>
            <a:ext cx="9525000" cy="6007414"/>
          </a:xfrm>
        </p:spPr>
        <p:txBody>
          <a:bodyPr/>
          <a:lstStyle/>
          <a:p>
            <a:pPr>
              <a:lnSpc>
                <a:spcPct val="150000"/>
              </a:lnSpc>
            </a:pPr>
            <a:r>
              <a:rPr lang="zh-CN" altLang="en-US" sz="2400" dirty="0"/>
              <a:t>姓 名：杨朔</a:t>
            </a:r>
            <a:endParaRPr lang="en-US" altLang="zh-CN" sz="2400" dirty="0"/>
          </a:p>
          <a:p>
            <a:pPr>
              <a:lnSpc>
                <a:spcPct val="150000"/>
              </a:lnSpc>
            </a:pPr>
            <a:r>
              <a:rPr lang="zh-CN" altLang="en-US" sz="2400" dirty="0"/>
              <a:t>单 位：广东药科大学，公共卫生学院，流行病与卫生统计学系</a:t>
            </a:r>
            <a:endParaRPr lang="en-US" altLang="zh-CN" sz="2400" dirty="0"/>
          </a:p>
          <a:p>
            <a:pPr>
              <a:lnSpc>
                <a:spcPct val="150000"/>
              </a:lnSpc>
            </a:pPr>
            <a:endParaRPr lang="en-US" altLang="zh-CN" sz="2400" dirty="0"/>
          </a:p>
          <a:p>
            <a:pPr>
              <a:lnSpc>
                <a:spcPct val="150000"/>
              </a:lnSpc>
            </a:pPr>
            <a:r>
              <a:rPr lang="zh-CN" altLang="en-US" sz="2400" dirty="0"/>
              <a:t>学习经历：</a:t>
            </a:r>
            <a:endParaRPr lang="en-US" altLang="zh-CN" sz="2400" dirty="0"/>
          </a:p>
          <a:p>
            <a:pPr>
              <a:lnSpc>
                <a:spcPct val="150000"/>
              </a:lnSpc>
            </a:pPr>
            <a:r>
              <a:rPr lang="en-US" altLang="zh-CN" sz="2400" dirty="0"/>
              <a:t>2021.09—2025.06 </a:t>
            </a:r>
            <a:r>
              <a:rPr lang="zh-CN" altLang="en-US" sz="2400" dirty="0"/>
              <a:t>中山大学 流行病与卫生统计学，博士 </a:t>
            </a:r>
            <a:endParaRPr lang="en-US" altLang="zh-CN" sz="2400" dirty="0"/>
          </a:p>
          <a:p>
            <a:pPr>
              <a:lnSpc>
                <a:spcPct val="150000"/>
              </a:lnSpc>
            </a:pPr>
            <a:r>
              <a:rPr lang="en-US" altLang="zh-CN" sz="2400" dirty="0"/>
              <a:t>2015.08—2018.06 </a:t>
            </a:r>
            <a:r>
              <a:rPr lang="zh-CN" altLang="en-US" sz="2400" dirty="0"/>
              <a:t>广东药科大学 公共卫生，硕士</a:t>
            </a:r>
            <a:endParaRPr lang="en-US" altLang="zh-CN" sz="2400" dirty="0"/>
          </a:p>
          <a:p>
            <a:pPr>
              <a:lnSpc>
                <a:spcPct val="150000"/>
              </a:lnSpc>
            </a:pPr>
            <a:r>
              <a:rPr lang="en-US" altLang="zh-CN" sz="2400" dirty="0"/>
              <a:t>2010.09-2015.06  </a:t>
            </a:r>
            <a:r>
              <a:rPr lang="zh-CN" altLang="en-US" sz="2400" dirty="0"/>
              <a:t>济宁医学院 预防医学，学士</a:t>
            </a:r>
            <a:endParaRPr lang="en-US" altLang="zh-CN" sz="2400" dirty="0"/>
          </a:p>
          <a:p>
            <a:pPr>
              <a:lnSpc>
                <a:spcPct val="150000"/>
              </a:lnSpc>
            </a:pPr>
            <a:endParaRPr lang="en-US" altLang="zh-CN" sz="2400" dirty="0"/>
          </a:p>
          <a:p>
            <a:pPr>
              <a:lnSpc>
                <a:spcPct val="150000"/>
              </a:lnSpc>
            </a:pPr>
            <a:r>
              <a:rPr lang="zh-CN" altLang="en-US" sz="2400" dirty="0"/>
              <a:t>工作经历：</a:t>
            </a:r>
            <a:endParaRPr lang="en-US" altLang="zh-CN" sz="2400" dirty="0"/>
          </a:p>
          <a:p>
            <a:pPr>
              <a:lnSpc>
                <a:spcPct val="150000"/>
              </a:lnSpc>
            </a:pPr>
            <a:r>
              <a:rPr lang="en-US" altLang="zh-CN" sz="2400" dirty="0"/>
              <a:t>2025.09 - </a:t>
            </a:r>
            <a:r>
              <a:rPr lang="zh-CN" altLang="en-US" sz="2400" dirty="0"/>
              <a:t>至今    广东药科大学，流行病与卫生统计学系</a:t>
            </a:r>
            <a:endParaRPr lang="en-US" altLang="zh-CN" sz="2400" dirty="0"/>
          </a:p>
          <a:p>
            <a:pPr>
              <a:lnSpc>
                <a:spcPct val="150000"/>
              </a:lnSpc>
            </a:pPr>
            <a:r>
              <a:rPr lang="en-US" altLang="zh-CN" sz="2400" dirty="0"/>
              <a:t>2018.07-2021.08   </a:t>
            </a:r>
            <a:r>
              <a:rPr lang="zh-CN" altLang="en-US" sz="2400" dirty="0"/>
              <a:t>广东药科大学，云浮校区党总支委员、辅导员</a:t>
            </a:r>
            <a:endParaRPr lang="en-US" altLang="zh-CN" sz="2400" dirty="0"/>
          </a:p>
        </p:txBody>
      </p:sp>
      <p:sp>
        <p:nvSpPr>
          <p:cNvPr id="2" name="灯片编号占位符 1">
            <a:extLst>
              <a:ext uri="{FF2B5EF4-FFF2-40B4-BE49-F238E27FC236}">
                <a16:creationId xmlns:a16="http://schemas.microsoft.com/office/drawing/2014/main" id="{6DEF35F6-6FED-45D3-A828-6AAFAFE547AD}"/>
              </a:ext>
            </a:extLst>
          </p:cNvPr>
          <p:cNvSpPr>
            <a:spLocks noGrp="1"/>
          </p:cNvSpPr>
          <p:nvPr>
            <p:ph type="sldNum" sz="quarter" idx="7"/>
          </p:nvPr>
        </p:nvSpPr>
        <p:spPr/>
        <p:txBody>
          <a:bodyPr/>
          <a:lstStyle/>
          <a:p>
            <a:pPr marL="38100">
              <a:spcBef>
                <a:spcPts val="45"/>
              </a:spcBef>
            </a:pPr>
            <a:fld id="{81D60167-4931-47E6-BA6A-407CBD079E47}" type="slidenum">
              <a:rPr lang="en-US" altLang="zh-CN" spc="-5" smtClean="0"/>
              <a:pPr marL="38100">
                <a:spcBef>
                  <a:spcPts val="45"/>
                </a:spcBef>
              </a:pPr>
              <a:t>2</a:t>
            </a:fld>
            <a:endParaRPr lang="en-US" altLang="zh-CN" spc="-5" dirty="0"/>
          </a:p>
        </p:txBody>
      </p:sp>
      <p:pic>
        <p:nvPicPr>
          <p:cNvPr id="6" name="图片 5">
            <a:extLst>
              <a:ext uri="{FF2B5EF4-FFF2-40B4-BE49-F238E27FC236}">
                <a16:creationId xmlns:a16="http://schemas.microsoft.com/office/drawing/2014/main" id="{3A6DA97F-1EED-442D-E47D-2E43F040F9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207588"/>
            <a:ext cx="1554971" cy="23280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C1942-1AD4-1629-4139-5491A64F81FC}"/>
            </a:ext>
          </a:extLst>
        </p:cNvPr>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24CCE278-EB0A-E57D-6516-9FC8FED1E6E7}"/>
              </a:ext>
            </a:extLst>
          </p:cNvPr>
          <p:cNvSpPr>
            <a:spLocks noGrp="1"/>
          </p:cNvSpPr>
          <p:nvPr>
            <p:ph type="sldNum" sz="quarter" idx="12"/>
          </p:nvPr>
        </p:nvSpPr>
        <p:spPr bwMode="auto">
          <a:xfrm>
            <a:off x="100584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3</a:t>
            </a:fld>
            <a:endParaRPr lang="en-US" altLang="zh-CN" sz="1400" dirty="0">
              <a:latin typeface="Times New Roman" panose="02020603050405020304" pitchFamily="18" charset="0"/>
            </a:endParaRPr>
          </a:p>
        </p:txBody>
      </p:sp>
      <p:sp>
        <p:nvSpPr>
          <p:cNvPr id="7" name="矩形 6">
            <a:extLst>
              <a:ext uri="{FF2B5EF4-FFF2-40B4-BE49-F238E27FC236}">
                <a16:creationId xmlns:a16="http://schemas.microsoft.com/office/drawing/2014/main" id="{3745CEA4-0355-4F90-647C-2FF37A745B5D}"/>
              </a:ext>
            </a:extLst>
          </p:cNvPr>
          <p:cNvSpPr/>
          <p:nvPr/>
        </p:nvSpPr>
        <p:spPr>
          <a:xfrm>
            <a:off x="-36512" y="0"/>
            <a:ext cx="2736304" cy="6858000"/>
          </a:xfrm>
          <a:prstGeom prst="rect">
            <a:avLst/>
          </a:prstGeom>
          <a:solidFill>
            <a:srgbClr val="005825"/>
          </a:solidFill>
          <a:ln>
            <a:noFill/>
          </a:ln>
        </p:spPr>
        <p:style>
          <a:lnRef idx="2">
            <a:schemeClr val="accent2"/>
          </a:lnRef>
          <a:fillRef idx="1">
            <a:schemeClr val="lt1"/>
          </a:fillRef>
          <a:effectRef idx="0">
            <a:schemeClr val="accent2"/>
          </a:effectRef>
          <a:fontRef idx="minor">
            <a:schemeClr val="dk1"/>
          </a:fontRef>
        </p:style>
        <p:txBody>
          <a:bodyPr wrap="square" rtlCol="0" anchor="ctr">
            <a:spAutoFit/>
          </a:bodyPr>
          <a:lstStyle/>
          <a:p>
            <a:pPr algn="ctr"/>
            <a:endParaRPr lang="zh-CN" altLang="en-US" sz="2800" b="1" dirty="0">
              <a:solidFill>
                <a:srgbClr val="000066"/>
              </a:solidFill>
              <a:latin typeface="Arial" panose="020B0604020202020204" pitchFamily="34" charset="0"/>
              <a:cs typeface="Arial" panose="020B0604020202020204" pitchFamily="34" charset="0"/>
            </a:endParaRPr>
          </a:p>
        </p:txBody>
      </p:sp>
      <p:grpSp>
        <p:nvGrpSpPr>
          <p:cNvPr id="8" name="组合 7">
            <a:extLst>
              <a:ext uri="{FF2B5EF4-FFF2-40B4-BE49-F238E27FC236}">
                <a16:creationId xmlns:a16="http://schemas.microsoft.com/office/drawing/2014/main" id="{784318DC-B0A4-292C-90DE-74111406F108}"/>
              </a:ext>
            </a:extLst>
          </p:cNvPr>
          <p:cNvGrpSpPr/>
          <p:nvPr/>
        </p:nvGrpSpPr>
        <p:grpSpPr>
          <a:xfrm>
            <a:off x="435714" y="1377232"/>
            <a:ext cx="2007876" cy="4140000"/>
            <a:chOff x="435714" y="1377232"/>
            <a:chExt cx="2007876" cy="4140000"/>
          </a:xfrm>
        </p:grpSpPr>
        <p:sp>
          <p:nvSpPr>
            <p:cNvPr id="9" name="矩形 8">
              <a:extLst>
                <a:ext uri="{FF2B5EF4-FFF2-40B4-BE49-F238E27FC236}">
                  <a16:creationId xmlns:a16="http://schemas.microsoft.com/office/drawing/2014/main" id="{6EA6DDDB-C0FB-7EAA-814D-0FC188D1A739}"/>
                </a:ext>
              </a:extLst>
            </p:cNvPr>
            <p:cNvSpPr/>
            <p:nvPr/>
          </p:nvSpPr>
          <p:spPr>
            <a:xfrm>
              <a:off x="435714" y="1377232"/>
              <a:ext cx="1800200" cy="4140000"/>
            </a:xfrm>
            <a:prstGeom prst="rect">
              <a:avLst/>
            </a:prstGeom>
            <a:noFill/>
            <a:ln w="12700">
              <a:solidFill>
                <a:schemeClr val="bg1"/>
              </a:solidFill>
            </a:ln>
          </p:spPr>
          <p:style>
            <a:lnRef idx="2">
              <a:schemeClr val="accent2"/>
            </a:lnRef>
            <a:fillRef idx="1">
              <a:schemeClr val="lt1"/>
            </a:fillRef>
            <a:effectRef idx="0">
              <a:schemeClr val="accent2"/>
            </a:effectRef>
            <a:fontRef idx="minor">
              <a:schemeClr val="dk1"/>
            </a:fontRef>
          </p:style>
          <p:txBody>
            <a:bodyPr wrap="square" rtlCol="0" anchor="ctr">
              <a:spAutoFit/>
            </a:bodyPr>
            <a:lstStyle/>
            <a:p>
              <a:pPr algn="ctr"/>
              <a:endParaRPr lang="zh-CN" altLang="en-US" sz="2800" b="1" dirty="0">
                <a:solidFill>
                  <a:srgbClr val="000066"/>
                </a:solidFill>
                <a:latin typeface="Arial" panose="020B0604020202020204" pitchFamily="34" charset="0"/>
                <a:cs typeface="Arial" panose="020B0604020202020204" pitchFamily="34" charset="0"/>
              </a:endParaRPr>
            </a:p>
          </p:txBody>
        </p:sp>
        <p:sp>
          <p:nvSpPr>
            <p:cNvPr id="10" name="文本框 8">
              <a:extLst>
                <a:ext uri="{FF2B5EF4-FFF2-40B4-BE49-F238E27FC236}">
                  <a16:creationId xmlns:a16="http://schemas.microsoft.com/office/drawing/2014/main" id="{24907349-27B9-E92A-851E-0E7D86E280AD}"/>
                </a:ext>
              </a:extLst>
            </p:cNvPr>
            <p:cNvSpPr txBox="1"/>
            <p:nvPr/>
          </p:nvSpPr>
          <p:spPr>
            <a:xfrm rot="5400000">
              <a:off x="1392981" y="3247177"/>
              <a:ext cx="1701107" cy="400110"/>
            </a:xfrm>
            <a:prstGeom prst="rect">
              <a:avLst/>
            </a:prstGeom>
            <a:solidFill>
              <a:srgbClr val="005825"/>
            </a:solidFill>
            <a:ln>
              <a:noFill/>
            </a:ln>
          </p:spPr>
          <p:txBody>
            <a:bodyPr wrap="none" rtlCol="0">
              <a:spAutoFit/>
            </a:bodyPr>
            <a:lstStyle/>
            <a:p>
              <a:pPr algn="ctr"/>
              <a:r>
                <a:rPr lang="en-US" altLang="zh-CN" sz="2000" i="1" spc="100" dirty="0">
                  <a:solidFill>
                    <a:schemeClr val="bg1"/>
                  </a:solidFill>
                  <a:latin typeface="微软雅黑" panose="020B0503020204020204" pitchFamily="34" charset="-122"/>
                  <a:ea typeface="微软雅黑" panose="020B0503020204020204" pitchFamily="34" charset="-122"/>
                </a:rPr>
                <a:t>CONTENTS</a:t>
              </a:r>
              <a:endParaRPr lang="zh-CN" altLang="en-US" sz="2000" i="1" spc="100" dirty="0">
                <a:solidFill>
                  <a:schemeClr val="bg1"/>
                </a:solidFill>
                <a:latin typeface="微软雅黑" panose="020B0503020204020204" pitchFamily="34" charset="-122"/>
                <a:ea typeface="微软雅黑" panose="020B0503020204020204" pitchFamily="34" charset="-122"/>
              </a:endParaRPr>
            </a:p>
          </p:txBody>
        </p:sp>
        <p:sp>
          <p:nvSpPr>
            <p:cNvPr id="11" name="文本框 9">
              <a:extLst>
                <a:ext uri="{FF2B5EF4-FFF2-40B4-BE49-F238E27FC236}">
                  <a16:creationId xmlns:a16="http://schemas.microsoft.com/office/drawing/2014/main" id="{B983448B-1875-1F37-DB9F-51430ADD754C}"/>
                </a:ext>
              </a:extLst>
            </p:cNvPr>
            <p:cNvSpPr txBox="1"/>
            <p:nvPr/>
          </p:nvSpPr>
          <p:spPr>
            <a:xfrm>
              <a:off x="897233" y="1804314"/>
              <a:ext cx="800219" cy="3285836"/>
            </a:xfrm>
            <a:prstGeom prst="rect">
              <a:avLst/>
            </a:prstGeom>
            <a:noFill/>
          </p:spPr>
          <p:txBody>
            <a:bodyPr wrap="none" rtlCol="0">
              <a:spAutoFit/>
            </a:bodyPr>
            <a:lstStyle/>
            <a:p>
              <a:pPr>
                <a:lnSpc>
                  <a:spcPct val="110000"/>
                </a:lnSpc>
              </a:pPr>
              <a:r>
                <a:rPr lang="zh-CN" altLang="en-US" sz="4800" b="1" dirty="0">
                  <a:solidFill>
                    <a:schemeClr val="bg1"/>
                  </a:solidFill>
                  <a:latin typeface="微软雅黑" panose="020B0503020204020204" pitchFamily="34" charset="-122"/>
                  <a:ea typeface="微软雅黑" panose="020B0503020204020204" pitchFamily="34" charset="-122"/>
                </a:rPr>
                <a:t>汇</a:t>
              </a:r>
              <a:endParaRPr lang="en-US" altLang="zh-CN" sz="4800" b="1" dirty="0">
                <a:solidFill>
                  <a:schemeClr val="bg1"/>
                </a:solidFill>
                <a:latin typeface="微软雅黑" panose="020B0503020204020204" pitchFamily="34" charset="-122"/>
                <a:ea typeface="微软雅黑" panose="020B0503020204020204" pitchFamily="34" charset="-122"/>
              </a:endParaRPr>
            </a:p>
            <a:p>
              <a:pPr>
                <a:lnSpc>
                  <a:spcPct val="110000"/>
                </a:lnSpc>
              </a:pPr>
              <a:r>
                <a:rPr lang="zh-CN" altLang="en-US" sz="4800" b="1" dirty="0">
                  <a:solidFill>
                    <a:schemeClr val="bg1"/>
                  </a:solidFill>
                  <a:latin typeface="微软雅黑" panose="020B0503020204020204" pitchFamily="34" charset="-122"/>
                  <a:ea typeface="微软雅黑" panose="020B0503020204020204" pitchFamily="34" charset="-122"/>
                </a:rPr>
                <a:t>报</a:t>
              </a:r>
              <a:endParaRPr lang="en-US" altLang="zh-CN" sz="4800" b="1" dirty="0">
                <a:solidFill>
                  <a:schemeClr val="bg1"/>
                </a:solidFill>
                <a:latin typeface="微软雅黑" panose="020B0503020204020204" pitchFamily="34" charset="-122"/>
                <a:ea typeface="微软雅黑" panose="020B0503020204020204" pitchFamily="34" charset="-122"/>
              </a:endParaRPr>
            </a:p>
            <a:p>
              <a:pPr>
                <a:lnSpc>
                  <a:spcPct val="110000"/>
                </a:lnSpc>
              </a:pPr>
              <a:r>
                <a:rPr lang="zh-CN" altLang="en-US" sz="4800" b="1" dirty="0">
                  <a:solidFill>
                    <a:schemeClr val="bg1"/>
                  </a:solidFill>
                  <a:latin typeface="微软雅黑" panose="020B0503020204020204" pitchFamily="34" charset="-122"/>
                  <a:ea typeface="微软雅黑" panose="020B0503020204020204" pitchFamily="34" charset="-122"/>
                </a:rPr>
                <a:t>提</a:t>
              </a:r>
              <a:endParaRPr lang="en-US" altLang="zh-CN" sz="4800" b="1" dirty="0">
                <a:solidFill>
                  <a:schemeClr val="bg1"/>
                </a:solidFill>
                <a:latin typeface="微软雅黑" panose="020B0503020204020204" pitchFamily="34" charset="-122"/>
                <a:ea typeface="微软雅黑" panose="020B0503020204020204" pitchFamily="34" charset="-122"/>
              </a:endParaRPr>
            </a:p>
            <a:p>
              <a:pPr>
                <a:lnSpc>
                  <a:spcPct val="110000"/>
                </a:lnSpc>
              </a:pPr>
              <a:r>
                <a:rPr lang="zh-CN" altLang="en-US" sz="4800" b="1" dirty="0">
                  <a:solidFill>
                    <a:schemeClr val="bg1"/>
                  </a:solidFill>
                  <a:latin typeface="微软雅黑" panose="020B0503020204020204" pitchFamily="34" charset="-122"/>
                  <a:ea typeface="微软雅黑" panose="020B0503020204020204" pitchFamily="34" charset="-122"/>
                </a:rPr>
                <a:t>纲</a:t>
              </a:r>
              <a:endParaRPr lang="zh-CN" altLang="en-US" sz="4300" b="1" dirty="0">
                <a:solidFill>
                  <a:schemeClr val="bg1"/>
                </a:solidFill>
                <a:latin typeface="微软雅黑" panose="020B0503020204020204" pitchFamily="34" charset="-122"/>
                <a:ea typeface="微软雅黑" panose="020B0503020204020204" pitchFamily="34" charset="-122"/>
              </a:endParaRPr>
            </a:p>
          </p:txBody>
        </p:sp>
      </p:grpSp>
      <p:sp>
        <p:nvSpPr>
          <p:cNvPr id="12" name="TextBox 2">
            <a:extLst>
              <a:ext uri="{FF2B5EF4-FFF2-40B4-BE49-F238E27FC236}">
                <a16:creationId xmlns:a16="http://schemas.microsoft.com/office/drawing/2014/main" id="{6278470C-0711-4D64-A49E-F98E5F2A1DFA}"/>
              </a:ext>
            </a:extLst>
          </p:cNvPr>
          <p:cNvSpPr txBox="1"/>
          <p:nvPr/>
        </p:nvSpPr>
        <p:spPr>
          <a:xfrm>
            <a:off x="4343400" y="76200"/>
            <a:ext cx="6153150" cy="6503575"/>
          </a:xfrm>
          <a:prstGeom prst="rect">
            <a:avLst/>
          </a:prstGeom>
          <a:noFill/>
        </p:spPr>
        <p:txBody>
          <a:bodyPr wrap="square" rtlCol="0">
            <a:spAutoFit/>
          </a:bodyPr>
          <a:lstStyle/>
          <a:p>
            <a:pPr>
              <a:lnSpc>
                <a:spcPct val="130000"/>
              </a:lnSpc>
            </a:pPr>
            <a:r>
              <a:rPr lang="zh-CN" altLang="en-US" sz="3600" b="1" dirty="0">
                <a:latin typeface="Times New Roman" panose="02020603050405020304" pitchFamily="18" charset="0"/>
                <a:ea typeface="微软雅黑" pitchFamily="34" charset="-122"/>
                <a:cs typeface="Times New Roman" panose="02020603050405020304" pitchFamily="18" charset="0"/>
              </a:rPr>
              <a:t>一、</a:t>
            </a:r>
            <a:r>
              <a:rPr lang="en-US" altLang="zh-CN" sz="3600" b="1" dirty="0">
                <a:latin typeface="Times New Roman" panose="02020603050405020304" pitchFamily="18" charset="0"/>
                <a:ea typeface="微软雅黑" pitchFamily="34" charset="-122"/>
                <a:cs typeface="Times New Roman" panose="02020603050405020304" pitchFamily="18" charset="0"/>
              </a:rPr>
              <a:t>Bagging </a:t>
            </a:r>
            <a:r>
              <a:rPr lang="zh-CN" altLang="en-US" sz="3600" b="1" dirty="0">
                <a:latin typeface="Times New Roman" panose="02020603050405020304" pitchFamily="18" charset="0"/>
                <a:ea typeface="微软雅黑" pitchFamily="34" charset="-122"/>
                <a:cs typeface="Times New Roman" panose="02020603050405020304" pitchFamily="18" charset="0"/>
              </a:rPr>
              <a:t>集成框架</a:t>
            </a:r>
            <a:endParaRPr lang="en-US" altLang="zh-CN" sz="3600" b="1" dirty="0">
              <a:latin typeface="Times New Roman" panose="02020603050405020304" pitchFamily="18" charset="0"/>
              <a:ea typeface="微软雅黑" pitchFamily="34" charset="-122"/>
              <a:cs typeface="Times New Roman" panose="02020603050405020304" pitchFamily="18" charset="0"/>
            </a:endParaRPr>
          </a:p>
          <a:p>
            <a:pPr>
              <a:lnSpc>
                <a:spcPct val="130000"/>
              </a:lnSpc>
            </a:pPr>
            <a:endParaRPr lang="en-US" altLang="zh-CN" sz="3600" b="1" dirty="0">
              <a:latin typeface="Times New Roman" panose="02020603050405020304" pitchFamily="18" charset="0"/>
              <a:ea typeface="微软雅黑" pitchFamily="34" charset="-122"/>
              <a:cs typeface="Times New Roman" panose="02020603050405020304" pitchFamily="18" charset="0"/>
            </a:endParaRPr>
          </a:p>
          <a:p>
            <a:pPr>
              <a:lnSpc>
                <a:spcPct val="130000"/>
              </a:lnSpc>
            </a:pPr>
            <a:r>
              <a:rPr lang="zh-CN" altLang="en-US" sz="3600" b="1" dirty="0">
                <a:latin typeface="Times New Roman" panose="02020603050405020304" pitchFamily="18" charset="0"/>
                <a:ea typeface="微软雅黑" pitchFamily="34" charset="-122"/>
                <a:cs typeface="Times New Roman" panose="02020603050405020304" pitchFamily="18" charset="0"/>
              </a:rPr>
              <a:t>二、随机森林算法</a:t>
            </a:r>
            <a:endParaRPr lang="en-US" altLang="zh-CN" sz="3600" b="1" dirty="0">
              <a:latin typeface="Times New Roman" panose="02020603050405020304" pitchFamily="18" charset="0"/>
              <a:ea typeface="微软雅黑" pitchFamily="34" charset="-122"/>
              <a:cs typeface="Times New Roman" panose="02020603050405020304" pitchFamily="18" charset="0"/>
            </a:endParaRPr>
          </a:p>
          <a:p>
            <a:pPr>
              <a:lnSpc>
                <a:spcPct val="130000"/>
              </a:lnSpc>
            </a:pPr>
            <a:endParaRPr lang="en-US" altLang="zh-CN" sz="3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pPr>
            <a:r>
              <a:rPr lang="zh-CN" altLang="en-US" sz="3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三、</a:t>
            </a:r>
            <a:r>
              <a:rPr lang="en-US" altLang="zh-CN" sz="3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OOB </a:t>
            </a:r>
            <a:r>
              <a:rPr lang="zh-CN" altLang="en-US" sz="3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误差估计</a:t>
            </a:r>
            <a:endParaRPr lang="en-US" altLang="zh-CN" sz="3600" b="1" dirty="0">
              <a:latin typeface="Times New Roman" panose="02020603050405020304" pitchFamily="18" charset="0"/>
              <a:ea typeface="微软雅黑" pitchFamily="34" charset="-122"/>
              <a:cs typeface="Times New Roman" panose="02020603050405020304" pitchFamily="18" charset="0"/>
            </a:endParaRPr>
          </a:p>
          <a:p>
            <a:pPr>
              <a:lnSpc>
                <a:spcPct val="130000"/>
              </a:lnSpc>
            </a:pPr>
            <a:endParaRPr lang="en-US" altLang="zh-CN" sz="3600" b="1" dirty="0">
              <a:latin typeface="Times New Roman" panose="02020603050405020304" pitchFamily="18" charset="0"/>
              <a:ea typeface="微软雅黑" pitchFamily="34" charset="-122"/>
              <a:cs typeface="Times New Roman" panose="02020603050405020304" pitchFamily="18" charset="0"/>
            </a:endParaRPr>
          </a:p>
          <a:p>
            <a:pPr>
              <a:lnSpc>
                <a:spcPct val="130000"/>
              </a:lnSpc>
            </a:pPr>
            <a:r>
              <a:rPr lang="zh-CN" altLang="en-US" sz="3600" b="1" dirty="0">
                <a:latin typeface="Times New Roman" panose="02020603050405020304" pitchFamily="18" charset="0"/>
                <a:ea typeface="微软雅黑" pitchFamily="34" charset="-122"/>
                <a:cs typeface="Times New Roman" panose="02020603050405020304" pitchFamily="18" charset="0"/>
              </a:rPr>
              <a:t>四、</a:t>
            </a:r>
            <a:r>
              <a:rPr lang="zh-CN" altLang="en-US" sz="3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特征重要性度量方法</a:t>
            </a:r>
            <a:endParaRPr lang="en-US" altLang="zh-CN" sz="3600" b="1" dirty="0">
              <a:latin typeface="Times New Roman" panose="02020603050405020304" pitchFamily="18" charset="0"/>
              <a:ea typeface="微软雅黑" pitchFamily="34" charset="-122"/>
              <a:cs typeface="Times New Roman" panose="02020603050405020304" pitchFamily="18" charset="0"/>
            </a:endParaRPr>
          </a:p>
          <a:p>
            <a:pPr>
              <a:lnSpc>
                <a:spcPct val="130000"/>
              </a:lnSpc>
            </a:pPr>
            <a:endParaRPr lang="en-US" altLang="zh-CN" sz="3600" b="1" dirty="0">
              <a:latin typeface="Times New Roman" panose="02020603050405020304" pitchFamily="18" charset="0"/>
              <a:ea typeface="微软雅黑" pitchFamily="34" charset="-122"/>
              <a:cs typeface="Times New Roman" panose="02020603050405020304" pitchFamily="18" charset="0"/>
            </a:endParaRPr>
          </a:p>
          <a:p>
            <a:pPr>
              <a:lnSpc>
                <a:spcPct val="130000"/>
              </a:lnSpc>
            </a:pPr>
            <a:r>
              <a:rPr lang="zh-CN" altLang="en-US" sz="3600" b="1" dirty="0">
                <a:latin typeface="Times New Roman" panose="02020603050405020304" pitchFamily="18" charset="0"/>
                <a:ea typeface="微软雅黑" pitchFamily="34" charset="-122"/>
                <a:cs typeface="Times New Roman" panose="02020603050405020304" pitchFamily="18" charset="0"/>
              </a:rPr>
              <a:t>五、</a:t>
            </a:r>
            <a:r>
              <a:rPr lang="en-US" altLang="zh-CN" sz="3600" b="1" dirty="0">
                <a:latin typeface="Times New Roman" panose="02020603050405020304" pitchFamily="18" charset="0"/>
                <a:ea typeface="微软雅黑" pitchFamily="34" charset="-122"/>
                <a:cs typeface="Times New Roman" panose="02020603050405020304" pitchFamily="18" charset="0"/>
              </a:rPr>
              <a:t>R</a:t>
            </a:r>
            <a:r>
              <a:rPr lang="zh-CN" altLang="en-US" sz="3600" b="1" dirty="0">
                <a:latin typeface="Times New Roman" panose="02020603050405020304" pitchFamily="18" charset="0"/>
                <a:ea typeface="微软雅黑" pitchFamily="34" charset="-122"/>
                <a:cs typeface="Times New Roman" panose="02020603050405020304" pitchFamily="18" charset="0"/>
              </a:rPr>
              <a:t>代码实现</a:t>
            </a:r>
          </a:p>
        </p:txBody>
      </p:sp>
    </p:spTree>
    <p:extLst>
      <p:ext uri="{BB962C8B-B14F-4D97-AF65-F5344CB8AC3E}">
        <p14:creationId xmlns:p14="http://schemas.microsoft.com/office/powerpoint/2010/main" val="2552562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E0462-8A63-FD10-71F3-A382F5C9B9A0}"/>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737A5654-B051-41CE-B881-C7B4A5149B4E}"/>
              </a:ext>
            </a:extLst>
          </p:cNvPr>
          <p:cNvSpPr>
            <a:spLocks noGrp="1"/>
          </p:cNvSpPr>
          <p:nvPr>
            <p:ph type="sldNum" sz="quarter" idx="12"/>
          </p:nvPr>
        </p:nvSpPr>
        <p:spPr bwMode="auto">
          <a:xfrm>
            <a:off x="99441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4</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890E0158-A24B-A9AF-0B47-434F533CE9A1}"/>
              </a:ext>
            </a:extLst>
          </p:cNvPr>
          <p:cNvSpPr txBox="1"/>
          <p:nvPr/>
        </p:nvSpPr>
        <p:spPr>
          <a:xfrm>
            <a:off x="911521" y="409110"/>
            <a:ext cx="9353843"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一、</a:t>
            </a:r>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Bagging vs Boosting in Machine Learning</a:t>
            </a:r>
            <a:endPar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endParaRPr>
          </a:p>
        </p:txBody>
      </p:sp>
      <p:sp>
        <p:nvSpPr>
          <p:cNvPr id="7" name="矩形 8">
            <a:extLst>
              <a:ext uri="{FF2B5EF4-FFF2-40B4-BE49-F238E27FC236}">
                <a16:creationId xmlns:a16="http://schemas.microsoft.com/office/drawing/2014/main" id="{0C280429-C9D2-5D7B-3121-A3D7BE02790F}"/>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74" name="Picture 2" descr="Bagging and Boosting">
            <a:extLst>
              <a:ext uri="{FF2B5EF4-FFF2-40B4-BE49-F238E27FC236}">
                <a16:creationId xmlns:a16="http://schemas.microsoft.com/office/drawing/2014/main" id="{AE59597A-177D-667B-4026-F0EC4F64F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9313" y="1185863"/>
            <a:ext cx="7953375" cy="448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5783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074"/>
                                        </p:tgtEl>
                                        <p:attrNameLst>
                                          <p:attrName>style.visibility</p:attrName>
                                        </p:attrNameLst>
                                      </p:cBhvr>
                                      <p:to>
                                        <p:strVal val="visible"/>
                                      </p:to>
                                    </p:set>
                                    <p:animEffect transition="in" filter="wipe(down)">
                                      <p:cBhvr>
                                        <p:cTn id="13"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71FDA-68B0-A33F-FC2E-AA43B375FD69}"/>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CDE9EA5E-644A-81A0-27C1-600B5E7E5EF4}"/>
              </a:ext>
            </a:extLst>
          </p:cNvPr>
          <p:cNvSpPr>
            <a:spLocks noGrp="1"/>
          </p:cNvSpPr>
          <p:nvPr>
            <p:ph type="sldNum" sz="quarter" idx="12"/>
          </p:nvPr>
        </p:nvSpPr>
        <p:spPr bwMode="auto">
          <a:xfrm>
            <a:off x="99441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5</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30904900-0F05-6A37-48B1-F0E74DF062A9}"/>
              </a:ext>
            </a:extLst>
          </p:cNvPr>
          <p:cNvSpPr txBox="1"/>
          <p:nvPr/>
        </p:nvSpPr>
        <p:spPr>
          <a:xfrm>
            <a:off x="911521" y="409110"/>
            <a:ext cx="6532558"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1. Bagging in Machine Learning</a:t>
            </a:r>
            <a:endPar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endParaRPr>
          </a:p>
        </p:txBody>
      </p:sp>
      <p:sp>
        <p:nvSpPr>
          <p:cNvPr id="7" name="矩形 8">
            <a:extLst>
              <a:ext uri="{FF2B5EF4-FFF2-40B4-BE49-F238E27FC236}">
                <a16:creationId xmlns:a16="http://schemas.microsoft.com/office/drawing/2014/main" id="{63A68C67-378D-8BC5-F84F-789CF0C34674}"/>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Picture 2">
            <a:extLst>
              <a:ext uri="{FF2B5EF4-FFF2-40B4-BE49-F238E27FC236}">
                <a16:creationId xmlns:a16="http://schemas.microsoft.com/office/drawing/2014/main" id="{FA539430-8BF9-BFFB-CB50-24EA3EF5CA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9" y="1143000"/>
            <a:ext cx="9639300" cy="5446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797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E3CAF-A96E-317C-97FD-17FF51177701}"/>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9BB8DC1B-E5CA-4DB2-A607-A5C6FBB4CE70}"/>
              </a:ext>
            </a:extLst>
          </p:cNvPr>
          <p:cNvSpPr>
            <a:spLocks noGrp="1"/>
          </p:cNvSpPr>
          <p:nvPr>
            <p:ph type="sldNum" sz="quarter" idx="12"/>
          </p:nvPr>
        </p:nvSpPr>
        <p:spPr bwMode="auto">
          <a:xfrm>
            <a:off x="99441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6</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163B7B24-6231-D5A9-2B40-D202C2BB7944}"/>
              </a:ext>
            </a:extLst>
          </p:cNvPr>
          <p:cNvSpPr txBox="1"/>
          <p:nvPr/>
        </p:nvSpPr>
        <p:spPr>
          <a:xfrm>
            <a:off x="914400" y="404439"/>
            <a:ext cx="6635150"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2. Boosting in Machine Learning</a:t>
            </a:r>
            <a:endPar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endParaRPr>
          </a:p>
        </p:txBody>
      </p:sp>
      <p:sp>
        <p:nvSpPr>
          <p:cNvPr id="7" name="矩形 8">
            <a:extLst>
              <a:ext uri="{FF2B5EF4-FFF2-40B4-BE49-F238E27FC236}">
                <a16:creationId xmlns:a16="http://schemas.microsoft.com/office/drawing/2014/main" id="{B45EA0F6-55CE-0540-987A-1075EFDD31E3}"/>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D4C016FE-FC18-F442-228D-59FB710743EA}"/>
              </a:ext>
            </a:extLst>
          </p:cNvPr>
          <p:cNvPicPr>
            <a:picLocks noChangeAspect="1"/>
          </p:cNvPicPr>
          <p:nvPr/>
        </p:nvPicPr>
        <p:blipFill>
          <a:blip r:embed="rId3"/>
          <a:stretch>
            <a:fillRect/>
          </a:stretch>
        </p:blipFill>
        <p:spPr>
          <a:xfrm>
            <a:off x="1447800" y="1295400"/>
            <a:ext cx="9525000" cy="5343525"/>
          </a:xfrm>
          <a:prstGeom prst="rect">
            <a:avLst/>
          </a:prstGeom>
        </p:spPr>
      </p:pic>
    </p:spTree>
    <p:extLst>
      <p:ext uri="{BB962C8B-B14F-4D97-AF65-F5344CB8AC3E}">
        <p14:creationId xmlns:p14="http://schemas.microsoft.com/office/powerpoint/2010/main" val="3884293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2BA56BCB-2A6C-45E3-BAA6-6E18D809FFDD}"/>
              </a:ext>
            </a:extLst>
          </p:cNvPr>
          <p:cNvSpPr>
            <a:spLocks noGrp="1"/>
          </p:cNvSpPr>
          <p:nvPr>
            <p:ph type="sldNum" sz="quarter" idx="12"/>
          </p:nvPr>
        </p:nvSpPr>
        <p:spPr bwMode="auto">
          <a:xfrm>
            <a:off x="100584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7</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7E3E4DA7-4B40-41AA-A831-4ABFBDA227D0}"/>
              </a:ext>
            </a:extLst>
          </p:cNvPr>
          <p:cNvSpPr txBox="1"/>
          <p:nvPr/>
        </p:nvSpPr>
        <p:spPr>
          <a:xfrm>
            <a:off x="911521" y="409110"/>
            <a:ext cx="6173485"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3. Bagging </a:t>
            </a:r>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与 </a:t>
            </a:r>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Boosting </a:t>
            </a:r>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的区别</a:t>
            </a:r>
          </a:p>
        </p:txBody>
      </p:sp>
      <p:sp>
        <p:nvSpPr>
          <p:cNvPr id="7" name="矩形 8">
            <a:extLst>
              <a:ext uri="{FF2B5EF4-FFF2-40B4-BE49-F238E27FC236}">
                <a16:creationId xmlns:a16="http://schemas.microsoft.com/office/drawing/2014/main" id="{68CA7091-1B39-4987-80CE-319770F0AA8A}"/>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a:extLst>
              <a:ext uri="{FF2B5EF4-FFF2-40B4-BE49-F238E27FC236}">
                <a16:creationId xmlns:a16="http://schemas.microsoft.com/office/drawing/2014/main" id="{20446F60-4A42-5EAF-249E-C478EFCF3DBA}"/>
              </a:ext>
            </a:extLst>
          </p:cNvPr>
          <p:cNvGraphicFramePr>
            <a:graphicFrameLocks noGrp="1"/>
          </p:cNvGraphicFramePr>
          <p:nvPr>
            <p:extLst>
              <p:ext uri="{D42A27DB-BD31-4B8C-83A1-F6EECF244321}">
                <p14:modId xmlns:p14="http://schemas.microsoft.com/office/powerpoint/2010/main" val="4051320161"/>
              </p:ext>
            </p:extLst>
          </p:nvPr>
        </p:nvGraphicFramePr>
        <p:xfrm>
          <a:off x="609600" y="1295400"/>
          <a:ext cx="9220200" cy="4686560"/>
        </p:xfrm>
        <a:graphic>
          <a:graphicData uri="http://schemas.openxmlformats.org/drawingml/2006/table">
            <a:tbl>
              <a:tblPr firstRow="1" bandRow="1">
                <a:tableStyleId>{5C22544A-7EE6-4342-B048-85BDC9FD1C3A}</a:tableStyleId>
              </a:tblPr>
              <a:tblGrid>
                <a:gridCol w="4610100">
                  <a:extLst>
                    <a:ext uri="{9D8B030D-6E8A-4147-A177-3AD203B41FA5}">
                      <a16:colId xmlns:a16="http://schemas.microsoft.com/office/drawing/2014/main" val="1401189003"/>
                    </a:ext>
                  </a:extLst>
                </a:gridCol>
                <a:gridCol w="4610100">
                  <a:extLst>
                    <a:ext uri="{9D8B030D-6E8A-4147-A177-3AD203B41FA5}">
                      <a16:colId xmlns:a16="http://schemas.microsoft.com/office/drawing/2014/main" val="1902916733"/>
                    </a:ext>
                  </a:extLst>
                </a:gridCol>
              </a:tblGrid>
              <a:tr h="461682">
                <a:tc>
                  <a:txBody>
                    <a:bodyPr/>
                    <a:lstStyle/>
                    <a:p>
                      <a:pPr algn="ctr">
                        <a:defRPr b="1"/>
                      </a:pPr>
                      <a:r>
                        <a:rPr dirty="0" err="1"/>
                        <a:t>Bagging（装袋法</a:t>
                      </a:r>
                      <a:r>
                        <a:rPr dirty="0"/>
                        <a:t>）</a:t>
                      </a:r>
                    </a:p>
                  </a:txBody>
                  <a:tcPr/>
                </a:tc>
                <a:tc>
                  <a:txBody>
                    <a:bodyPr/>
                    <a:lstStyle/>
                    <a:p>
                      <a:pPr algn="ctr">
                        <a:defRPr b="1"/>
                      </a:pPr>
                      <a:r>
                        <a:t>Boosting（提升法）</a:t>
                      </a:r>
                    </a:p>
                  </a:txBody>
                  <a:tcPr/>
                </a:tc>
                <a:extLst>
                  <a:ext uri="{0D108BD9-81ED-4DB2-BD59-A6C34878D82A}">
                    <a16:rowId xmlns:a16="http://schemas.microsoft.com/office/drawing/2014/main" val="4258890310"/>
                  </a:ext>
                </a:extLst>
              </a:tr>
              <a:tr h="461682">
                <a:tc>
                  <a:txBody>
                    <a:bodyPr/>
                    <a:lstStyle/>
                    <a:p>
                      <a:r>
                        <a:rPr dirty="0" err="1"/>
                        <a:t>同类型模型的简单组合</a:t>
                      </a:r>
                      <a:endParaRPr dirty="0"/>
                    </a:p>
                  </a:txBody>
                  <a:tcPr/>
                </a:tc>
                <a:tc>
                  <a:txBody>
                    <a:bodyPr/>
                    <a:lstStyle/>
                    <a:p>
                      <a:r>
                        <a:rPr dirty="0" err="1"/>
                        <a:t>不同类型模型的加权组合</a:t>
                      </a:r>
                      <a:endParaRPr dirty="0"/>
                    </a:p>
                  </a:txBody>
                  <a:tcPr/>
                </a:tc>
                <a:extLst>
                  <a:ext uri="{0D108BD9-81ED-4DB2-BD59-A6C34878D82A}">
                    <a16:rowId xmlns:a16="http://schemas.microsoft.com/office/drawing/2014/main" val="1128213312"/>
                  </a:ext>
                </a:extLst>
              </a:tr>
              <a:tr h="461682">
                <a:tc>
                  <a:txBody>
                    <a:bodyPr/>
                    <a:lstStyle/>
                    <a:p>
                      <a:r>
                        <a:rPr dirty="0" err="1"/>
                        <a:t>降低方差</a:t>
                      </a:r>
                      <a:endParaRPr dirty="0"/>
                    </a:p>
                  </a:txBody>
                  <a:tcPr/>
                </a:tc>
                <a:tc>
                  <a:txBody>
                    <a:bodyPr/>
                    <a:lstStyle/>
                    <a:p>
                      <a:r>
                        <a:rPr dirty="0" err="1"/>
                        <a:t>降低偏差</a:t>
                      </a:r>
                      <a:endParaRPr dirty="0"/>
                    </a:p>
                  </a:txBody>
                  <a:tcPr/>
                </a:tc>
                <a:extLst>
                  <a:ext uri="{0D108BD9-81ED-4DB2-BD59-A6C34878D82A}">
                    <a16:rowId xmlns:a16="http://schemas.microsoft.com/office/drawing/2014/main" val="995657058"/>
                  </a:ext>
                </a:extLst>
              </a:tr>
              <a:tr h="461682">
                <a:tc>
                  <a:txBody>
                    <a:bodyPr/>
                    <a:lstStyle/>
                    <a:p>
                      <a:r>
                        <a:rPr dirty="0" err="1"/>
                        <a:t>各模型权重相同</a:t>
                      </a:r>
                      <a:endParaRPr dirty="0"/>
                    </a:p>
                  </a:txBody>
                  <a:tcPr/>
                </a:tc>
                <a:tc>
                  <a:txBody>
                    <a:bodyPr/>
                    <a:lstStyle/>
                    <a:p>
                      <a:r>
                        <a:rPr dirty="0" err="1"/>
                        <a:t>权重依性能调整</a:t>
                      </a:r>
                      <a:endParaRPr dirty="0"/>
                    </a:p>
                  </a:txBody>
                  <a:tcPr/>
                </a:tc>
                <a:extLst>
                  <a:ext uri="{0D108BD9-81ED-4DB2-BD59-A6C34878D82A}">
                    <a16:rowId xmlns:a16="http://schemas.microsoft.com/office/drawing/2014/main" val="3661246422"/>
                  </a:ext>
                </a:extLst>
              </a:tr>
              <a:tr h="461682">
                <a:tc>
                  <a:txBody>
                    <a:bodyPr/>
                    <a:lstStyle/>
                    <a:p>
                      <a:r>
                        <a:rPr dirty="0" err="1"/>
                        <a:t>模型独立训练</a:t>
                      </a:r>
                      <a:endParaRPr dirty="0"/>
                    </a:p>
                  </a:txBody>
                  <a:tcPr/>
                </a:tc>
                <a:tc>
                  <a:txBody>
                    <a:bodyPr/>
                    <a:lstStyle/>
                    <a:p>
                      <a:r>
                        <a:rPr dirty="0" err="1"/>
                        <a:t>模型相互依赖训练</a:t>
                      </a:r>
                      <a:endParaRPr dirty="0"/>
                    </a:p>
                  </a:txBody>
                  <a:tcPr/>
                </a:tc>
                <a:extLst>
                  <a:ext uri="{0D108BD9-81ED-4DB2-BD59-A6C34878D82A}">
                    <a16:rowId xmlns:a16="http://schemas.microsoft.com/office/drawing/2014/main" val="369461901"/>
                  </a:ext>
                </a:extLst>
              </a:tr>
              <a:tr h="510990">
                <a:tc>
                  <a:txBody>
                    <a:bodyPr/>
                    <a:lstStyle/>
                    <a:p>
                      <a:r>
                        <a:rPr dirty="0" err="1"/>
                        <a:t>有放回抽样获取训练子集</a:t>
                      </a:r>
                      <a:endParaRPr dirty="0"/>
                    </a:p>
                  </a:txBody>
                  <a:tcPr/>
                </a:tc>
                <a:tc>
                  <a:txBody>
                    <a:bodyPr/>
                    <a:lstStyle/>
                    <a:p>
                      <a:r>
                        <a:rPr dirty="0" err="1"/>
                        <a:t>迭代训练，纠正前一模型错误</a:t>
                      </a:r>
                      <a:endParaRPr dirty="0"/>
                    </a:p>
                  </a:txBody>
                  <a:tcPr/>
                </a:tc>
                <a:extLst>
                  <a:ext uri="{0D108BD9-81ED-4DB2-BD59-A6C34878D82A}">
                    <a16:rowId xmlns:a16="http://schemas.microsoft.com/office/drawing/2014/main" val="2345409459"/>
                  </a:ext>
                </a:extLst>
              </a:tr>
              <a:tr h="478621">
                <a:tc>
                  <a:txBody>
                    <a:bodyPr/>
                    <a:lstStyle/>
                    <a:p>
                      <a:r>
                        <a:t>解决过拟合问题</a:t>
                      </a:r>
                    </a:p>
                  </a:txBody>
                  <a:tcPr/>
                </a:tc>
                <a:tc>
                  <a:txBody>
                    <a:bodyPr/>
                    <a:lstStyle/>
                    <a:p>
                      <a:r>
                        <a:rPr dirty="0" err="1"/>
                        <a:t>减少模型偏差</a:t>
                      </a:r>
                      <a:endParaRPr dirty="0"/>
                    </a:p>
                  </a:txBody>
                  <a:tcPr/>
                </a:tc>
                <a:extLst>
                  <a:ext uri="{0D108BD9-81ED-4DB2-BD59-A6C34878D82A}">
                    <a16:rowId xmlns:a16="http://schemas.microsoft.com/office/drawing/2014/main" val="344488389"/>
                  </a:ext>
                </a:extLst>
              </a:tr>
              <a:tr h="461682">
                <a:tc>
                  <a:txBody>
                    <a:bodyPr/>
                    <a:lstStyle/>
                    <a:p>
                      <a:r>
                        <a:rPr dirty="0" err="1"/>
                        <a:t>适用于高方差模型</a:t>
                      </a:r>
                      <a:endParaRPr dirty="0"/>
                    </a:p>
                  </a:txBody>
                  <a:tcPr/>
                </a:tc>
                <a:tc>
                  <a:txBody>
                    <a:bodyPr/>
                    <a:lstStyle/>
                    <a:p>
                      <a:r>
                        <a:rPr dirty="0" err="1"/>
                        <a:t>适用于高偏差模型</a:t>
                      </a:r>
                      <a:endParaRPr dirty="0"/>
                    </a:p>
                  </a:txBody>
                  <a:tcPr/>
                </a:tc>
                <a:extLst>
                  <a:ext uri="{0D108BD9-81ED-4DB2-BD59-A6C34878D82A}">
                    <a16:rowId xmlns:a16="http://schemas.microsoft.com/office/drawing/2014/main" val="3409219011"/>
                  </a:ext>
                </a:extLst>
              </a:tr>
              <a:tr h="461682">
                <a:tc>
                  <a:txBody>
                    <a:bodyPr/>
                    <a:lstStyle/>
                    <a:p>
                      <a:r>
                        <a:rPr dirty="0" err="1"/>
                        <a:t>并行训练</a:t>
                      </a:r>
                      <a:endParaRPr dirty="0"/>
                    </a:p>
                  </a:txBody>
                  <a:tcPr/>
                </a:tc>
                <a:tc>
                  <a:txBody>
                    <a:bodyPr/>
                    <a:lstStyle/>
                    <a:p>
                      <a:r>
                        <a:rPr dirty="0" err="1"/>
                        <a:t>串行训练</a:t>
                      </a:r>
                      <a:endParaRPr dirty="0"/>
                    </a:p>
                  </a:txBody>
                  <a:tcPr/>
                </a:tc>
                <a:extLst>
                  <a:ext uri="{0D108BD9-81ED-4DB2-BD59-A6C34878D82A}">
                    <a16:rowId xmlns:a16="http://schemas.microsoft.com/office/drawing/2014/main" val="421208028"/>
                  </a:ext>
                </a:extLst>
              </a:tr>
              <a:tr h="465175">
                <a:tc>
                  <a:txBody>
                    <a:bodyPr/>
                    <a:lstStyle/>
                    <a:p>
                      <a:r>
                        <a:rPr dirty="0" err="1"/>
                        <a:t>示例：随机森林（Random</a:t>
                      </a:r>
                      <a:r>
                        <a:rPr dirty="0"/>
                        <a:t> Forest）</a:t>
                      </a:r>
                    </a:p>
                  </a:txBody>
                  <a:tcPr/>
                </a:tc>
                <a:tc>
                  <a:txBody>
                    <a:bodyPr/>
                    <a:lstStyle/>
                    <a:p>
                      <a:r>
                        <a:rPr dirty="0" err="1"/>
                        <a:t>示例：AdaBoost</a:t>
                      </a:r>
                      <a:endParaRPr dirty="0"/>
                    </a:p>
                  </a:txBody>
                  <a:tcPr/>
                </a:tc>
                <a:extLst>
                  <a:ext uri="{0D108BD9-81ED-4DB2-BD59-A6C34878D82A}">
                    <a16:rowId xmlns:a16="http://schemas.microsoft.com/office/drawing/2014/main" val="2885314473"/>
                  </a:ext>
                </a:extLst>
              </a:tr>
            </a:tbl>
          </a:graphicData>
        </a:graphic>
      </p:graphicFrame>
    </p:spTree>
    <p:extLst>
      <p:ext uri="{BB962C8B-B14F-4D97-AF65-F5344CB8AC3E}">
        <p14:creationId xmlns:p14="http://schemas.microsoft.com/office/powerpoint/2010/main" val="3890347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F160E-43C2-E651-A1BF-77DA42EFC5BA}"/>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3AE42703-163C-5BC4-88A9-D74CD5971594}"/>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8</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50C919A6-37D8-CBE1-636F-7DCB6740A560}"/>
              </a:ext>
            </a:extLst>
          </p:cNvPr>
          <p:cNvSpPr txBox="1"/>
          <p:nvPr/>
        </p:nvSpPr>
        <p:spPr>
          <a:xfrm>
            <a:off x="911521" y="409110"/>
            <a:ext cx="7552067"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二、随机森林算法：</a:t>
            </a:r>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bagging+</a:t>
            </a:r>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决策树</a:t>
            </a:r>
            <a:endParaRPr lang="zh-CN" altLang="en-US" sz="3600" dirty="0">
              <a:solidFill>
                <a:srgbClr val="115522"/>
              </a:solidFill>
              <a:latin typeface="微软雅黑" panose="020B0503020204020204" pitchFamily="34" charset="-122"/>
              <a:ea typeface="微软雅黑" panose="020B0503020204020204" pitchFamily="34" charset="-122"/>
            </a:endParaRPr>
          </a:p>
        </p:txBody>
      </p:sp>
      <p:sp>
        <p:nvSpPr>
          <p:cNvPr id="7" name="矩形 8">
            <a:extLst>
              <a:ext uri="{FF2B5EF4-FFF2-40B4-BE49-F238E27FC236}">
                <a16:creationId xmlns:a16="http://schemas.microsoft.com/office/drawing/2014/main" id="{414CFEBE-AD33-A36E-3121-E9D03825A43F}"/>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98" name="Picture 2">
            <a:extLst>
              <a:ext uri="{FF2B5EF4-FFF2-40B4-BE49-F238E27FC236}">
                <a16:creationId xmlns:a16="http://schemas.microsoft.com/office/drawing/2014/main" id="{A48642DC-6BF1-6360-C8BB-81E21C9AC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103537"/>
            <a:ext cx="6089650" cy="560206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F4E6C388-0A38-58A1-24C3-CBB64D2C9FA7}"/>
              </a:ext>
            </a:extLst>
          </p:cNvPr>
          <p:cNvSpPr txBox="1"/>
          <p:nvPr/>
        </p:nvSpPr>
        <p:spPr>
          <a:xfrm>
            <a:off x="8686800" y="1447800"/>
            <a:ext cx="2971800" cy="4175502"/>
          </a:xfrm>
          <a:prstGeom prst="rect">
            <a:avLst/>
          </a:prstGeom>
          <a:noFill/>
        </p:spPr>
        <p:txBody>
          <a:bodyPr wrap="square">
            <a:spAutoFit/>
          </a:bodyPr>
          <a:lstStyle/>
          <a:p>
            <a:pPr algn="l">
              <a:spcAft>
                <a:spcPts val="750"/>
              </a:spcAft>
              <a:buFont typeface="Arial" panose="020B0604020202020204" pitchFamily="34" charset="0"/>
              <a:buChar char="•"/>
            </a:pPr>
            <a:r>
              <a:rPr lang="en-US" altLang="zh-CN" b="1" i="0" dirty="0">
                <a:solidFill>
                  <a:srgbClr val="333333"/>
                </a:solidFill>
                <a:effectLst/>
                <a:latin typeface="Times New Roman" panose="02020603050405020304" pitchFamily="18" charset="0"/>
                <a:cs typeface="Times New Roman" panose="02020603050405020304" pitchFamily="18" charset="0"/>
              </a:rPr>
              <a:t>bagging</a:t>
            </a:r>
            <a:r>
              <a:rPr lang="zh-CN" altLang="en-US" b="0" i="0" dirty="0">
                <a:solidFill>
                  <a:srgbClr val="333333"/>
                </a:solidFill>
                <a:effectLst/>
                <a:latin typeface="Times New Roman" panose="02020603050405020304" pitchFamily="18" charset="0"/>
                <a:cs typeface="Times New Roman" panose="02020603050405020304" pitchFamily="18" charset="0"/>
              </a:rPr>
              <a:t>：减少不同数据集对应模型的方差。因为是投票机制，所以有平均的功效。</a:t>
            </a:r>
          </a:p>
          <a:p>
            <a:pPr algn="l">
              <a:spcAft>
                <a:spcPts val="750"/>
              </a:spcAft>
              <a:buFont typeface="Arial" panose="020B0604020202020204" pitchFamily="34" charset="0"/>
              <a:buChar char="•"/>
            </a:pPr>
            <a:r>
              <a:rPr lang="zh-CN" altLang="en-US" b="1" i="0" dirty="0">
                <a:solidFill>
                  <a:srgbClr val="333333"/>
                </a:solidFill>
                <a:effectLst/>
                <a:latin typeface="Times New Roman" panose="02020603050405020304" pitchFamily="18" charset="0"/>
                <a:cs typeface="Times New Roman" panose="02020603050405020304" pitchFamily="18" charset="0"/>
              </a:rPr>
              <a:t>决策树</a:t>
            </a:r>
            <a:r>
              <a:rPr lang="zh-CN" altLang="en-US" b="0" i="0" dirty="0">
                <a:solidFill>
                  <a:srgbClr val="333333"/>
                </a:solidFill>
                <a:effectLst/>
                <a:latin typeface="Times New Roman" panose="02020603050405020304" pitchFamily="18" charset="0"/>
                <a:cs typeface="Times New Roman" panose="02020603050405020304" pitchFamily="18" charset="0"/>
              </a:rPr>
              <a:t>：增大不同的分支模型的方差。数据集进行切割，分支包含样本数在减少，所以不同的分支模型对不同的数据集会比较敏感，得到较大的方差。</a:t>
            </a:r>
          </a:p>
          <a:p>
            <a:pPr>
              <a:spcAft>
                <a:spcPts val="750"/>
              </a:spcAft>
              <a:buFont typeface="Arial" panose="020B0604020202020204" pitchFamily="34" charset="0"/>
              <a:buChar char="•"/>
            </a:pPr>
            <a:r>
              <a:rPr lang="zh-CN" altLang="en-US" b="1" dirty="0">
                <a:solidFill>
                  <a:srgbClr val="333333"/>
                </a:solidFill>
                <a:latin typeface="Times New Roman" panose="02020603050405020304" pitchFamily="18" charset="0"/>
                <a:cs typeface="Times New Roman" panose="02020603050405020304" pitchFamily="18" charset="0"/>
              </a:rPr>
              <a:t>两者</a:t>
            </a:r>
            <a:r>
              <a:rPr lang="zh-CN" altLang="en-US" b="1" i="0" dirty="0">
                <a:solidFill>
                  <a:srgbClr val="333333"/>
                </a:solidFill>
                <a:effectLst/>
                <a:latin typeface="Times New Roman" panose="02020603050405020304" pitchFamily="18" charset="0"/>
                <a:cs typeface="Times New Roman" panose="02020603050405020304" pitchFamily="18" charset="0"/>
              </a:rPr>
              <a:t>结合</a:t>
            </a:r>
            <a:r>
              <a:rPr lang="zh-CN" altLang="en-US" b="0" i="0" dirty="0">
                <a:solidFill>
                  <a:srgbClr val="333333"/>
                </a:solidFill>
                <a:effectLst/>
                <a:latin typeface="Times New Roman" panose="02020603050405020304" pitchFamily="18" charset="0"/>
                <a:cs typeface="Times New Roman" panose="02020603050405020304" pitchFamily="18" charset="0"/>
              </a:rPr>
              <a:t>：随机森林算法，将完全长成的</a:t>
            </a:r>
            <a:r>
              <a:rPr lang="en-US" altLang="zh-CN" b="0" i="0" dirty="0">
                <a:solidFill>
                  <a:srgbClr val="333333"/>
                </a:solidFill>
                <a:effectLst/>
                <a:latin typeface="Times New Roman" panose="02020603050405020304" pitchFamily="18" charset="0"/>
                <a:cs typeface="Times New Roman" panose="02020603050405020304" pitchFamily="18" charset="0"/>
              </a:rPr>
              <a:t>CART</a:t>
            </a:r>
            <a:r>
              <a:rPr lang="zh-CN" altLang="en-US" b="0" i="0" dirty="0">
                <a:solidFill>
                  <a:srgbClr val="333333"/>
                </a:solidFill>
                <a:effectLst/>
                <a:latin typeface="Times New Roman" panose="02020603050405020304" pitchFamily="18" charset="0"/>
                <a:cs typeface="Times New Roman" panose="02020603050405020304" pitchFamily="18" charset="0"/>
              </a:rPr>
              <a:t>决策树通过</a:t>
            </a:r>
            <a:r>
              <a:rPr lang="en-US" altLang="zh-CN" b="0" i="0" dirty="0">
                <a:solidFill>
                  <a:srgbClr val="333333"/>
                </a:solidFill>
                <a:effectLst/>
                <a:latin typeface="Times New Roman" panose="02020603050405020304" pitchFamily="18" charset="0"/>
                <a:cs typeface="Times New Roman" panose="02020603050405020304" pitchFamily="18" charset="0"/>
              </a:rPr>
              <a:t>bagging</a:t>
            </a:r>
            <a:r>
              <a:rPr lang="zh-CN" altLang="en-US" b="0" i="0" dirty="0">
                <a:solidFill>
                  <a:srgbClr val="333333"/>
                </a:solidFill>
                <a:effectLst/>
                <a:latin typeface="Times New Roman" panose="02020603050405020304" pitchFamily="18" charset="0"/>
                <a:cs typeface="Times New Roman" panose="02020603050405020304" pitchFamily="18" charset="0"/>
              </a:rPr>
              <a:t>的形式结合起来，得到一个庞大的决策模型。</a:t>
            </a:r>
          </a:p>
        </p:txBody>
      </p:sp>
    </p:spTree>
    <p:extLst>
      <p:ext uri="{BB962C8B-B14F-4D97-AF65-F5344CB8AC3E}">
        <p14:creationId xmlns:p14="http://schemas.microsoft.com/office/powerpoint/2010/main" val="509993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6EFBB-83C7-4992-7E91-BCC9D48098DC}"/>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34260678-FC97-95B4-7C1F-A5D448914149}"/>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9</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43B43359-EB36-0A2D-BF78-120983F942C2}"/>
              </a:ext>
            </a:extLst>
          </p:cNvPr>
          <p:cNvSpPr txBox="1"/>
          <p:nvPr/>
        </p:nvSpPr>
        <p:spPr>
          <a:xfrm>
            <a:off x="911521" y="409110"/>
            <a:ext cx="5724644"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二、随机森林算法的优点：</a:t>
            </a:r>
            <a:endParaRPr lang="zh-CN" altLang="en-US" sz="3600" dirty="0">
              <a:solidFill>
                <a:srgbClr val="115522"/>
              </a:solidFill>
              <a:latin typeface="微软雅黑" panose="020B0503020204020204" pitchFamily="34" charset="-122"/>
              <a:ea typeface="微软雅黑" panose="020B0503020204020204" pitchFamily="34" charset="-122"/>
            </a:endParaRPr>
          </a:p>
        </p:txBody>
      </p:sp>
      <p:sp>
        <p:nvSpPr>
          <p:cNvPr id="7" name="矩形 8">
            <a:extLst>
              <a:ext uri="{FF2B5EF4-FFF2-40B4-BE49-F238E27FC236}">
                <a16:creationId xmlns:a16="http://schemas.microsoft.com/office/drawing/2014/main" id="{CABF2024-7CBE-1767-9DF0-41BD611B420A}"/>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CC5A05E0-877D-2443-5243-2F5B065E2FE5}"/>
              </a:ext>
            </a:extLst>
          </p:cNvPr>
          <p:cNvSpPr txBox="1"/>
          <p:nvPr/>
        </p:nvSpPr>
        <p:spPr>
          <a:xfrm>
            <a:off x="1447800" y="1219201"/>
            <a:ext cx="8991600" cy="5151538"/>
          </a:xfrm>
          <a:prstGeom prst="rect">
            <a:avLst/>
          </a:prstGeom>
          <a:noFill/>
        </p:spPr>
        <p:txBody>
          <a:bodyPr wrap="square">
            <a:spAutoFit/>
          </a:bodyPr>
          <a:lstStyle/>
          <a:p>
            <a:pPr marL="742950" lvl="1" indent="-285750" algn="l">
              <a:lnSpc>
                <a:spcPct val="150000"/>
              </a:lnSpc>
              <a:spcAft>
                <a:spcPts val="750"/>
              </a:spcAft>
              <a:buFont typeface="Arial" panose="020B0604020202020204" pitchFamily="34" charset="0"/>
              <a:buChar char="•"/>
            </a:pPr>
            <a:r>
              <a:rPr lang="zh-CN" altLang="en-US" sz="2400" b="1" i="0" dirty="0">
                <a:solidFill>
                  <a:srgbClr val="0000FF"/>
                </a:solidFill>
                <a:effectLst/>
                <a:latin typeface="Times New Roman" panose="02020603050405020304" pitchFamily="18" charset="0"/>
                <a:ea typeface="微软雅黑" panose="020B0503020204020204" pitchFamily="34" charset="-122"/>
                <a:cs typeface="Times New Roman" panose="02020603050405020304" pitchFamily="18" charset="0"/>
              </a:rPr>
              <a:t>效率高</a:t>
            </a: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：不同决策树可以由不同主机并行训练生成</a:t>
            </a:r>
          </a:p>
          <a:p>
            <a:pPr marL="742950" lvl="1" indent="-285750" algn="l">
              <a:lnSpc>
                <a:spcPct val="150000"/>
              </a:lnSpc>
              <a:spcAft>
                <a:spcPts val="750"/>
              </a:spcAft>
              <a:buFont typeface="Arial" panose="020B0604020202020204" pitchFamily="34" charset="0"/>
              <a:buChar char="•"/>
            </a:pPr>
            <a:r>
              <a:rPr lang="zh-CN" altLang="en-US" sz="2400" b="1" i="0" dirty="0">
                <a:solidFill>
                  <a:srgbClr val="0000FF"/>
                </a:solidFill>
                <a:effectLst/>
                <a:latin typeface="Times New Roman" panose="02020603050405020304" pitchFamily="18" charset="0"/>
                <a:ea typeface="微软雅黑" panose="020B0503020204020204" pitchFamily="34" charset="-122"/>
                <a:cs typeface="Times New Roman" panose="02020603050405020304" pitchFamily="18" charset="0"/>
              </a:rPr>
              <a:t>继承了</a:t>
            </a:r>
            <a:r>
              <a:rPr lang="en-US" altLang="zh-CN" sz="2400" b="1" i="0" dirty="0">
                <a:solidFill>
                  <a:srgbClr val="0000FF"/>
                </a:solidFill>
                <a:effectLst/>
                <a:latin typeface="Times New Roman" panose="02020603050405020304" pitchFamily="18" charset="0"/>
                <a:ea typeface="微软雅黑" panose="020B0503020204020204" pitchFamily="34" charset="-122"/>
                <a:cs typeface="Times New Roman" panose="02020603050405020304" pitchFamily="18" charset="0"/>
              </a:rPr>
              <a:t>CART</a:t>
            </a:r>
            <a:r>
              <a:rPr lang="zh-CN" altLang="en-US" sz="2400" b="1" i="0" dirty="0">
                <a:solidFill>
                  <a:srgbClr val="0000FF"/>
                </a:solidFill>
                <a:effectLst/>
                <a:latin typeface="Times New Roman" panose="02020603050405020304" pitchFamily="18" charset="0"/>
                <a:ea typeface="微软雅黑" panose="020B0503020204020204" pitchFamily="34" charset="-122"/>
                <a:cs typeface="Times New Roman" panose="02020603050405020304" pitchFamily="18" charset="0"/>
              </a:rPr>
              <a:t>的优点</a:t>
            </a:r>
          </a:p>
          <a:p>
            <a:pPr marL="742950" lvl="1" indent="-285750" algn="l">
              <a:lnSpc>
                <a:spcPct val="150000"/>
              </a:lnSpc>
              <a:spcAft>
                <a:spcPts val="1125"/>
              </a:spcAft>
              <a:buFont typeface="Arial" panose="020B0604020202020204" pitchFamily="34" charset="0"/>
              <a:buChar char="•"/>
            </a:pPr>
            <a:r>
              <a:rPr lang="zh-CN" altLang="en-US" sz="2400" b="1" i="0" dirty="0">
                <a:solidFill>
                  <a:srgbClr val="0000FF"/>
                </a:solidFill>
                <a:effectLst/>
                <a:latin typeface="Times New Roman" panose="02020603050405020304" pitchFamily="18" charset="0"/>
                <a:ea typeface="微软雅黑" panose="020B0503020204020204" pitchFamily="34" charset="-122"/>
                <a:cs typeface="Times New Roman" panose="02020603050405020304" pitchFamily="18" charset="0"/>
              </a:rPr>
              <a:t>将所有决策树通过</a:t>
            </a:r>
            <a:r>
              <a:rPr lang="en-US" altLang="zh-CN" sz="2400" b="1" i="0" dirty="0">
                <a:solidFill>
                  <a:srgbClr val="0000FF"/>
                </a:solidFill>
                <a:effectLst/>
                <a:latin typeface="Times New Roman" panose="02020603050405020304" pitchFamily="18" charset="0"/>
                <a:ea typeface="微软雅黑" panose="020B0503020204020204" pitchFamily="34" charset="-122"/>
                <a:cs typeface="Times New Roman" panose="02020603050405020304" pitchFamily="18" charset="0"/>
              </a:rPr>
              <a:t>bagging</a:t>
            </a:r>
            <a:r>
              <a:rPr lang="zh-CN" altLang="en-US" sz="2400" b="1" i="0" dirty="0">
                <a:solidFill>
                  <a:srgbClr val="0000FF"/>
                </a:solidFill>
                <a:effectLst/>
                <a:latin typeface="Times New Roman" panose="02020603050405020304" pitchFamily="18" charset="0"/>
                <a:ea typeface="微软雅黑" panose="020B0503020204020204" pitchFamily="34" charset="-122"/>
                <a:cs typeface="Times New Roman" panose="02020603050405020304" pitchFamily="18" charset="0"/>
              </a:rPr>
              <a:t>的形式结合起来，避免单个决策树造成过拟合</a:t>
            </a:r>
            <a:endParaRPr lang="en-US" altLang="zh-CN" sz="2400" b="1" i="0" dirty="0">
              <a:solidFill>
                <a:srgbClr val="0000FF"/>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a:lnSpc>
                <a:spcPct val="150000"/>
              </a:lnSpc>
              <a:spcAft>
                <a:spcPts val="1125"/>
              </a:spcAft>
              <a:buFont typeface="Arial" panose="020B0604020202020204" pitchFamily="34" charset="0"/>
              <a:buChar char="•"/>
            </a:pPr>
            <a:endParaRPr lang="zh-CN" altLang="en-US" sz="2400" b="1"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a:lnSpc>
                <a:spcPct val="150000"/>
              </a:lnSpc>
              <a:spcAft>
                <a:spcPts val="750"/>
              </a:spcAft>
              <a:buFont typeface="Arial" panose="020B0604020202020204" pitchFamily="34" charset="0"/>
              <a:buChar char="•"/>
            </a:pP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在随机森林中，树的个数越多，模型稳定性表现越好</a:t>
            </a:r>
          </a:p>
          <a:p>
            <a:pPr marL="742950" lvl="1" indent="-285750" algn="l">
              <a:lnSpc>
                <a:spcPct val="150000"/>
              </a:lnSpc>
              <a:spcAft>
                <a:spcPts val="750"/>
              </a:spcAft>
              <a:buFont typeface="Arial" panose="020B0604020202020204" pitchFamily="34" charset="0"/>
              <a:buChar char="•"/>
            </a:pP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实际应用中，尽可能选择更多的树</a:t>
            </a:r>
          </a:p>
          <a:p>
            <a:pPr marL="742950" lvl="1" indent="-285750" algn="l">
              <a:lnSpc>
                <a:spcPct val="150000"/>
              </a:lnSpc>
              <a:spcAft>
                <a:spcPts val="750"/>
              </a:spcAft>
              <a:buFont typeface="Arial" panose="020B0604020202020204" pitchFamily="34" charset="0"/>
              <a:buChar char="•"/>
            </a:pP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可能与</a:t>
            </a:r>
            <a:r>
              <a:rPr lang="en-US" altLang="zh-CN"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random seed</a:t>
            </a: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有关：初始化值的影响</a:t>
            </a:r>
          </a:p>
        </p:txBody>
      </p:sp>
    </p:spTree>
    <p:extLst>
      <p:ext uri="{BB962C8B-B14F-4D97-AF65-F5344CB8AC3E}">
        <p14:creationId xmlns:p14="http://schemas.microsoft.com/office/powerpoint/2010/main" val="4148852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89454-7E42-5FBE-55AD-962FC1CF6B2C}"/>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077FCDC4-76CF-6011-DF5E-36C24B76BB9C}"/>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10</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737E60A4-F310-D345-433D-5841BBE8B0E2}"/>
              </a:ext>
            </a:extLst>
          </p:cNvPr>
          <p:cNvSpPr txBox="1"/>
          <p:nvPr/>
        </p:nvSpPr>
        <p:spPr>
          <a:xfrm>
            <a:off x="911521" y="409110"/>
            <a:ext cx="7345281"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三</a:t>
            </a:r>
            <a:r>
              <a:rPr lang="zh-CN" altLang="en-US" sz="3600" b="1" dirty="0">
                <a:solidFill>
                  <a:srgbClr val="115522"/>
                </a:solidFill>
                <a:latin typeface="微软雅黑" panose="020B0503020204020204" pitchFamily="34" charset="-122"/>
                <a:ea typeface="微软雅黑" panose="020B0503020204020204" pitchFamily="34" charset="-122"/>
              </a:rPr>
              <a:t>、</a:t>
            </a:r>
            <a:r>
              <a:rPr lang="en-US" altLang="zh-CN" sz="3600" b="1" dirty="0">
                <a:solidFill>
                  <a:srgbClr val="115522"/>
                </a:solidFill>
                <a:latin typeface="微软雅黑" panose="020B0503020204020204" pitchFamily="34" charset="-122"/>
                <a:ea typeface="微软雅黑" panose="020B0503020204020204" pitchFamily="34" charset="-122"/>
              </a:rPr>
              <a:t> Out-Of-Bag(OOB) </a:t>
            </a:r>
            <a:r>
              <a:rPr lang="zh-CN" altLang="en-US" sz="3600" b="1" dirty="0">
                <a:solidFill>
                  <a:srgbClr val="115522"/>
                </a:solidFill>
                <a:latin typeface="微软雅黑" panose="020B0503020204020204" pitchFamily="34" charset="-122"/>
                <a:ea typeface="微软雅黑" panose="020B0503020204020204" pitchFamily="34" charset="-122"/>
              </a:rPr>
              <a:t>误差估计</a:t>
            </a:r>
          </a:p>
        </p:txBody>
      </p:sp>
      <p:sp>
        <p:nvSpPr>
          <p:cNvPr id="7" name="矩形 8">
            <a:extLst>
              <a:ext uri="{FF2B5EF4-FFF2-40B4-BE49-F238E27FC236}">
                <a16:creationId xmlns:a16="http://schemas.microsoft.com/office/drawing/2014/main" id="{61BF4941-B40B-EDB2-1BA1-238591E93963}"/>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7AFCD3F-0131-E23B-68B9-DE9988B4203F}"/>
              </a:ext>
            </a:extLst>
          </p:cNvPr>
          <p:cNvSpPr txBox="1"/>
          <p:nvPr/>
        </p:nvSpPr>
        <p:spPr>
          <a:xfrm>
            <a:off x="1033509" y="1055441"/>
            <a:ext cx="10808563" cy="662554"/>
          </a:xfrm>
          <a:prstGeom prst="rect">
            <a:avLst/>
          </a:prstGeom>
          <a:noFill/>
        </p:spPr>
        <p:txBody>
          <a:bodyPr wrap="square">
            <a:spAutoFit/>
          </a:bodyPr>
          <a:lstStyle/>
          <a:p>
            <a:pPr>
              <a:lnSpc>
                <a:spcPct val="150000"/>
              </a:lnSpc>
              <a:spcAft>
                <a:spcPts val="600"/>
              </a:spcAft>
            </a:pPr>
            <a:r>
              <a:rPr lang="zh-CN" altLang="en-US" sz="2800" b="1" dirty="0">
                <a:solidFill>
                  <a:srgbClr val="115522"/>
                </a:solidFill>
                <a:latin typeface="微软雅黑" panose="020B0503020204020204" pitchFamily="34" charset="-122"/>
                <a:ea typeface="微软雅黑" panose="020B0503020204020204" pitchFamily="34" charset="-122"/>
              </a:rPr>
              <a:t>大约</a:t>
            </a:r>
            <a:r>
              <a:rPr lang="en-US" altLang="zh-CN" sz="2800" b="1" dirty="0">
                <a:solidFill>
                  <a:srgbClr val="115522"/>
                </a:solidFill>
                <a:latin typeface="微软雅黑" panose="020B0503020204020204" pitchFamily="34" charset="-122"/>
                <a:ea typeface="微软雅黑" panose="020B0503020204020204" pitchFamily="34" charset="-122"/>
              </a:rPr>
              <a:t>1/3</a:t>
            </a:r>
            <a:r>
              <a:rPr lang="zh-CN" altLang="en-US" sz="2800" b="1" dirty="0">
                <a:solidFill>
                  <a:srgbClr val="115522"/>
                </a:solidFill>
                <a:latin typeface="微软雅黑" panose="020B0503020204020204" pitchFamily="34" charset="-122"/>
                <a:ea typeface="微软雅黑" panose="020B0503020204020204" pitchFamily="34" charset="-122"/>
              </a:rPr>
              <a:t>的样本没有涵盖</a:t>
            </a:r>
            <a:endParaRPr lang="en-US" altLang="zh-CN" sz="2800" b="1" dirty="0">
              <a:solidFill>
                <a:srgbClr val="11552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FA5B385-6DA9-B546-F881-98A336D5D1A0}"/>
                  </a:ext>
                </a:extLst>
              </p:cNvPr>
              <p:cNvSpPr txBox="1"/>
              <p:nvPr/>
            </p:nvSpPr>
            <p:spPr>
              <a:xfrm>
                <a:off x="685800" y="1796006"/>
                <a:ext cx="10699072" cy="5129930"/>
              </a:xfrm>
              <a:prstGeom prst="rect">
                <a:avLst/>
              </a:prstGeom>
              <a:noFill/>
            </p:spPr>
            <p:txBody>
              <a:bodyPr wrap="square">
                <a:spAutoFit/>
              </a:bodyPr>
              <a:lstStyle/>
              <a:p>
                <a:pPr marL="742950" lvl="1" indent="-285750" algn="l">
                  <a:spcAft>
                    <a:spcPts val="750"/>
                  </a:spcAft>
                  <a:buFont typeface="Arial" panose="020B0604020202020204" pitchFamily="34" charset="0"/>
                  <a:buChar char="•"/>
                </a:pPr>
                <a:r>
                  <a:rPr lang="en-US" altLang="zh-CN"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bagging</a:t>
                </a: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bootstrap</a:t>
                </a: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抽取样本集，但是有的样本是没有涵盖进去；</a:t>
                </a:r>
              </a:p>
              <a:p>
                <a:pPr marL="742950" lvl="1" indent="-285750" algn="l">
                  <a:spcAft>
                    <a:spcPts val="750"/>
                  </a:spcAft>
                  <a:buFont typeface="Arial" panose="020B0604020202020204" pitchFamily="34" charset="0"/>
                  <a:buChar char="•"/>
                </a:pPr>
                <a:r>
                  <a:rPr lang="en-US" altLang="zh-CN"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out-of-bag (OOB) example</a:t>
                </a: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：对每轮的抽取训练，没有被涵盖的样本；</a:t>
                </a:r>
              </a:p>
              <a:p>
                <a:pPr marL="742950" lvl="1" indent="-285750" algn="l">
                  <a:spcAft>
                    <a:spcPts val="750"/>
                  </a:spcAft>
                  <a:buFont typeface="Arial" panose="020B0604020202020204" pitchFamily="34" charset="0"/>
                  <a:buChar char="•"/>
                </a:pP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某个样本是某次抽取</a:t>
                </a:r>
                <a:r>
                  <a:rPr lang="en-US" altLang="zh-CN"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OOB</a:t>
                </a: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的概率：</a:t>
                </a:r>
                <a:endParaRPr lang="en-US" altLang="zh-CN"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a:spcAft>
                    <a:spcPts val="750"/>
                  </a:spcAft>
                  <a:buFont typeface="Arial" panose="020B0604020202020204" pitchFamily="34" charset="0"/>
                  <a:buChar char="•"/>
                </a:pPr>
                <a:endPar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a:spcAft>
                    <a:spcPts val="750"/>
                  </a:spcAft>
                  <a:buFont typeface="Arial" panose="020B0604020202020204" pitchFamily="34" charset="0"/>
                  <a:buChar char="•"/>
                </a:pPr>
                <a:endParaRPr lang="en-US" altLang="zh-CN"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a:spcAft>
                    <a:spcPts val="750"/>
                  </a:spcAft>
                  <a:buFont typeface="Arial" panose="020B0604020202020204" pitchFamily="34" charset="0"/>
                  <a:buChar char="•"/>
                </a:pP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sz="2400" b="0" i="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是自然对数，</a:t>
                </a:r>
                <a:r>
                  <a:rPr lang="en-US" altLang="zh-CN" sz="2400" b="0" i="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是原本数据集数量；</a:t>
                </a:r>
                <a:endParaRPr lang="en-US" altLang="zh-CN"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spcAft>
                    <a:spcPts val="750"/>
                  </a:spcAft>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所以，在每个子模型中，</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OOB</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数目大约是</a:t>
                </a:r>
                <a14:m>
                  <m:oMath xmlns:m="http://schemas.openxmlformats.org/officeDocument/2006/math">
                    <m:f>
                      <m:fPr>
                        <m:ctrlPr>
                          <a:rPr lang="en-US" altLang="zh-CN" sz="2400" i="1" smtClean="0">
                            <a:latin typeface="Cambria Math" panose="02040503050406030204" pitchFamily="18" charset="0"/>
                            <a:cs typeface="Times New Roman" panose="02020603050405020304" pitchFamily="18" charset="0"/>
                          </a:rPr>
                        </m:ctrlPr>
                      </m:fPr>
                      <m:num>
                        <m:r>
                          <a:rPr lang="en-US" altLang="zh-CN" sz="2400" b="0" i="1" smtClean="0">
                            <a:latin typeface="Cambria Math" panose="02040503050406030204" pitchFamily="18" charset="0"/>
                            <a:cs typeface="Times New Roman" panose="02020603050405020304" pitchFamily="18" charset="0"/>
                          </a:rPr>
                          <m:t>1</m:t>
                        </m:r>
                      </m:num>
                      <m:den>
                        <m:r>
                          <a:rPr lang="en-US" altLang="zh-CN" sz="2400" b="0" i="1" smtClean="0">
                            <a:latin typeface="Cambria Math" panose="02040503050406030204" pitchFamily="18" charset="0"/>
                            <a:cs typeface="Times New Roman" panose="02020603050405020304" pitchFamily="18" charset="0"/>
                          </a:rPr>
                          <m:t>𝑒</m:t>
                        </m:r>
                      </m:den>
                    </m:f>
                  </m:oMath>
                </a14:m>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，即大约有</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1/3</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的样本此次没有被抽中。</a:t>
                </a:r>
              </a:p>
              <a:p>
                <a:pPr marL="742950" lvl="1" indent="-285750" algn="l">
                  <a:spcAft>
                    <a:spcPts val="750"/>
                  </a:spcAft>
                  <a:buFont typeface="Arial" panose="020B0604020202020204" pitchFamily="34" charset="0"/>
                  <a:buChar char="•"/>
                </a:pPr>
                <a:endPar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a:buNone/>
                </a:pPr>
                <a:br>
                  <a:rPr lang="zh-CN" altLang="en-US" sz="24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b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AFA5B385-6DA9-B546-F881-98A336D5D1A0}"/>
                  </a:ext>
                </a:extLst>
              </p:cNvPr>
              <p:cNvSpPr txBox="1">
                <a:spLocks noRot="1" noChangeAspect="1" noMove="1" noResize="1" noEditPoints="1" noAdjustHandles="1" noChangeArrowheads="1" noChangeShapeType="1" noTextEdit="1"/>
              </p:cNvSpPr>
              <p:nvPr/>
            </p:nvSpPr>
            <p:spPr>
              <a:xfrm>
                <a:off x="685800" y="1796006"/>
                <a:ext cx="10699072" cy="5129930"/>
              </a:xfrm>
              <a:prstGeom prst="rect">
                <a:avLst/>
              </a:prstGeom>
              <a:blipFill>
                <a:blip r:embed="rId3"/>
                <a:stretch>
                  <a:fillRect t="-951"/>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ACAF5CBC-BE71-94B7-453A-7E20952B8E9D}"/>
              </a:ext>
            </a:extLst>
          </p:cNvPr>
          <p:cNvPicPr>
            <a:picLocks noChangeAspect="1"/>
          </p:cNvPicPr>
          <p:nvPr/>
        </p:nvPicPr>
        <p:blipFill>
          <a:blip r:embed="rId4"/>
          <a:stretch>
            <a:fillRect/>
          </a:stretch>
        </p:blipFill>
        <p:spPr>
          <a:xfrm>
            <a:off x="1447800" y="3276600"/>
            <a:ext cx="5257143" cy="819048"/>
          </a:xfrm>
          <a:prstGeom prst="rect">
            <a:avLst/>
          </a:prstGeom>
        </p:spPr>
      </p:pic>
    </p:spTree>
    <p:extLst>
      <p:ext uri="{BB962C8B-B14F-4D97-AF65-F5344CB8AC3E}">
        <p14:creationId xmlns:p14="http://schemas.microsoft.com/office/powerpoint/2010/main" val="1871009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4BA6-D92C-4BAA-106F-0B8299013833}"/>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C2B07950-E329-0990-4591-D1FB8E092875}"/>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11</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2FD9756A-3AA5-2528-0875-BC62A312C3B1}"/>
              </a:ext>
            </a:extLst>
          </p:cNvPr>
          <p:cNvSpPr txBox="1"/>
          <p:nvPr/>
        </p:nvSpPr>
        <p:spPr>
          <a:xfrm>
            <a:off x="911521" y="409110"/>
            <a:ext cx="5400837"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四</a:t>
            </a:r>
            <a:r>
              <a:rPr lang="zh-CN" altLang="en-US" sz="3600" b="1" dirty="0">
                <a:solidFill>
                  <a:srgbClr val="115522"/>
                </a:solidFill>
                <a:latin typeface="微软雅黑" panose="020B0503020204020204" pitchFamily="34" charset="-122"/>
                <a:ea typeface="微软雅黑" panose="020B0503020204020204" pitchFamily="34" charset="-122"/>
              </a:rPr>
              <a:t>、</a:t>
            </a:r>
            <a:r>
              <a:rPr lang="en-US" altLang="zh-CN" sz="3600" b="1" dirty="0">
                <a:solidFill>
                  <a:srgbClr val="115522"/>
                </a:solidFill>
                <a:latin typeface="微软雅黑" panose="020B0503020204020204" pitchFamily="34" charset="-122"/>
                <a:ea typeface="微软雅黑" panose="020B0503020204020204" pitchFamily="34" charset="-122"/>
              </a:rPr>
              <a:t> </a:t>
            </a:r>
            <a:r>
              <a:rPr lang="zh-CN" altLang="en-US" sz="3600" b="1" dirty="0">
                <a:solidFill>
                  <a:srgbClr val="115522"/>
                </a:solidFill>
                <a:latin typeface="微软雅黑" panose="020B0503020204020204" pitchFamily="34" charset="-122"/>
                <a:ea typeface="微软雅黑" panose="020B0503020204020204" pitchFamily="34" charset="-122"/>
              </a:rPr>
              <a:t>特征重要性度量方法</a:t>
            </a:r>
          </a:p>
        </p:txBody>
      </p:sp>
      <p:sp>
        <p:nvSpPr>
          <p:cNvPr id="7" name="矩形 8">
            <a:extLst>
              <a:ext uri="{FF2B5EF4-FFF2-40B4-BE49-F238E27FC236}">
                <a16:creationId xmlns:a16="http://schemas.microsoft.com/office/drawing/2014/main" id="{C6204210-D152-E0A5-281C-6F1812E70E5D}"/>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FAE97B29-658A-B3BC-CB0F-1646BC26FAE7}"/>
              </a:ext>
            </a:extLst>
          </p:cNvPr>
          <p:cNvSpPr txBox="1"/>
          <p:nvPr/>
        </p:nvSpPr>
        <p:spPr>
          <a:xfrm>
            <a:off x="1033509" y="1055441"/>
            <a:ext cx="10808563" cy="662554"/>
          </a:xfrm>
          <a:prstGeom prst="rect">
            <a:avLst/>
          </a:prstGeom>
          <a:noFill/>
        </p:spPr>
        <p:txBody>
          <a:bodyPr wrap="square">
            <a:spAutoFit/>
          </a:bodyPr>
          <a:lstStyle/>
          <a:p>
            <a:pPr>
              <a:lnSpc>
                <a:spcPct val="150000"/>
              </a:lnSpc>
              <a:spcAft>
                <a:spcPts val="600"/>
              </a:spcAft>
            </a:pPr>
            <a:r>
              <a:rPr lang="en-US" altLang="zh-CN" sz="2800" b="1" dirty="0">
                <a:solidFill>
                  <a:srgbClr val="115522"/>
                </a:solidFill>
                <a:latin typeface="微软雅黑" panose="020B0503020204020204" pitchFamily="34" charset="-122"/>
                <a:ea typeface="微软雅黑" panose="020B0503020204020204" pitchFamily="34" charset="-122"/>
              </a:rPr>
              <a:t>1. </a:t>
            </a:r>
            <a:r>
              <a:rPr lang="zh-CN" altLang="en-US" sz="2800" b="1" dirty="0">
                <a:solidFill>
                  <a:srgbClr val="115522"/>
                </a:solidFill>
                <a:latin typeface="微软雅黑" panose="020B0503020204020204" pitchFamily="34" charset="-122"/>
                <a:ea typeface="微软雅黑" panose="020B0503020204020204" pitchFamily="34" charset="-122"/>
              </a:rPr>
              <a:t>特征选择的含义</a:t>
            </a:r>
            <a:endParaRPr lang="en-US" altLang="zh-CN" sz="2800" b="1" dirty="0">
              <a:solidFill>
                <a:srgbClr val="115522"/>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345C7D24-7420-402E-A0E8-56A1AB4DB052}"/>
              </a:ext>
            </a:extLst>
          </p:cNvPr>
          <p:cNvSpPr txBox="1"/>
          <p:nvPr/>
        </p:nvSpPr>
        <p:spPr>
          <a:xfrm>
            <a:off x="783534" y="1981200"/>
            <a:ext cx="10699072" cy="2795958"/>
          </a:xfrm>
          <a:prstGeom prst="rect">
            <a:avLst/>
          </a:prstGeom>
          <a:noFill/>
        </p:spPr>
        <p:txBody>
          <a:bodyPr wrap="square">
            <a:spAutoFit/>
          </a:bodyPr>
          <a:lstStyle/>
          <a:p>
            <a:pPr>
              <a:lnSpc>
                <a:spcPct val="150000"/>
              </a:lnSpc>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特征选择</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维特征到</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特征的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subset-transform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，最终是由</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维特征进行模型训练。比如原来特征有</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10000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个，选取</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300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个，需要舍弃部分特征：</a:t>
            </a: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冗余特征。重复出现，但是表达相似含义的，比如年龄和生日</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不相关特征。</a:t>
            </a:r>
          </a:p>
          <a:p>
            <a:pPr marL="742950" lvl="1" indent="-285750" algn="l">
              <a:lnSpc>
                <a:spcPct val="150000"/>
              </a:lnSpc>
              <a:spcAft>
                <a:spcPts val="750"/>
              </a:spcAft>
              <a:buFont typeface="Arial" panose="020B0604020202020204" pitchFamily="34" charset="0"/>
              <a:buChar char="•"/>
            </a:pP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55119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70031-882E-99A5-EFAC-51B6CD7545A2}"/>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4957DB22-79DB-7B1F-6B64-BEEAC2EB7964}"/>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12</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F924671D-7C0F-57F6-2C0C-48A0128BDED7}"/>
              </a:ext>
            </a:extLst>
          </p:cNvPr>
          <p:cNvSpPr txBox="1"/>
          <p:nvPr/>
        </p:nvSpPr>
        <p:spPr>
          <a:xfrm>
            <a:off x="911521" y="409110"/>
            <a:ext cx="5400837"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四</a:t>
            </a:r>
            <a:r>
              <a:rPr lang="zh-CN" altLang="en-US" sz="3600" b="1" dirty="0">
                <a:solidFill>
                  <a:srgbClr val="115522"/>
                </a:solidFill>
                <a:latin typeface="微软雅黑" panose="020B0503020204020204" pitchFamily="34" charset="-122"/>
                <a:ea typeface="微软雅黑" panose="020B0503020204020204" pitchFamily="34" charset="-122"/>
              </a:rPr>
              <a:t>、</a:t>
            </a:r>
            <a:r>
              <a:rPr lang="en-US" altLang="zh-CN" sz="3600" b="1" dirty="0">
                <a:solidFill>
                  <a:srgbClr val="115522"/>
                </a:solidFill>
                <a:latin typeface="微软雅黑" panose="020B0503020204020204" pitchFamily="34" charset="-122"/>
                <a:ea typeface="微软雅黑" panose="020B0503020204020204" pitchFamily="34" charset="-122"/>
              </a:rPr>
              <a:t> </a:t>
            </a:r>
            <a:r>
              <a:rPr lang="zh-CN" altLang="en-US" sz="3600" b="1" dirty="0">
                <a:solidFill>
                  <a:srgbClr val="115522"/>
                </a:solidFill>
                <a:latin typeface="微软雅黑" panose="020B0503020204020204" pitchFamily="34" charset="-122"/>
                <a:ea typeface="微软雅黑" panose="020B0503020204020204" pitchFamily="34" charset="-122"/>
              </a:rPr>
              <a:t>特征重要性度量方法</a:t>
            </a:r>
          </a:p>
        </p:txBody>
      </p:sp>
      <p:sp>
        <p:nvSpPr>
          <p:cNvPr id="7" name="矩形 8">
            <a:extLst>
              <a:ext uri="{FF2B5EF4-FFF2-40B4-BE49-F238E27FC236}">
                <a16:creationId xmlns:a16="http://schemas.microsoft.com/office/drawing/2014/main" id="{EF69F4D8-9068-511C-E298-D71137AEDC1B}"/>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2B5EC2D7-BE48-B61E-AB32-78C6BF8FADDB}"/>
              </a:ext>
            </a:extLst>
          </p:cNvPr>
          <p:cNvSpPr txBox="1"/>
          <p:nvPr/>
        </p:nvSpPr>
        <p:spPr>
          <a:xfrm>
            <a:off x="1033509" y="1055441"/>
            <a:ext cx="10808563" cy="662554"/>
          </a:xfrm>
          <a:prstGeom prst="rect">
            <a:avLst/>
          </a:prstGeom>
          <a:noFill/>
        </p:spPr>
        <p:txBody>
          <a:bodyPr wrap="square">
            <a:spAutoFit/>
          </a:bodyPr>
          <a:lstStyle/>
          <a:p>
            <a:pPr>
              <a:lnSpc>
                <a:spcPct val="150000"/>
              </a:lnSpc>
              <a:spcAft>
                <a:spcPts val="600"/>
              </a:spcAft>
            </a:pPr>
            <a:r>
              <a:rPr lang="en-US" altLang="zh-CN" sz="2800" b="1" dirty="0">
                <a:solidFill>
                  <a:srgbClr val="115522"/>
                </a:solidFill>
                <a:latin typeface="微软雅黑" panose="020B0503020204020204" pitchFamily="34" charset="-122"/>
                <a:ea typeface="微软雅黑" panose="020B0503020204020204" pitchFamily="34" charset="-122"/>
              </a:rPr>
              <a:t>2. </a:t>
            </a:r>
            <a:r>
              <a:rPr lang="zh-CN" altLang="en-US" sz="2800" b="1" dirty="0">
                <a:solidFill>
                  <a:srgbClr val="115522"/>
                </a:solidFill>
                <a:latin typeface="微软雅黑" panose="020B0503020204020204" pitchFamily="34" charset="-122"/>
                <a:ea typeface="微软雅黑" panose="020B0503020204020204" pitchFamily="34" charset="-122"/>
              </a:rPr>
              <a:t>特征选择的优缺点：</a:t>
            </a:r>
            <a:endParaRPr lang="en-US" altLang="zh-CN" sz="2800" b="1" dirty="0">
              <a:solidFill>
                <a:srgbClr val="115522"/>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0959BDF5-5DC0-9C56-F24B-F96BE1DD23C2}"/>
              </a:ext>
            </a:extLst>
          </p:cNvPr>
          <p:cNvSpPr txBox="1"/>
          <p:nvPr/>
        </p:nvSpPr>
        <p:spPr>
          <a:xfrm>
            <a:off x="609600" y="1717995"/>
            <a:ext cx="9829800" cy="5565947"/>
          </a:xfrm>
          <a:prstGeom prst="rect">
            <a:avLst/>
          </a:prstGeom>
          <a:noFill/>
        </p:spPr>
        <p:txBody>
          <a:bodyPr wrap="square">
            <a:spAutoFit/>
          </a:bodyPr>
          <a:lstStyle/>
          <a:p>
            <a:pPr>
              <a:lnSpc>
                <a:spcPct val="150000"/>
              </a:lnSpc>
            </a:pP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优点</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nSpc>
                <a:spcPct val="150000"/>
              </a:lnSpc>
              <a:buFont typeface="Wingdings" panose="05000000000000000000" pitchFamily="2" charset="2"/>
              <a:buChar char="u"/>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提高效率，特征越少，模型越简单；</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u"/>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正则化，防止特征过多出现过拟合；</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u"/>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去除无关特征，保留相关性大的特征，解释性强。</a:t>
            </a:r>
            <a:endParaRPr lang="en-US" altLang="zh-CN"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缺点</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nSpc>
                <a:spcPct val="150000"/>
              </a:lnSpc>
              <a:buFont typeface="Wingdings" panose="05000000000000000000" pitchFamily="2" charset="2"/>
              <a:buChar char="u"/>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特征筛选计算量大；</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u"/>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不同的特征组合，也容易发生过拟合；</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u"/>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容易选到无关特征，解释性差。</a:t>
            </a:r>
          </a:p>
          <a:p>
            <a:pPr>
              <a:lnSpc>
                <a:spcPct val="150000"/>
              </a:lnSpc>
            </a:pP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a:lnSpc>
                <a:spcPct val="150000"/>
              </a:lnSpc>
              <a:spcAft>
                <a:spcPts val="750"/>
              </a:spcAft>
              <a:buFont typeface="Arial" panose="020B0604020202020204" pitchFamily="34" charset="0"/>
              <a:buChar char="•"/>
            </a:pP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724713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294F1-D3DF-C023-8506-468B31CA8E93}"/>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A09B495C-03F0-A84D-A2EA-C9988A65DF0C}"/>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13</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6FAA3592-2CAE-AD7D-D81B-A3B1FBE43402}"/>
              </a:ext>
            </a:extLst>
          </p:cNvPr>
          <p:cNvSpPr txBox="1"/>
          <p:nvPr/>
        </p:nvSpPr>
        <p:spPr>
          <a:xfrm>
            <a:off x="911521" y="409110"/>
            <a:ext cx="5400837"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四</a:t>
            </a:r>
            <a:r>
              <a:rPr lang="zh-CN" altLang="en-US" sz="3600" b="1" dirty="0">
                <a:solidFill>
                  <a:srgbClr val="115522"/>
                </a:solidFill>
                <a:latin typeface="微软雅黑" panose="020B0503020204020204" pitchFamily="34" charset="-122"/>
                <a:ea typeface="微软雅黑" panose="020B0503020204020204" pitchFamily="34" charset="-122"/>
              </a:rPr>
              <a:t>、</a:t>
            </a:r>
            <a:r>
              <a:rPr lang="en-US" altLang="zh-CN" sz="3600" b="1" dirty="0">
                <a:solidFill>
                  <a:srgbClr val="115522"/>
                </a:solidFill>
                <a:latin typeface="微软雅黑" panose="020B0503020204020204" pitchFamily="34" charset="-122"/>
                <a:ea typeface="微软雅黑" panose="020B0503020204020204" pitchFamily="34" charset="-122"/>
              </a:rPr>
              <a:t> </a:t>
            </a:r>
            <a:r>
              <a:rPr lang="zh-CN" altLang="en-US" sz="3600" b="1" dirty="0">
                <a:solidFill>
                  <a:srgbClr val="115522"/>
                </a:solidFill>
                <a:latin typeface="微软雅黑" panose="020B0503020204020204" pitchFamily="34" charset="-122"/>
                <a:ea typeface="微软雅黑" panose="020B0503020204020204" pitchFamily="34" charset="-122"/>
              </a:rPr>
              <a:t>特征重要性度量方法</a:t>
            </a:r>
          </a:p>
        </p:txBody>
      </p:sp>
      <p:sp>
        <p:nvSpPr>
          <p:cNvPr id="7" name="矩形 8">
            <a:extLst>
              <a:ext uri="{FF2B5EF4-FFF2-40B4-BE49-F238E27FC236}">
                <a16:creationId xmlns:a16="http://schemas.microsoft.com/office/drawing/2014/main" id="{C403C598-4D69-6CE7-CFCA-3AA26F000350}"/>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505EB07-FCC6-3534-E045-7EF342E52E93}"/>
              </a:ext>
            </a:extLst>
          </p:cNvPr>
          <p:cNvSpPr txBox="1"/>
          <p:nvPr/>
        </p:nvSpPr>
        <p:spPr>
          <a:xfrm>
            <a:off x="1033509" y="1055441"/>
            <a:ext cx="10808563" cy="662554"/>
          </a:xfrm>
          <a:prstGeom prst="rect">
            <a:avLst/>
          </a:prstGeom>
          <a:noFill/>
        </p:spPr>
        <p:txBody>
          <a:bodyPr wrap="square">
            <a:spAutoFit/>
          </a:bodyPr>
          <a:lstStyle/>
          <a:p>
            <a:pPr>
              <a:lnSpc>
                <a:spcPct val="150000"/>
              </a:lnSpc>
              <a:spcAft>
                <a:spcPts val="600"/>
              </a:spcAft>
            </a:pPr>
            <a:r>
              <a:rPr lang="en-US" altLang="zh-CN" sz="2800" b="1" dirty="0">
                <a:solidFill>
                  <a:srgbClr val="115522"/>
                </a:solidFill>
                <a:latin typeface="微软雅黑" panose="020B0503020204020204" pitchFamily="34" charset="-122"/>
                <a:ea typeface="微软雅黑" panose="020B0503020204020204" pitchFamily="34" charset="-122"/>
              </a:rPr>
              <a:t>3. </a:t>
            </a:r>
            <a:r>
              <a:rPr lang="zh-CN" altLang="en-US" sz="2800" b="1" dirty="0">
                <a:solidFill>
                  <a:srgbClr val="115522"/>
                </a:solidFill>
                <a:latin typeface="微软雅黑" panose="020B0503020204020204" pitchFamily="34" charset="-122"/>
                <a:ea typeface="微软雅黑" panose="020B0503020204020204" pitchFamily="34" charset="-122"/>
              </a:rPr>
              <a:t>特征重要性度量：</a:t>
            </a:r>
            <a:endParaRPr lang="en-US" altLang="zh-CN" sz="2800" b="1" dirty="0">
              <a:solidFill>
                <a:srgbClr val="115522"/>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8221FBDF-5956-2B52-96ED-960F918F5F7A}"/>
              </a:ext>
            </a:extLst>
          </p:cNvPr>
          <p:cNvSpPr txBox="1"/>
          <p:nvPr/>
        </p:nvSpPr>
        <p:spPr>
          <a:xfrm>
            <a:off x="609600" y="1717995"/>
            <a:ext cx="11125200" cy="5565947"/>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计算某个特征</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的重要性时，具体步骤如下：</a:t>
            </a: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）对每一颗决策树，选择相应的袋外数据（</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OOB</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）计算袋外数据误差，记为</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errOOB</a:t>
            </a:r>
            <a:r>
              <a:rPr lang="en-US" altLang="zh-CN" sz="24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）随机对袋外数据</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OOB</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所有样本的特征</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加入噪声干扰（可以随机改变样本在特征</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处的值），再次计算袋外数据误差，记为</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errOOB</a:t>
            </a:r>
            <a:r>
              <a:rPr lang="en-US" altLang="zh-CN" sz="24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）假设森林中有</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棵树，则特征</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的重要性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errOOB</a:t>
            </a:r>
            <a:r>
              <a:rPr lang="en-US" altLang="zh-CN" sz="24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-errOOB</a:t>
            </a:r>
            <a:r>
              <a:rPr lang="en-US" altLang="zh-CN" sz="24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如果加入随机噪声后，袋外数据准确率大幅度下降（即</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errOOB</a:t>
            </a:r>
            <a:r>
              <a:rPr lang="en-US" altLang="zh-CN" sz="24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上升），说明这个特征对于样本的预测结果有很大影响，进而说明重要程度比较高。</a:t>
            </a:r>
          </a:p>
          <a:p>
            <a:pPr>
              <a:lnSpc>
                <a:spcPct val="150000"/>
              </a:lnSpc>
            </a:pP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a:lnSpc>
                <a:spcPct val="150000"/>
              </a:lnSpc>
              <a:spcAft>
                <a:spcPts val="750"/>
              </a:spcAft>
              <a:buFont typeface="Arial" panose="020B0604020202020204" pitchFamily="34" charset="0"/>
              <a:buChar char="•"/>
            </a:pP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146862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AD38F-EF24-6F75-5102-FF48C5695A2B}"/>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C9F04061-E9C5-91C1-55F6-6634A1FB8FB6}"/>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14</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E20E4756-3BFF-ED48-75C5-1E367E3531E8}"/>
              </a:ext>
            </a:extLst>
          </p:cNvPr>
          <p:cNvSpPr txBox="1"/>
          <p:nvPr/>
        </p:nvSpPr>
        <p:spPr>
          <a:xfrm>
            <a:off x="911521" y="409110"/>
            <a:ext cx="5400837"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四</a:t>
            </a:r>
            <a:r>
              <a:rPr lang="zh-CN" altLang="en-US" sz="3600" b="1" dirty="0">
                <a:solidFill>
                  <a:srgbClr val="115522"/>
                </a:solidFill>
                <a:latin typeface="微软雅黑" panose="020B0503020204020204" pitchFamily="34" charset="-122"/>
                <a:ea typeface="微软雅黑" panose="020B0503020204020204" pitchFamily="34" charset="-122"/>
              </a:rPr>
              <a:t>、</a:t>
            </a:r>
            <a:r>
              <a:rPr lang="en-US" altLang="zh-CN" sz="3600" b="1" dirty="0">
                <a:solidFill>
                  <a:srgbClr val="115522"/>
                </a:solidFill>
                <a:latin typeface="微软雅黑" panose="020B0503020204020204" pitchFamily="34" charset="-122"/>
                <a:ea typeface="微软雅黑" panose="020B0503020204020204" pitchFamily="34" charset="-122"/>
              </a:rPr>
              <a:t> </a:t>
            </a:r>
            <a:r>
              <a:rPr lang="zh-CN" altLang="en-US" sz="3600" b="1" dirty="0">
                <a:solidFill>
                  <a:srgbClr val="115522"/>
                </a:solidFill>
                <a:latin typeface="微软雅黑" panose="020B0503020204020204" pitchFamily="34" charset="-122"/>
                <a:ea typeface="微软雅黑" panose="020B0503020204020204" pitchFamily="34" charset="-122"/>
              </a:rPr>
              <a:t>特征重要性度量方法</a:t>
            </a:r>
          </a:p>
        </p:txBody>
      </p:sp>
      <p:sp>
        <p:nvSpPr>
          <p:cNvPr id="7" name="矩形 8">
            <a:extLst>
              <a:ext uri="{FF2B5EF4-FFF2-40B4-BE49-F238E27FC236}">
                <a16:creationId xmlns:a16="http://schemas.microsoft.com/office/drawing/2014/main" id="{B88DFEF4-85D1-D71C-612D-CBF2A4CC34B7}"/>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3807398-22DC-302D-4C04-F5176C75E528}"/>
              </a:ext>
            </a:extLst>
          </p:cNvPr>
          <p:cNvSpPr txBox="1"/>
          <p:nvPr/>
        </p:nvSpPr>
        <p:spPr>
          <a:xfrm>
            <a:off x="1033509" y="1055441"/>
            <a:ext cx="10808563" cy="662554"/>
          </a:xfrm>
          <a:prstGeom prst="rect">
            <a:avLst/>
          </a:prstGeom>
          <a:noFill/>
        </p:spPr>
        <p:txBody>
          <a:bodyPr wrap="square">
            <a:spAutoFit/>
          </a:bodyPr>
          <a:lstStyle/>
          <a:p>
            <a:pPr>
              <a:lnSpc>
                <a:spcPct val="150000"/>
              </a:lnSpc>
              <a:spcAft>
                <a:spcPts val="600"/>
              </a:spcAft>
            </a:pPr>
            <a:r>
              <a:rPr lang="en-US" altLang="zh-CN" sz="2800" b="1" dirty="0">
                <a:solidFill>
                  <a:srgbClr val="115522"/>
                </a:solidFill>
                <a:latin typeface="微软雅黑" panose="020B0503020204020204" pitchFamily="34" charset="-122"/>
                <a:ea typeface="微软雅黑" panose="020B0503020204020204" pitchFamily="34" charset="-122"/>
              </a:rPr>
              <a:t>4.</a:t>
            </a:r>
            <a:r>
              <a:rPr lang="zh-CN" altLang="en-US" sz="2800" b="1" dirty="0">
                <a:solidFill>
                  <a:srgbClr val="115522"/>
                </a:solidFill>
                <a:latin typeface="微软雅黑" panose="020B0503020204020204" pitchFamily="34" charset="-122"/>
                <a:ea typeface="微软雅黑" panose="020B0503020204020204" pitchFamily="34" charset="-122"/>
              </a:rPr>
              <a:t>在特征重要性的基础上，</a:t>
            </a:r>
            <a:r>
              <a:rPr lang="zh-CN" altLang="en-US" sz="2800" b="1" dirty="0">
                <a:solidFill>
                  <a:srgbClr val="0000FF"/>
                </a:solidFill>
                <a:latin typeface="微软雅黑" panose="020B0503020204020204" pitchFamily="34" charset="-122"/>
                <a:ea typeface="微软雅黑" panose="020B0503020204020204" pitchFamily="34" charset="-122"/>
              </a:rPr>
              <a:t>特征选择的步骤</a:t>
            </a:r>
            <a:r>
              <a:rPr lang="zh-CN" altLang="en-US" sz="2800" b="1" dirty="0">
                <a:solidFill>
                  <a:srgbClr val="115522"/>
                </a:solidFill>
                <a:latin typeface="微软雅黑" panose="020B0503020204020204" pitchFamily="34" charset="-122"/>
                <a:ea typeface="微软雅黑" panose="020B0503020204020204" pitchFamily="34" charset="-122"/>
              </a:rPr>
              <a:t>如下：</a:t>
            </a:r>
            <a:endParaRPr lang="en-US" altLang="zh-CN" sz="2800" b="1" dirty="0">
              <a:solidFill>
                <a:srgbClr val="115522"/>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7806DBA8-D841-EDE6-CA44-33C94D34FE5C}"/>
              </a:ext>
            </a:extLst>
          </p:cNvPr>
          <p:cNvSpPr txBox="1"/>
          <p:nvPr/>
        </p:nvSpPr>
        <p:spPr>
          <a:xfrm>
            <a:off x="609600" y="1828800"/>
            <a:ext cx="11125200" cy="3350854"/>
          </a:xfrm>
          <a:prstGeom prst="rect">
            <a:avLst/>
          </a:prstGeom>
          <a:noFill/>
        </p:spPr>
        <p:txBody>
          <a:bodyPr wrap="square">
            <a:spAutoFit/>
          </a:bodyPr>
          <a:lstStyle/>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）计算每个特征的重要性，并按降序排序</a:t>
            </a: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）确定要剔除的比例，依据特征重要性剔除相应比例的特征，得到一个新的特征集</a:t>
            </a: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）用新的特征集重复上述过程，直到剩下</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个特征（</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为提前设定的值）。</a:t>
            </a: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）根据上述过程中得到的各个特征集和特征集对应的袋外误差率，选择袋外误差率最低的特征集。</a:t>
            </a:r>
          </a:p>
        </p:txBody>
      </p:sp>
      <p:pic>
        <p:nvPicPr>
          <p:cNvPr id="5122" name="Picture 2" descr="已生成图片">
            <a:extLst>
              <a:ext uri="{FF2B5EF4-FFF2-40B4-BE49-F238E27FC236}">
                <a16:creationId xmlns:a16="http://schemas.microsoft.com/office/drawing/2014/main" id="{694EC229-3A1D-892E-29E7-99F46CEA26F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8600" y="4888159"/>
            <a:ext cx="29718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999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1D41D-2067-1CAC-FD98-0DEC3F5622BB}"/>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81CC4E98-936D-721F-82DC-96A428ECE4C7}"/>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15</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8491D06D-5FA2-DB4D-C3A0-BA60FFBD4DBC}"/>
              </a:ext>
            </a:extLst>
          </p:cNvPr>
          <p:cNvSpPr txBox="1"/>
          <p:nvPr/>
        </p:nvSpPr>
        <p:spPr>
          <a:xfrm>
            <a:off x="911521" y="409110"/>
            <a:ext cx="3416320"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五、</a:t>
            </a:r>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R</a:t>
            </a:r>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代码实现</a:t>
            </a:r>
            <a:endParaRPr lang="zh-CN" altLang="en-US" sz="3600" dirty="0">
              <a:solidFill>
                <a:srgbClr val="115522"/>
              </a:solidFill>
              <a:latin typeface="微软雅黑" panose="020B0503020204020204" pitchFamily="34" charset="-122"/>
              <a:ea typeface="微软雅黑" panose="020B0503020204020204" pitchFamily="34" charset="-122"/>
            </a:endParaRPr>
          </a:p>
        </p:txBody>
      </p:sp>
      <p:sp>
        <p:nvSpPr>
          <p:cNvPr id="7" name="矩形 8">
            <a:extLst>
              <a:ext uri="{FF2B5EF4-FFF2-40B4-BE49-F238E27FC236}">
                <a16:creationId xmlns:a16="http://schemas.microsoft.com/office/drawing/2014/main" id="{787322FA-411B-BDF4-116E-50FA35177CCC}"/>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a:extLst>
              <a:ext uri="{FF2B5EF4-FFF2-40B4-BE49-F238E27FC236}">
                <a16:creationId xmlns:a16="http://schemas.microsoft.com/office/drawing/2014/main" id="{711FF9B6-B9CD-A78B-978F-69BB010A95E4}"/>
              </a:ext>
            </a:extLst>
          </p:cNvPr>
          <p:cNvGraphicFramePr>
            <a:graphicFrameLocks noGrp="1"/>
          </p:cNvGraphicFramePr>
          <p:nvPr>
            <p:extLst>
              <p:ext uri="{D42A27DB-BD31-4B8C-83A1-F6EECF244321}">
                <p14:modId xmlns:p14="http://schemas.microsoft.com/office/powerpoint/2010/main" val="160649884"/>
              </p:ext>
            </p:extLst>
          </p:nvPr>
        </p:nvGraphicFramePr>
        <p:xfrm>
          <a:off x="911521" y="2057399"/>
          <a:ext cx="10442279" cy="4648199"/>
        </p:xfrm>
        <a:graphic>
          <a:graphicData uri="http://schemas.openxmlformats.org/drawingml/2006/table">
            <a:tbl>
              <a:tblPr/>
              <a:tblGrid>
                <a:gridCol w="1298279">
                  <a:extLst>
                    <a:ext uri="{9D8B030D-6E8A-4147-A177-3AD203B41FA5}">
                      <a16:colId xmlns:a16="http://schemas.microsoft.com/office/drawing/2014/main" val="646167774"/>
                    </a:ext>
                  </a:extLst>
                </a:gridCol>
                <a:gridCol w="2057400">
                  <a:extLst>
                    <a:ext uri="{9D8B030D-6E8A-4147-A177-3AD203B41FA5}">
                      <a16:colId xmlns:a16="http://schemas.microsoft.com/office/drawing/2014/main" val="102199876"/>
                    </a:ext>
                  </a:extLst>
                </a:gridCol>
                <a:gridCol w="7086600">
                  <a:extLst>
                    <a:ext uri="{9D8B030D-6E8A-4147-A177-3AD203B41FA5}">
                      <a16:colId xmlns:a16="http://schemas.microsoft.com/office/drawing/2014/main" val="2560365522"/>
                    </a:ext>
                  </a:extLst>
                </a:gridCol>
              </a:tblGrid>
              <a:tr h="550425">
                <a:tc>
                  <a:txBody>
                    <a:bodyPr/>
                    <a:lstStyle/>
                    <a:p>
                      <a:pPr algn="ctr">
                        <a:lnSpc>
                          <a:spcPts val="1875"/>
                        </a:lnSpc>
                        <a:buNone/>
                      </a:pPr>
                      <a:r>
                        <a:rPr lang="zh-CN" altLang="en-US" sz="1800" b="1" dirty="0">
                          <a:effectLst/>
                          <a:latin typeface="微软雅黑" panose="020B0503020204020204" pitchFamily="34" charset="-122"/>
                          <a:ea typeface="微软雅黑" panose="020B0503020204020204" pitchFamily="34" charset="-122"/>
                        </a:rPr>
                        <a:t>变量名</a:t>
                      </a: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1" dirty="0">
                          <a:effectLst/>
                          <a:latin typeface="微软雅黑" panose="020B0503020204020204" pitchFamily="34" charset="-122"/>
                          <a:ea typeface="微软雅黑" panose="020B0503020204020204" pitchFamily="34" charset="-122"/>
                        </a:rPr>
                        <a:t>类型</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1" dirty="0">
                          <a:effectLst/>
                          <a:latin typeface="微软雅黑" panose="020B0503020204020204" pitchFamily="34" charset="-122"/>
                          <a:ea typeface="微软雅黑" panose="020B0503020204020204" pitchFamily="34" charset="-122"/>
                        </a:rPr>
                        <a:t>含义及取值</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00557532"/>
                  </a:ext>
                </a:extLst>
              </a:tr>
              <a:tr h="410963">
                <a:tc>
                  <a:txBody>
                    <a:bodyPr/>
                    <a:lstStyle/>
                    <a:p>
                      <a:pPr algn="ctr">
                        <a:lnSpc>
                          <a:spcPts val="1875"/>
                        </a:lnSpc>
                        <a:buNone/>
                      </a:pPr>
                      <a:r>
                        <a:rPr lang="en-US" sz="1800" b="1" dirty="0" err="1">
                          <a:effectLst/>
                          <a:latin typeface="微软雅黑" panose="020B0503020204020204" pitchFamily="34" charset="-122"/>
                          <a:ea typeface="微软雅黑" panose="020B0503020204020204" pitchFamily="34" charset="-122"/>
                        </a:rPr>
                        <a:t>medv</a:t>
                      </a:r>
                      <a:endParaRPr lang="en-US" sz="1800" b="1" dirty="0">
                        <a:effectLst/>
                        <a:latin typeface="微软雅黑" panose="020B0503020204020204" pitchFamily="34" charset="-122"/>
                        <a:ea typeface="微软雅黑" panose="020B0503020204020204" pitchFamily="34" charset="-122"/>
                      </a:endParaRP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1" dirty="0">
                          <a:effectLst/>
                          <a:latin typeface="微软雅黑" panose="020B0503020204020204" pitchFamily="34" charset="-122"/>
                          <a:ea typeface="微软雅黑" panose="020B0503020204020204" pitchFamily="34" charset="-122"/>
                        </a:rPr>
                        <a:t>数值</a:t>
                      </a:r>
                      <a:endParaRPr lang="en-US" sz="1800" b="1"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650"/>
                        </a:lnSpc>
                        <a:buNone/>
                      </a:pPr>
                      <a:r>
                        <a:rPr lang="zh-CN" altLang="en-US" sz="1600" b="1" dirty="0">
                          <a:effectLst/>
                          <a:latin typeface="微软雅黑" panose="020B0503020204020204" pitchFamily="34" charset="-122"/>
                          <a:ea typeface="微软雅黑" panose="020B0503020204020204" pitchFamily="34" charset="-122"/>
                        </a:rPr>
                        <a:t>平均房价（结局变量）</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6472440"/>
                  </a:ext>
                </a:extLst>
              </a:tr>
              <a:tr h="382994">
                <a:tc>
                  <a:txBody>
                    <a:bodyPr/>
                    <a:lstStyle/>
                    <a:p>
                      <a:pPr algn="ctr">
                        <a:lnSpc>
                          <a:spcPts val="1875"/>
                        </a:lnSpc>
                        <a:buNone/>
                      </a:pPr>
                      <a:r>
                        <a:rPr lang="en-US" altLang="zh-CN" sz="1800" b="0" dirty="0" err="1">
                          <a:effectLst/>
                          <a:latin typeface="微软雅黑" panose="020B0503020204020204" pitchFamily="34" charset="-122"/>
                          <a:ea typeface="微软雅黑" panose="020B0503020204020204" pitchFamily="34" charset="-122"/>
                        </a:rPr>
                        <a:t>crim</a:t>
                      </a:r>
                      <a:endParaRPr lang="en-US" sz="1800" b="0" dirty="0">
                        <a:effectLst/>
                        <a:latin typeface="微软雅黑" panose="020B0503020204020204" pitchFamily="34" charset="-122"/>
                        <a:ea typeface="微软雅黑" panose="020B0503020204020204" pitchFamily="34" charset="-122"/>
                      </a:endParaRP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875"/>
                        </a:lnSpc>
                        <a:buNone/>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人均犯罪率</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22130397"/>
                  </a:ext>
                </a:extLst>
              </a:tr>
              <a:tr h="385221">
                <a:tc>
                  <a:txBody>
                    <a:bodyPr/>
                    <a:lstStyle/>
                    <a:p>
                      <a:pPr algn="ctr">
                        <a:lnSpc>
                          <a:spcPts val="1875"/>
                        </a:lnSpc>
                        <a:buNone/>
                      </a:pPr>
                      <a:r>
                        <a:rPr lang="en-US" sz="1800" b="0" dirty="0" err="1">
                          <a:effectLst/>
                          <a:latin typeface="微软雅黑" panose="020B0503020204020204" pitchFamily="34" charset="-122"/>
                          <a:ea typeface="微软雅黑" panose="020B0503020204020204" pitchFamily="34" charset="-122"/>
                        </a:rPr>
                        <a:t>zn</a:t>
                      </a:r>
                      <a:endParaRPr lang="en-US" sz="1800" b="0" dirty="0">
                        <a:effectLst/>
                        <a:latin typeface="微软雅黑" panose="020B0503020204020204" pitchFamily="34" charset="-122"/>
                        <a:ea typeface="微软雅黑" panose="020B0503020204020204" pitchFamily="34" charset="-122"/>
                      </a:endParaRP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875"/>
                        </a:lnSpc>
                        <a:buNone/>
                      </a:pPr>
                      <a:r>
                        <a:rPr lang="zh-CN" altLang="en-US" sz="1600" b="0" dirty="0">
                          <a:effectLst/>
                          <a:latin typeface="微软雅黑" panose="020B0503020204020204" pitchFamily="34" charset="-122"/>
                          <a:ea typeface="微软雅黑" panose="020B0503020204020204" pitchFamily="34" charset="-122"/>
                        </a:rPr>
                        <a:t>住宅用地比例</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77364632"/>
                  </a:ext>
                </a:extLst>
              </a:tr>
              <a:tr h="382994">
                <a:tc>
                  <a:txBody>
                    <a:bodyPr/>
                    <a:lstStyle/>
                    <a:p>
                      <a:pPr algn="ctr">
                        <a:lnSpc>
                          <a:spcPts val="1875"/>
                        </a:lnSpc>
                        <a:buNone/>
                      </a:pPr>
                      <a:r>
                        <a:rPr lang="en-US" sz="1800" b="0" dirty="0" err="1">
                          <a:effectLst/>
                          <a:latin typeface="微软雅黑" panose="020B0503020204020204" pitchFamily="34" charset="-122"/>
                          <a:ea typeface="微软雅黑" panose="020B0503020204020204" pitchFamily="34" charset="-122"/>
                        </a:rPr>
                        <a:t>indus</a:t>
                      </a:r>
                      <a:endParaRPr lang="en-US" sz="1800" b="0" dirty="0">
                        <a:effectLst/>
                        <a:latin typeface="微软雅黑" panose="020B0503020204020204" pitchFamily="34" charset="-122"/>
                        <a:ea typeface="微软雅黑" panose="020B0503020204020204" pitchFamily="34" charset="-122"/>
                      </a:endParaRP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650"/>
                        </a:lnSpc>
                        <a:buNone/>
                      </a:pPr>
                      <a:r>
                        <a:rPr lang="zh-CN" altLang="en-US" sz="1600" b="0" dirty="0">
                          <a:effectLst/>
                          <a:latin typeface="微软雅黑" panose="020B0503020204020204" pitchFamily="34" charset="-122"/>
                          <a:ea typeface="微软雅黑" panose="020B0503020204020204" pitchFamily="34" charset="-122"/>
                        </a:rPr>
                        <a:t>非零售业比例</a:t>
                      </a:r>
                      <a:endParaRPr lang="en-US" sz="16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7770262"/>
                  </a:ext>
                </a:extLst>
              </a:tr>
              <a:tr h="382994">
                <a:tc>
                  <a:txBody>
                    <a:bodyPr/>
                    <a:lstStyle/>
                    <a:p>
                      <a:pPr algn="ctr">
                        <a:lnSpc>
                          <a:spcPts val="1875"/>
                        </a:lnSpc>
                        <a:buNone/>
                      </a:pPr>
                      <a:r>
                        <a:rPr lang="en-US" sz="1800" b="0" dirty="0" err="1">
                          <a:effectLst/>
                          <a:latin typeface="微软雅黑" panose="020B0503020204020204" pitchFamily="34" charset="-122"/>
                          <a:ea typeface="微软雅黑" panose="020B0503020204020204" pitchFamily="34" charset="-122"/>
                        </a:rPr>
                        <a:t>chas</a:t>
                      </a:r>
                      <a:endParaRPr lang="en-US" sz="1800" b="0" dirty="0">
                        <a:effectLst/>
                        <a:latin typeface="微软雅黑" panose="020B0503020204020204" pitchFamily="34" charset="-122"/>
                        <a:ea typeface="微软雅黑" panose="020B0503020204020204" pitchFamily="34" charset="-122"/>
                      </a:endParaRP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分类</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650"/>
                        </a:lnSpc>
                        <a:buNone/>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查尔斯河区域（如果区域边界为河流，则 </a:t>
                      </a:r>
                      <a:r>
                        <a:rPr lang="en-US" altLang="zh-CN" sz="1600" b="0" dirty="0">
                          <a:solidFill>
                            <a:schemeClr val="tx1"/>
                          </a:solidFill>
                          <a:effectLst/>
                          <a:latin typeface="微软雅黑" panose="020B0503020204020204" pitchFamily="34" charset="-122"/>
                          <a:ea typeface="微软雅黑" panose="020B0503020204020204" pitchFamily="34" charset="-122"/>
                          <a:cs typeface="+mn-cs"/>
                        </a:rPr>
                        <a:t>= 1</a:t>
                      </a: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；否则为 </a:t>
                      </a:r>
                      <a:r>
                        <a:rPr lang="en-US" altLang="zh-CN" sz="1600" b="0" dirty="0">
                          <a:solidFill>
                            <a:schemeClr val="tx1"/>
                          </a:solidFill>
                          <a:effectLst/>
                          <a:latin typeface="微软雅黑" panose="020B0503020204020204" pitchFamily="34" charset="-122"/>
                          <a:ea typeface="微软雅黑" panose="020B0503020204020204" pitchFamily="34" charset="-122"/>
                          <a:cs typeface="+mn-cs"/>
                        </a:rPr>
                        <a:t>0</a:t>
                      </a: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a:t>
                      </a:r>
                      <a:endParaRPr lang="en-US" altLang="zh-CN" sz="1600" b="0" dirty="0">
                        <a:solidFill>
                          <a:schemeClr val="tx1"/>
                        </a:solidFill>
                        <a:effectLst/>
                        <a:latin typeface="微软雅黑" panose="020B0503020204020204" pitchFamily="34" charset="-122"/>
                        <a:ea typeface="微软雅黑" panose="020B0503020204020204" pitchFamily="34" charset="-122"/>
                        <a:cs typeface="+mn-cs"/>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0332151"/>
                  </a:ext>
                </a:extLst>
              </a:tr>
              <a:tr h="453627">
                <a:tc>
                  <a:txBody>
                    <a:bodyPr/>
                    <a:lstStyle/>
                    <a:p>
                      <a:pPr algn="ctr">
                        <a:lnSpc>
                          <a:spcPts val="1875"/>
                        </a:lnSpc>
                        <a:buNone/>
                      </a:pPr>
                      <a:r>
                        <a:rPr lang="en-US" sz="1800" b="0" dirty="0" err="1">
                          <a:effectLst/>
                          <a:latin typeface="微软雅黑" panose="020B0503020204020204" pitchFamily="34" charset="-122"/>
                          <a:ea typeface="微软雅黑" panose="020B0503020204020204" pitchFamily="34" charset="-122"/>
                        </a:rPr>
                        <a:t>nox</a:t>
                      </a:r>
                      <a:endParaRPr lang="en-US" sz="1800" b="0" dirty="0">
                        <a:effectLst/>
                        <a:latin typeface="微软雅黑" panose="020B0503020204020204" pitchFamily="34" charset="-122"/>
                        <a:ea typeface="微软雅黑" panose="020B0503020204020204" pitchFamily="34" charset="-122"/>
                      </a:endParaRP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875"/>
                        </a:lnSpc>
                        <a:buNone/>
                      </a:pPr>
                      <a:r>
                        <a:rPr lang="zh-CN" altLang="en-US" sz="1600" b="0" dirty="0">
                          <a:effectLst/>
                          <a:latin typeface="微软雅黑" panose="020B0503020204020204" pitchFamily="34" charset="-122"/>
                          <a:ea typeface="微软雅黑" panose="020B0503020204020204" pitchFamily="34" charset="-122"/>
                        </a:rPr>
                        <a:t>氮氧化物浓度</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14778864"/>
                  </a:ext>
                </a:extLst>
              </a:tr>
              <a:tr h="382994">
                <a:tc>
                  <a:txBody>
                    <a:bodyPr/>
                    <a:lstStyle/>
                    <a:p>
                      <a:pPr algn="ctr">
                        <a:lnSpc>
                          <a:spcPts val="1875"/>
                        </a:lnSpc>
                        <a:buNone/>
                      </a:pPr>
                      <a:r>
                        <a:rPr lang="en-US" sz="1800" b="0" dirty="0">
                          <a:effectLst/>
                          <a:latin typeface="微软雅黑" panose="020B0503020204020204" pitchFamily="34" charset="-122"/>
                          <a:ea typeface="微软雅黑" panose="020B0503020204020204" pitchFamily="34" charset="-122"/>
                        </a:rPr>
                        <a:t>rm</a:t>
                      </a: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650"/>
                        </a:lnSpc>
                        <a:buNone/>
                      </a:pPr>
                      <a:r>
                        <a:rPr lang="zh-CN" altLang="en-US" sz="1600" b="0" dirty="0">
                          <a:effectLst/>
                          <a:latin typeface="微软雅黑" panose="020B0503020204020204" pitchFamily="34" charset="-122"/>
                          <a:ea typeface="微软雅黑" panose="020B0503020204020204" pitchFamily="34" charset="-122"/>
                        </a:rPr>
                        <a:t>每间住宅的平均房间数</a:t>
                      </a:r>
                      <a:endParaRPr lang="en-US" sz="16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99459521"/>
                  </a:ext>
                </a:extLst>
              </a:tr>
              <a:tr h="382994">
                <a:tc>
                  <a:txBody>
                    <a:bodyPr/>
                    <a:lstStyle/>
                    <a:p>
                      <a:pPr algn="ctr">
                        <a:lnSpc>
                          <a:spcPts val="1875"/>
                        </a:lnSpc>
                        <a:buNone/>
                      </a:pPr>
                      <a:r>
                        <a:rPr lang="en-US" sz="1800" b="0" dirty="0">
                          <a:effectLst/>
                          <a:latin typeface="微软雅黑" panose="020B0503020204020204" pitchFamily="34" charset="-122"/>
                          <a:ea typeface="微软雅黑" panose="020B0503020204020204" pitchFamily="34" charset="-122"/>
                        </a:rPr>
                        <a:t>age</a:t>
                      </a: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650"/>
                        </a:lnSpc>
                        <a:buNone/>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自住单位的比例</a:t>
                      </a:r>
                      <a:endParaRPr lang="en-US" sz="1600" b="0" dirty="0">
                        <a:solidFill>
                          <a:schemeClr val="tx1"/>
                        </a:solidFill>
                        <a:effectLst/>
                        <a:latin typeface="微软雅黑" panose="020B0503020204020204" pitchFamily="34" charset="-122"/>
                        <a:ea typeface="微软雅黑" panose="020B0503020204020204" pitchFamily="34" charset="-122"/>
                        <a:cs typeface="+mn-cs"/>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16975984"/>
                  </a:ext>
                </a:extLst>
              </a:tr>
              <a:tr h="522030">
                <a:tc>
                  <a:txBody>
                    <a:bodyPr/>
                    <a:lstStyle/>
                    <a:p>
                      <a:pPr algn="ctr">
                        <a:lnSpc>
                          <a:spcPts val="1875"/>
                        </a:lnSpc>
                        <a:buNone/>
                      </a:pPr>
                      <a:r>
                        <a:rPr lang="en-US" sz="1800" b="0" dirty="0">
                          <a:effectLst/>
                          <a:latin typeface="微软雅黑" panose="020B0503020204020204" pitchFamily="34" charset="-122"/>
                          <a:ea typeface="微软雅黑" panose="020B0503020204020204" pitchFamily="34" charset="-122"/>
                        </a:rPr>
                        <a:t>dis</a:t>
                      </a: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数值</a:t>
                      </a:r>
                      <a:endParaRPr lang="en-US" sz="1600" b="0" dirty="0">
                        <a:solidFill>
                          <a:schemeClr val="tx1"/>
                        </a:solidFill>
                        <a:effectLst/>
                        <a:latin typeface="微软雅黑" panose="020B0503020204020204" pitchFamily="34" charset="-122"/>
                        <a:ea typeface="微软雅黑" panose="020B0503020204020204" pitchFamily="34" charset="-122"/>
                        <a:cs typeface="+mn-cs"/>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875"/>
                        </a:lnSpc>
                        <a:buNone/>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到五个波士顿就业中心的距离</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52781316"/>
                  </a:ext>
                </a:extLst>
              </a:tr>
              <a:tr h="410963">
                <a:tc>
                  <a:txBody>
                    <a:bodyPr/>
                    <a:lstStyle/>
                    <a:p>
                      <a:pPr algn="ctr">
                        <a:lnSpc>
                          <a:spcPts val="1875"/>
                        </a:lnSpc>
                        <a:buNone/>
                      </a:pPr>
                      <a:r>
                        <a:rPr lang="en-US" sz="1800" b="0" dirty="0">
                          <a:effectLst/>
                          <a:latin typeface="微软雅黑" panose="020B0503020204020204" pitchFamily="34" charset="-122"/>
                          <a:ea typeface="微软雅黑" panose="020B0503020204020204" pitchFamily="34" charset="-122"/>
                        </a:rPr>
                        <a:t>rad</a:t>
                      </a: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650"/>
                        </a:lnSpc>
                        <a:buNone/>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高速公路的可达性指数</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80826766"/>
                  </a:ext>
                </a:extLst>
              </a:tr>
            </a:tbl>
          </a:graphicData>
        </a:graphic>
      </p:graphicFrame>
      <p:sp>
        <p:nvSpPr>
          <p:cNvPr id="3" name="文本框 2">
            <a:extLst>
              <a:ext uri="{FF2B5EF4-FFF2-40B4-BE49-F238E27FC236}">
                <a16:creationId xmlns:a16="http://schemas.microsoft.com/office/drawing/2014/main" id="{8A080B6F-9A27-403D-CA8B-E13F02D85434}"/>
              </a:ext>
            </a:extLst>
          </p:cNvPr>
          <p:cNvSpPr txBox="1"/>
          <p:nvPr/>
        </p:nvSpPr>
        <p:spPr>
          <a:xfrm>
            <a:off x="1033509" y="1225143"/>
            <a:ext cx="10808563" cy="662554"/>
          </a:xfrm>
          <a:prstGeom prst="rect">
            <a:avLst/>
          </a:prstGeom>
          <a:noFill/>
        </p:spPr>
        <p:txBody>
          <a:bodyPr wrap="square">
            <a:spAutoFit/>
          </a:bodyPr>
          <a:lstStyle/>
          <a:p>
            <a:pPr>
              <a:lnSpc>
                <a:spcPct val="150000"/>
              </a:lnSpc>
              <a:spcAft>
                <a:spcPts val="600"/>
              </a:spcAft>
            </a:pPr>
            <a:r>
              <a:rPr lang="zh-CN" altLang="en-US" sz="2800" b="1" dirty="0">
                <a:solidFill>
                  <a:srgbClr val="115522"/>
                </a:solidFill>
                <a:latin typeface="微软雅黑" panose="020B0503020204020204" pitchFamily="34" charset="-122"/>
                <a:ea typeface="微软雅黑" panose="020B0503020204020204" pitchFamily="34" charset="-122"/>
              </a:rPr>
              <a:t>案例数据 </a:t>
            </a:r>
            <a:r>
              <a:rPr lang="en-US" altLang="zh-CN" sz="2800" b="1" dirty="0">
                <a:solidFill>
                  <a:srgbClr val="115522"/>
                </a:solidFill>
                <a:latin typeface="微软雅黑" panose="020B0503020204020204" pitchFamily="34" charset="-122"/>
                <a:ea typeface="微软雅黑" panose="020B0503020204020204" pitchFamily="34" charset="-122"/>
              </a:rPr>
              <a:t>Boston</a:t>
            </a:r>
            <a:r>
              <a:rPr lang="zh-CN" altLang="en-US" sz="2800" b="1" dirty="0">
                <a:solidFill>
                  <a:srgbClr val="115522"/>
                </a:solidFill>
                <a:latin typeface="微软雅黑" panose="020B0503020204020204" pitchFamily="34" charset="-122"/>
                <a:ea typeface="微软雅黑" panose="020B0503020204020204" pitchFamily="34" charset="-122"/>
              </a:rPr>
              <a:t>（</a:t>
            </a:r>
            <a:r>
              <a:rPr lang="en-US" altLang="zh-CN" sz="2800" b="1" dirty="0">
                <a:solidFill>
                  <a:srgbClr val="115522"/>
                </a:solidFill>
                <a:latin typeface="微软雅黑" panose="020B0503020204020204" pitchFamily="34" charset="-122"/>
                <a:ea typeface="微软雅黑" panose="020B0503020204020204" pitchFamily="34" charset="-122"/>
              </a:rPr>
              <a:t>506 </a:t>
            </a:r>
            <a:r>
              <a:rPr lang="en-US" altLang="zh-CN" sz="2800" b="1" dirty="0" err="1">
                <a:solidFill>
                  <a:srgbClr val="115522"/>
                </a:solidFill>
                <a:latin typeface="微软雅黑" panose="020B0503020204020204" pitchFamily="34" charset="-122"/>
                <a:ea typeface="微软雅黑" panose="020B0503020204020204" pitchFamily="34" charset="-122"/>
              </a:rPr>
              <a:t>obs</a:t>
            </a:r>
            <a:r>
              <a:rPr lang="zh-CN" altLang="en-US" sz="2800" b="1" dirty="0">
                <a:solidFill>
                  <a:srgbClr val="115522"/>
                </a:solidFill>
                <a:latin typeface="微软雅黑" panose="020B0503020204020204" pitchFamily="34" charset="-122"/>
                <a:ea typeface="微软雅黑" panose="020B0503020204020204" pitchFamily="34" charset="-122"/>
              </a:rPr>
              <a:t>，来源：</a:t>
            </a:r>
            <a:r>
              <a:rPr lang="en-US" altLang="zh-CN" sz="2800" b="1" dirty="0">
                <a:solidFill>
                  <a:srgbClr val="115522"/>
                </a:solidFill>
                <a:latin typeface="微软雅黑" panose="020B0503020204020204" pitchFamily="34" charset="-122"/>
                <a:ea typeface="微软雅黑" panose="020B0503020204020204" pitchFamily="34" charset="-122"/>
              </a:rPr>
              <a:t>R  MASS</a:t>
            </a:r>
            <a:r>
              <a:rPr lang="zh-CN" altLang="en-US" sz="2800" b="1" dirty="0">
                <a:solidFill>
                  <a:srgbClr val="115522"/>
                </a:solidFill>
                <a:latin typeface="微软雅黑" panose="020B0503020204020204" pitchFamily="34" charset="-122"/>
                <a:ea typeface="微软雅黑" panose="020B0503020204020204" pitchFamily="34" charset="-122"/>
              </a:rPr>
              <a:t>包）</a:t>
            </a:r>
            <a:endParaRPr lang="en-US" altLang="zh-CN" sz="2800" b="1" dirty="0">
              <a:solidFill>
                <a:srgbClr val="11552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14810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85DF6-5CE0-D73D-D3B1-ABE0E5AE0F5E}"/>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6160BE52-C5A7-43D0-85C0-FD5CAFB8AAC1}"/>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16</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DD49CA2E-9610-0AA8-0E8E-B1B8D7F35565}"/>
              </a:ext>
            </a:extLst>
          </p:cNvPr>
          <p:cNvSpPr txBox="1"/>
          <p:nvPr/>
        </p:nvSpPr>
        <p:spPr>
          <a:xfrm>
            <a:off x="911521" y="409110"/>
            <a:ext cx="3416320"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五、</a:t>
            </a:r>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R</a:t>
            </a:r>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代码实现</a:t>
            </a:r>
            <a:endParaRPr lang="zh-CN" altLang="en-US" sz="3600" dirty="0">
              <a:solidFill>
                <a:srgbClr val="115522"/>
              </a:solidFill>
              <a:latin typeface="微软雅黑" panose="020B0503020204020204" pitchFamily="34" charset="-122"/>
              <a:ea typeface="微软雅黑" panose="020B0503020204020204" pitchFamily="34" charset="-122"/>
            </a:endParaRPr>
          </a:p>
        </p:txBody>
      </p:sp>
      <p:sp>
        <p:nvSpPr>
          <p:cNvPr id="7" name="矩形 8">
            <a:extLst>
              <a:ext uri="{FF2B5EF4-FFF2-40B4-BE49-F238E27FC236}">
                <a16:creationId xmlns:a16="http://schemas.microsoft.com/office/drawing/2014/main" id="{3751F9EB-F233-9F20-66D7-6AC76CF715C7}"/>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a:extLst>
              <a:ext uri="{FF2B5EF4-FFF2-40B4-BE49-F238E27FC236}">
                <a16:creationId xmlns:a16="http://schemas.microsoft.com/office/drawing/2014/main" id="{945037D9-F424-2798-D03F-E8CF3F88AF9C}"/>
              </a:ext>
            </a:extLst>
          </p:cNvPr>
          <p:cNvGraphicFramePr>
            <a:graphicFrameLocks noGrp="1"/>
          </p:cNvGraphicFramePr>
          <p:nvPr>
            <p:extLst>
              <p:ext uri="{D42A27DB-BD31-4B8C-83A1-F6EECF244321}">
                <p14:modId xmlns:p14="http://schemas.microsoft.com/office/powerpoint/2010/main" val="3143342557"/>
              </p:ext>
            </p:extLst>
          </p:nvPr>
        </p:nvGraphicFramePr>
        <p:xfrm>
          <a:off x="911521" y="2057399"/>
          <a:ext cx="10442279" cy="2140566"/>
        </p:xfrm>
        <a:graphic>
          <a:graphicData uri="http://schemas.openxmlformats.org/drawingml/2006/table">
            <a:tbl>
              <a:tblPr/>
              <a:tblGrid>
                <a:gridCol w="1298279">
                  <a:extLst>
                    <a:ext uri="{9D8B030D-6E8A-4147-A177-3AD203B41FA5}">
                      <a16:colId xmlns:a16="http://schemas.microsoft.com/office/drawing/2014/main" val="646167774"/>
                    </a:ext>
                  </a:extLst>
                </a:gridCol>
                <a:gridCol w="2057400">
                  <a:extLst>
                    <a:ext uri="{9D8B030D-6E8A-4147-A177-3AD203B41FA5}">
                      <a16:colId xmlns:a16="http://schemas.microsoft.com/office/drawing/2014/main" val="102199876"/>
                    </a:ext>
                  </a:extLst>
                </a:gridCol>
                <a:gridCol w="7086600">
                  <a:extLst>
                    <a:ext uri="{9D8B030D-6E8A-4147-A177-3AD203B41FA5}">
                      <a16:colId xmlns:a16="http://schemas.microsoft.com/office/drawing/2014/main" val="2560365522"/>
                    </a:ext>
                  </a:extLst>
                </a:gridCol>
              </a:tblGrid>
              <a:tr h="550425">
                <a:tc>
                  <a:txBody>
                    <a:bodyPr/>
                    <a:lstStyle/>
                    <a:p>
                      <a:pPr algn="ctr">
                        <a:lnSpc>
                          <a:spcPts val="1875"/>
                        </a:lnSpc>
                        <a:buNone/>
                      </a:pPr>
                      <a:r>
                        <a:rPr lang="zh-CN" altLang="en-US" sz="1800" b="1" dirty="0">
                          <a:effectLst/>
                          <a:latin typeface="微软雅黑" panose="020B0503020204020204" pitchFamily="34" charset="-122"/>
                          <a:ea typeface="微软雅黑" panose="020B0503020204020204" pitchFamily="34" charset="-122"/>
                        </a:rPr>
                        <a:t>变量名</a:t>
                      </a: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1" dirty="0">
                          <a:effectLst/>
                          <a:latin typeface="微软雅黑" panose="020B0503020204020204" pitchFamily="34" charset="-122"/>
                          <a:ea typeface="微软雅黑" panose="020B0503020204020204" pitchFamily="34" charset="-122"/>
                        </a:rPr>
                        <a:t>类型</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1" dirty="0">
                          <a:effectLst/>
                          <a:latin typeface="微软雅黑" panose="020B0503020204020204" pitchFamily="34" charset="-122"/>
                          <a:ea typeface="微软雅黑" panose="020B0503020204020204" pitchFamily="34" charset="-122"/>
                        </a:rPr>
                        <a:t>含义及取值</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00557532"/>
                  </a:ext>
                </a:extLst>
              </a:tr>
              <a:tr h="410963">
                <a:tc>
                  <a:txBody>
                    <a:bodyPr/>
                    <a:lstStyle/>
                    <a:p>
                      <a:pPr algn="ctr">
                        <a:lnSpc>
                          <a:spcPts val="1875"/>
                        </a:lnSpc>
                        <a:buNone/>
                      </a:pPr>
                      <a:r>
                        <a:rPr lang="en-US" sz="1800" b="0" dirty="0">
                          <a:effectLst/>
                          <a:latin typeface="微软雅黑" panose="020B0503020204020204" pitchFamily="34" charset="-122"/>
                          <a:ea typeface="微软雅黑" panose="020B0503020204020204" pitchFamily="34" charset="-122"/>
                        </a:rPr>
                        <a:t>tax</a:t>
                      </a: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650"/>
                        </a:lnSpc>
                        <a:buNone/>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财产税税率</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6472440"/>
                  </a:ext>
                </a:extLst>
              </a:tr>
              <a:tr h="382994">
                <a:tc>
                  <a:txBody>
                    <a:bodyPr/>
                    <a:lstStyle/>
                    <a:p>
                      <a:pPr algn="ctr">
                        <a:lnSpc>
                          <a:spcPts val="1875"/>
                        </a:lnSpc>
                        <a:buNone/>
                      </a:pPr>
                      <a:r>
                        <a:rPr lang="en-US" altLang="zh-CN" sz="1800" b="0" dirty="0" err="1">
                          <a:effectLst/>
                          <a:latin typeface="微软雅黑" panose="020B0503020204020204" pitchFamily="34" charset="-122"/>
                          <a:ea typeface="微软雅黑" panose="020B0503020204020204" pitchFamily="34" charset="-122"/>
                        </a:rPr>
                        <a:t>ptratio</a:t>
                      </a:r>
                      <a:endParaRPr lang="en-US" sz="1800" b="0" dirty="0">
                        <a:effectLst/>
                        <a:latin typeface="微软雅黑" panose="020B0503020204020204" pitchFamily="34" charset="-122"/>
                        <a:ea typeface="微软雅黑" panose="020B0503020204020204" pitchFamily="34" charset="-122"/>
                      </a:endParaRP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875"/>
                        </a:lnSpc>
                        <a:buNone/>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学生与教师的比例</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22130397"/>
                  </a:ext>
                </a:extLst>
              </a:tr>
              <a:tr h="385221">
                <a:tc>
                  <a:txBody>
                    <a:bodyPr/>
                    <a:lstStyle/>
                    <a:p>
                      <a:pPr algn="ctr">
                        <a:lnSpc>
                          <a:spcPts val="1875"/>
                        </a:lnSpc>
                        <a:buNone/>
                      </a:pPr>
                      <a:r>
                        <a:rPr lang="en-US" sz="1800" b="0" dirty="0">
                          <a:effectLst/>
                          <a:latin typeface="微软雅黑" panose="020B0503020204020204" pitchFamily="34" charset="-122"/>
                          <a:ea typeface="微软雅黑" panose="020B0503020204020204" pitchFamily="34" charset="-122"/>
                        </a:rPr>
                        <a:t>black</a:t>
                      </a: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875"/>
                        </a:lnSpc>
                        <a:buNone/>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黑人比例</a:t>
                      </a: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77364632"/>
                  </a:ext>
                </a:extLst>
              </a:tr>
              <a:tr h="410963">
                <a:tc>
                  <a:txBody>
                    <a:bodyPr/>
                    <a:lstStyle/>
                    <a:p>
                      <a:pPr algn="ctr">
                        <a:lnSpc>
                          <a:spcPts val="1875"/>
                        </a:lnSpc>
                        <a:buNone/>
                      </a:pPr>
                      <a:r>
                        <a:rPr lang="en-US" sz="1800" b="0" dirty="0" err="1">
                          <a:effectLst/>
                          <a:latin typeface="微软雅黑" panose="020B0503020204020204" pitchFamily="34" charset="-122"/>
                          <a:ea typeface="微软雅黑" panose="020B0503020204020204" pitchFamily="34" charset="-122"/>
                        </a:rPr>
                        <a:t>lstat</a:t>
                      </a:r>
                      <a:endParaRPr lang="en-US" sz="1800" b="0" dirty="0">
                        <a:effectLst/>
                        <a:latin typeface="微软雅黑" panose="020B0503020204020204" pitchFamily="34" charset="-122"/>
                        <a:ea typeface="微软雅黑" panose="020B0503020204020204" pitchFamily="34" charset="-122"/>
                      </a:endParaRPr>
                    </a:p>
                  </a:txBody>
                  <a:tcPr marL="18408"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ts val="1875"/>
                        </a:lnSpc>
                        <a:buNone/>
                      </a:pPr>
                      <a:r>
                        <a:rPr lang="zh-CN" altLang="en-US" sz="1800" b="0" dirty="0">
                          <a:effectLst/>
                          <a:latin typeface="微软雅黑" panose="020B0503020204020204" pitchFamily="34" charset="-122"/>
                          <a:ea typeface="微软雅黑" panose="020B0503020204020204" pitchFamily="34" charset="-122"/>
                        </a:rPr>
                        <a:t>数值</a:t>
                      </a:r>
                      <a:endParaRPr lang="en-US" altLang="zh-CN" sz="1800" b="0" dirty="0">
                        <a:effectLst/>
                        <a:latin typeface="微软雅黑" panose="020B0503020204020204" pitchFamily="34" charset="-122"/>
                        <a:ea typeface="微软雅黑" panose="020B0503020204020204" pitchFamily="34" charset="-122"/>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650"/>
                        </a:lnSpc>
                        <a:buNone/>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人口地位较低（百分比）</a:t>
                      </a:r>
                      <a:endParaRPr lang="en-US" sz="1600" b="0" dirty="0">
                        <a:solidFill>
                          <a:schemeClr val="tx1"/>
                        </a:solidFill>
                        <a:effectLst/>
                        <a:latin typeface="微软雅黑" panose="020B0503020204020204" pitchFamily="34" charset="-122"/>
                        <a:ea typeface="微软雅黑" panose="020B0503020204020204" pitchFamily="34" charset="-122"/>
                        <a:cs typeface="+mn-cs"/>
                      </a:endParaRPr>
                    </a:p>
                  </a:txBody>
                  <a:tcPr marL="24544" marR="24544" marT="15340" marB="153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80826766"/>
                  </a:ext>
                </a:extLst>
              </a:tr>
            </a:tbl>
          </a:graphicData>
        </a:graphic>
      </p:graphicFrame>
      <p:sp>
        <p:nvSpPr>
          <p:cNvPr id="3" name="文本框 2">
            <a:extLst>
              <a:ext uri="{FF2B5EF4-FFF2-40B4-BE49-F238E27FC236}">
                <a16:creationId xmlns:a16="http://schemas.microsoft.com/office/drawing/2014/main" id="{481C5F06-690E-548A-EEE9-3E371B7A91D5}"/>
              </a:ext>
            </a:extLst>
          </p:cNvPr>
          <p:cNvSpPr txBox="1"/>
          <p:nvPr/>
        </p:nvSpPr>
        <p:spPr>
          <a:xfrm>
            <a:off x="1033509" y="1225143"/>
            <a:ext cx="10808563" cy="662554"/>
          </a:xfrm>
          <a:prstGeom prst="rect">
            <a:avLst/>
          </a:prstGeom>
          <a:noFill/>
        </p:spPr>
        <p:txBody>
          <a:bodyPr wrap="square">
            <a:spAutoFit/>
          </a:bodyPr>
          <a:lstStyle/>
          <a:p>
            <a:pPr>
              <a:lnSpc>
                <a:spcPct val="150000"/>
              </a:lnSpc>
              <a:spcAft>
                <a:spcPts val="600"/>
              </a:spcAft>
            </a:pPr>
            <a:r>
              <a:rPr lang="zh-CN" altLang="en-US" sz="2800" b="1" dirty="0">
                <a:solidFill>
                  <a:srgbClr val="115522"/>
                </a:solidFill>
                <a:latin typeface="微软雅黑" panose="020B0503020204020204" pitchFamily="34" charset="-122"/>
                <a:ea typeface="微软雅黑" panose="020B0503020204020204" pitchFamily="34" charset="-122"/>
              </a:rPr>
              <a:t>案例数据 </a:t>
            </a:r>
            <a:r>
              <a:rPr lang="en-US" altLang="zh-CN" sz="2800" b="1" dirty="0">
                <a:solidFill>
                  <a:srgbClr val="115522"/>
                </a:solidFill>
                <a:latin typeface="微软雅黑" panose="020B0503020204020204" pitchFamily="34" charset="-122"/>
                <a:ea typeface="微软雅黑" panose="020B0503020204020204" pitchFamily="34" charset="-122"/>
              </a:rPr>
              <a:t>Boston</a:t>
            </a:r>
            <a:r>
              <a:rPr lang="zh-CN" altLang="en-US" sz="2800" b="1" dirty="0">
                <a:solidFill>
                  <a:srgbClr val="115522"/>
                </a:solidFill>
                <a:latin typeface="微软雅黑" panose="020B0503020204020204" pitchFamily="34" charset="-122"/>
                <a:ea typeface="微软雅黑" panose="020B0503020204020204" pitchFamily="34" charset="-122"/>
              </a:rPr>
              <a:t>（</a:t>
            </a:r>
            <a:r>
              <a:rPr lang="en-US" altLang="zh-CN" sz="2800" b="1" dirty="0">
                <a:solidFill>
                  <a:srgbClr val="115522"/>
                </a:solidFill>
                <a:latin typeface="微软雅黑" panose="020B0503020204020204" pitchFamily="34" charset="-122"/>
                <a:ea typeface="微软雅黑" panose="020B0503020204020204" pitchFamily="34" charset="-122"/>
              </a:rPr>
              <a:t>506 </a:t>
            </a:r>
            <a:r>
              <a:rPr lang="en-US" altLang="zh-CN" sz="2800" b="1" dirty="0" err="1">
                <a:solidFill>
                  <a:srgbClr val="115522"/>
                </a:solidFill>
                <a:latin typeface="微软雅黑" panose="020B0503020204020204" pitchFamily="34" charset="-122"/>
                <a:ea typeface="微软雅黑" panose="020B0503020204020204" pitchFamily="34" charset="-122"/>
              </a:rPr>
              <a:t>obs</a:t>
            </a:r>
            <a:r>
              <a:rPr lang="zh-CN" altLang="en-US" sz="2800" b="1" dirty="0">
                <a:solidFill>
                  <a:srgbClr val="115522"/>
                </a:solidFill>
                <a:latin typeface="微软雅黑" panose="020B0503020204020204" pitchFamily="34" charset="-122"/>
                <a:ea typeface="微软雅黑" panose="020B0503020204020204" pitchFamily="34" charset="-122"/>
              </a:rPr>
              <a:t>，来源：</a:t>
            </a:r>
            <a:r>
              <a:rPr lang="en-US" altLang="zh-CN" sz="2800" b="1" dirty="0">
                <a:solidFill>
                  <a:srgbClr val="115522"/>
                </a:solidFill>
                <a:latin typeface="微软雅黑" panose="020B0503020204020204" pitchFamily="34" charset="-122"/>
                <a:ea typeface="微软雅黑" panose="020B0503020204020204" pitchFamily="34" charset="-122"/>
              </a:rPr>
              <a:t>R  MASS</a:t>
            </a:r>
            <a:r>
              <a:rPr lang="zh-CN" altLang="en-US" sz="2800" b="1" dirty="0">
                <a:solidFill>
                  <a:srgbClr val="115522"/>
                </a:solidFill>
                <a:latin typeface="微软雅黑" panose="020B0503020204020204" pitchFamily="34" charset="-122"/>
                <a:ea typeface="微软雅黑" panose="020B0503020204020204" pitchFamily="34" charset="-122"/>
              </a:rPr>
              <a:t>包）     </a:t>
            </a:r>
            <a:r>
              <a:rPr lang="en-US" altLang="zh-CN" sz="2800" b="1" dirty="0">
                <a:solidFill>
                  <a:srgbClr val="115522"/>
                </a:solidFill>
                <a:latin typeface="微软雅黑" panose="020B0503020204020204" pitchFamily="34" charset="-122"/>
                <a:ea typeface="微软雅黑" panose="020B0503020204020204" pitchFamily="34" charset="-122"/>
              </a:rPr>
              <a:t>continued</a:t>
            </a:r>
          </a:p>
        </p:txBody>
      </p:sp>
    </p:spTree>
    <p:extLst>
      <p:ext uri="{BB962C8B-B14F-4D97-AF65-F5344CB8AC3E}">
        <p14:creationId xmlns:p14="http://schemas.microsoft.com/office/powerpoint/2010/main" val="513825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7DC48-7E7F-76F5-8157-D826A15720D0}"/>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D2D3117B-B5DB-9B4D-80DD-D57BA7A49A2C}"/>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17</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FBD66080-AF3C-533B-A2F3-41EC5080CA02}"/>
              </a:ext>
            </a:extLst>
          </p:cNvPr>
          <p:cNvSpPr txBox="1"/>
          <p:nvPr/>
        </p:nvSpPr>
        <p:spPr>
          <a:xfrm>
            <a:off x="911521" y="409110"/>
            <a:ext cx="3416320"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五、</a:t>
            </a:r>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R</a:t>
            </a:r>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代码实现</a:t>
            </a:r>
            <a:endParaRPr lang="zh-CN" altLang="en-US" sz="3600" dirty="0">
              <a:solidFill>
                <a:srgbClr val="115522"/>
              </a:solidFill>
              <a:latin typeface="微软雅黑" panose="020B0503020204020204" pitchFamily="34" charset="-122"/>
              <a:ea typeface="微软雅黑" panose="020B0503020204020204" pitchFamily="34" charset="-122"/>
            </a:endParaRPr>
          </a:p>
        </p:txBody>
      </p:sp>
      <p:sp>
        <p:nvSpPr>
          <p:cNvPr id="7" name="矩形 8">
            <a:extLst>
              <a:ext uri="{FF2B5EF4-FFF2-40B4-BE49-F238E27FC236}">
                <a16:creationId xmlns:a16="http://schemas.microsoft.com/office/drawing/2014/main" id="{D9481DBB-ADAF-EA3B-BB74-472D2512F110}"/>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BE266E38-FC37-4D02-657B-F5289394DC20}"/>
              </a:ext>
            </a:extLst>
          </p:cNvPr>
          <p:cNvSpPr txBox="1"/>
          <p:nvPr/>
        </p:nvSpPr>
        <p:spPr>
          <a:xfrm>
            <a:off x="1033509" y="1225143"/>
            <a:ext cx="10808563" cy="662554"/>
          </a:xfrm>
          <a:prstGeom prst="rect">
            <a:avLst/>
          </a:prstGeom>
          <a:noFill/>
        </p:spPr>
        <p:txBody>
          <a:bodyPr wrap="square">
            <a:spAutoFit/>
          </a:bodyPr>
          <a:lstStyle/>
          <a:p>
            <a:pPr>
              <a:lnSpc>
                <a:spcPct val="150000"/>
              </a:lnSpc>
              <a:spcAft>
                <a:spcPts val="600"/>
              </a:spcAft>
            </a:pPr>
            <a:r>
              <a:rPr lang="en-US" altLang="zh-CN" sz="2800" b="1" dirty="0">
                <a:solidFill>
                  <a:srgbClr val="115522"/>
                </a:solidFill>
                <a:latin typeface="微软雅黑" panose="020B0503020204020204" pitchFamily="34" charset="-122"/>
                <a:ea typeface="微软雅黑" panose="020B0503020204020204" pitchFamily="34" charset="-122"/>
              </a:rPr>
              <a:t>1. </a:t>
            </a:r>
            <a:r>
              <a:rPr lang="zh-CN" altLang="en-US" sz="2800" b="1" dirty="0">
                <a:solidFill>
                  <a:srgbClr val="115522"/>
                </a:solidFill>
                <a:latin typeface="微软雅黑" panose="020B0503020204020204" pitchFamily="34" charset="-122"/>
                <a:ea typeface="微软雅黑" panose="020B0503020204020204" pitchFamily="34" charset="-122"/>
              </a:rPr>
              <a:t>特征重要性图</a:t>
            </a:r>
            <a:endParaRPr lang="en-US" altLang="zh-CN" sz="2800" b="1" dirty="0">
              <a:solidFill>
                <a:srgbClr val="115522"/>
              </a:solidFill>
              <a:latin typeface="微软雅黑" panose="020B0503020204020204" pitchFamily="34" charset="-122"/>
              <a:ea typeface="微软雅黑" panose="020B0503020204020204" pitchFamily="34" charset="-122"/>
            </a:endParaRPr>
          </a:p>
        </p:txBody>
      </p:sp>
      <p:sp>
        <p:nvSpPr>
          <p:cNvPr id="2" name="AutoShape 2">
            <a:extLst>
              <a:ext uri="{FF2B5EF4-FFF2-40B4-BE49-F238E27FC236}">
                <a16:creationId xmlns:a16="http://schemas.microsoft.com/office/drawing/2014/main" id="{16E60D66-D2F9-F1E8-5B2F-C6FF94B2219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a:extLst>
              <a:ext uri="{FF2B5EF4-FFF2-40B4-BE49-F238E27FC236}">
                <a16:creationId xmlns:a16="http://schemas.microsoft.com/office/drawing/2014/main" id="{2CD9065E-2749-FBD3-77EE-1CFF7DC783A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AutoShape 6">
            <a:extLst>
              <a:ext uri="{FF2B5EF4-FFF2-40B4-BE49-F238E27FC236}">
                <a16:creationId xmlns:a16="http://schemas.microsoft.com/office/drawing/2014/main" id="{702AB72D-7C61-0A16-324E-2AF4FC6FDB00}"/>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2F5211BE-EDBA-2951-CD8D-BB83C8116C95}"/>
              </a:ext>
            </a:extLst>
          </p:cNvPr>
          <p:cNvPicPr>
            <a:picLocks noChangeAspect="1"/>
          </p:cNvPicPr>
          <p:nvPr/>
        </p:nvPicPr>
        <p:blipFill>
          <a:blip r:embed="rId3"/>
          <a:stretch>
            <a:fillRect/>
          </a:stretch>
        </p:blipFill>
        <p:spPr>
          <a:xfrm>
            <a:off x="-76200" y="1999654"/>
            <a:ext cx="12192000" cy="4136788"/>
          </a:xfrm>
          <a:prstGeom prst="rect">
            <a:avLst/>
          </a:prstGeom>
        </p:spPr>
      </p:pic>
    </p:spTree>
    <p:extLst>
      <p:ext uri="{BB962C8B-B14F-4D97-AF65-F5344CB8AC3E}">
        <p14:creationId xmlns:p14="http://schemas.microsoft.com/office/powerpoint/2010/main" val="1255795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DDFD9-9404-77F1-1E56-BFDECDA20F15}"/>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A5B24459-BE02-858A-FBD9-596CB2DA5996}"/>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18</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611AD85C-CB1A-572B-07B3-F421990C0E2B}"/>
              </a:ext>
            </a:extLst>
          </p:cNvPr>
          <p:cNvSpPr txBox="1"/>
          <p:nvPr/>
        </p:nvSpPr>
        <p:spPr>
          <a:xfrm>
            <a:off x="911521" y="409110"/>
            <a:ext cx="3416320"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五、</a:t>
            </a:r>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R</a:t>
            </a:r>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代码实现</a:t>
            </a:r>
            <a:endParaRPr lang="zh-CN" altLang="en-US" sz="3600" dirty="0">
              <a:solidFill>
                <a:srgbClr val="115522"/>
              </a:solidFill>
              <a:latin typeface="微软雅黑" panose="020B0503020204020204" pitchFamily="34" charset="-122"/>
              <a:ea typeface="微软雅黑" panose="020B0503020204020204" pitchFamily="34" charset="-122"/>
            </a:endParaRPr>
          </a:p>
        </p:txBody>
      </p:sp>
      <p:sp>
        <p:nvSpPr>
          <p:cNvPr id="7" name="矩形 8">
            <a:extLst>
              <a:ext uri="{FF2B5EF4-FFF2-40B4-BE49-F238E27FC236}">
                <a16:creationId xmlns:a16="http://schemas.microsoft.com/office/drawing/2014/main" id="{4AF18BF0-094A-606C-1181-50C19BDCC0A4}"/>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A5E33EA-63C1-4F92-C8D7-0EB89E1B5903}"/>
              </a:ext>
            </a:extLst>
          </p:cNvPr>
          <p:cNvSpPr txBox="1"/>
          <p:nvPr/>
        </p:nvSpPr>
        <p:spPr>
          <a:xfrm>
            <a:off x="1033509" y="1225143"/>
            <a:ext cx="10808563" cy="662554"/>
          </a:xfrm>
          <a:prstGeom prst="rect">
            <a:avLst/>
          </a:prstGeom>
          <a:noFill/>
        </p:spPr>
        <p:txBody>
          <a:bodyPr wrap="square">
            <a:spAutoFit/>
          </a:bodyPr>
          <a:lstStyle/>
          <a:p>
            <a:pPr>
              <a:lnSpc>
                <a:spcPct val="150000"/>
              </a:lnSpc>
              <a:spcAft>
                <a:spcPts val="600"/>
              </a:spcAft>
            </a:pPr>
            <a:r>
              <a:rPr lang="en-US" altLang="zh-CN" sz="2800" b="1" dirty="0">
                <a:solidFill>
                  <a:srgbClr val="115522"/>
                </a:solidFill>
                <a:latin typeface="微软雅黑" panose="020B0503020204020204" pitchFamily="34" charset="-122"/>
                <a:ea typeface="微软雅黑" panose="020B0503020204020204" pitchFamily="34" charset="-122"/>
              </a:rPr>
              <a:t>2. </a:t>
            </a:r>
            <a:r>
              <a:rPr lang="zh-CN" altLang="en-US" sz="2800" b="1" dirty="0">
                <a:solidFill>
                  <a:srgbClr val="115522"/>
                </a:solidFill>
                <a:latin typeface="微软雅黑" panose="020B0503020204020204" pitchFamily="34" charset="-122"/>
                <a:ea typeface="微软雅黑" panose="020B0503020204020204" pitchFamily="34" charset="-122"/>
              </a:rPr>
              <a:t>多维特征重要性图</a:t>
            </a:r>
            <a:endParaRPr lang="en-US" altLang="zh-CN" sz="2800" b="1" dirty="0">
              <a:solidFill>
                <a:srgbClr val="115522"/>
              </a:solidFill>
              <a:latin typeface="微软雅黑" panose="020B0503020204020204" pitchFamily="34" charset="-122"/>
              <a:ea typeface="微软雅黑" panose="020B0503020204020204" pitchFamily="34" charset="-122"/>
            </a:endParaRPr>
          </a:p>
        </p:txBody>
      </p:sp>
      <p:pic>
        <p:nvPicPr>
          <p:cNvPr id="1026" name="Picture 2" descr="已上传的图片">
            <a:extLst>
              <a:ext uri="{FF2B5EF4-FFF2-40B4-BE49-F238E27FC236}">
                <a16:creationId xmlns:a16="http://schemas.microsoft.com/office/drawing/2014/main" id="{E3CE0798-B338-302B-3463-29D79A9F38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667" y="2045669"/>
            <a:ext cx="10311021" cy="4400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199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78626-C226-A3DF-61D4-B7E22AF89C04}"/>
            </a:ext>
          </a:extLst>
        </p:cNvPr>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1831C94C-90AD-FBF7-542F-46040C0B9299}"/>
              </a:ext>
            </a:extLst>
          </p:cNvPr>
          <p:cNvSpPr>
            <a:spLocks noGrp="1"/>
          </p:cNvSpPr>
          <p:nvPr>
            <p:ph type="sldNum" sz="quarter" idx="12"/>
          </p:nvPr>
        </p:nvSpPr>
        <p:spPr bwMode="auto">
          <a:xfrm>
            <a:off x="99060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sz="1400" b="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defRPr/>
            </a:pPr>
            <a:fld id="{2587AD09-B9FA-4787-850B-9489BF830E7D}" type="slidenum">
              <a:rPr lang="en-US" altLang="zh-CN" smtClean="0"/>
              <a:pPr>
                <a:spcBef>
                  <a:spcPct val="0"/>
                </a:spcBef>
                <a:buClrTx/>
                <a:buSzTx/>
                <a:buFontTx/>
                <a:buNone/>
                <a:defRPr/>
              </a:pPr>
              <a:t>19</a:t>
            </a:fld>
            <a:endParaRPr lang="en-US" altLang="zh-CN" sz="1400" dirty="0">
              <a:latin typeface="Times New Roman" panose="02020603050405020304" pitchFamily="18" charset="0"/>
            </a:endParaRPr>
          </a:p>
        </p:txBody>
      </p:sp>
      <p:sp>
        <p:nvSpPr>
          <p:cNvPr id="6" name="文本框 7">
            <a:extLst>
              <a:ext uri="{FF2B5EF4-FFF2-40B4-BE49-F238E27FC236}">
                <a16:creationId xmlns:a16="http://schemas.microsoft.com/office/drawing/2014/main" id="{8C0AFCD5-51DC-09A4-66C7-11AE166510E7}"/>
              </a:ext>
            </a:extLst>
          </p:cNvPr>
          <p:cNvSpPr txBox="1"/>
          <p:nvPr/>
        </p:nvSpPr>
        <p:spPr>
          <a:xfrm>
            <a:off x="911521" y="409110"/>
            <a:ext cx="3416320" cy="646331"/>
          </a:xfrm>
          <a:prstGeom prst="rect">
            <a:avLst/>
          </a:prstGeom>
          <a:noFill/>
          <a:effectLst>
            <a:outerShdw blurRad="12700" dist="50800" dir="1200000" algn="tl" rotWithShape="0">
              <a:schemeClr val="accent1">
                <a:lumMod val="40000"/>
                <a:lumOff val="60000"/>
                <a:alpha val="55000"/>
              </a:schemeClr>
            </a:outerShdw>
          </a:effectLst>
        </p:spPr>
        <p:txBody>
          <a:bodyPr wrap="none" rtlCol="0">
            <a:spAutoFit/>
          </a:bodyPr>
          <a:lstStyle/>
          <a:p>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五、</a:t>
            </a:r>
            <a:r>
              <a:rPr lang="en-US" altLang="zh-CN"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R</a:t>
            </a:r>
            <a:r>
              <a:rPr lang="zh-CN" altLang="en-US" sz="3600" b="1" dirty="0">
                <a:solidFill>
                  <a:srgbClr val="115522"/>
                </a:solidFill>
                <a:latin typeface="Times New Roman" panose="02020603050405020304" charset="0"/>
                <a:ea typeface="思源宋体 CN Heavy" panose="02020900000000000000" pitchFamily="18" charset="-122"/>
                <a:cs typeface="Times New Roman" panose="02020603050405020304" charset="0"/>
              </a:rPr>
              <a:t>代码实现</a:t>
            </a:r>
            <a:endParaRPr lang="zh-CN" altLang="en-US" sz="3600" dirty="0">
              <a:solidFill>
                <a:srgbClr val="115522"/>
              </a:solidFill>
              <a:latin typeface="微软雅黑" panose="020B0503020204020204" pitchFamily="34" charset="-122"/>
              <a:ea typeface="微软雅黑" panose="020B0503020204020204" pitchFamily="34" charset="-122"/>
            </a:endParaRPr>
          </a:p>
        </p:txBody>
      </p:sp>
      <p:sp>
        <p:nvSpPr>
          <p:cNvPr id="7" name="矩形 8">
            <a:extLst>
              <a:ext uri="{FF2B5EF4-FFF2-40B4-BE49-F238E27FC236}">
                <a16:creationId xmlns:a16="http://schemas.microsoft.com/office/drawing/2014/main" id="{DF3BEFC3-9EA6-C791-31E4-82E2A0BA7D85}"/>
              </a:ext>
            </a:extLst>
          </p:cNvPr>
          <p:cNvSpPr/>
          <p:nvPr/>
        </p:nvSpPr>
        <p:spPr>
          <a:xfrm>
            <a:off x="685800" y="520164"/>
            <a:ext cx="97734" cy="525690"/>
          </a:xfrm>
          <a:prstGeom prst="rect">
            <a:avLst/>
          </a:prstGeom>
          <a:solidFill>
            <a:srgbClr val="1155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95C278D-A486-D4E8-B2B9-D1C35D9F3E52}"/>
              </a:ext>
            </a:extLst>
          </p:cNvPr>
          <p:cNvSpPr txBox="1"/>
          <p:nvPr/>
        </p:nvSpPr>
        <p:spPr>
          <a:xfrm>
            <a:off x="539318" y="914400"/>
            <a:ext cx="10808563" cy="662554"/>
          </a:xfrm>
          <a:prstGeom prst="rect">
            <a:avLst/>
          </a:prstGeom>
          <a:noFill/>
        </p:spPr>
        <p:txBody>
          <a:bodyPr wrap="square">
            <a:spAutoFit/>
          </a:bodyPr>
          <a:lstStyle/>
          <a:p>
            <a:pPr>
              <a:lnSpc>
                <a:spcPct val="150000"/>
              </a:lnSpc>
              <a:spcAft>
                <a:spcPts val="600"/>
              </a:spcAft>
            </a:pPr>
            <a:r>
              <a:rPr lang="en-US" altLang="zh-CN" sz="2800" b="1" dirty="0">
                <a:solidFill>
                  <a:srgbClr val="115522"/>
                </a:solidFill>
                <a:latin typeface="微软雅黑" panose="020B0503020204020204" pitchFamily="34" charset="-122"/>
                <a:ea typeface="微软雅黑" panose="020B0503020204020204" pitchFamily="34" charset="-122"/>
              </a:rPr>
              <a:t>3. </a:t>
            </a:r>
            <a:r>
              <a:rPr lang="zh-CN" altLang="en-US" sz="2800" b="1" dirty="0">
                <a:solidFill>
                  <a:srgbClr val="115522"/>
                </a:solidFill>
                <a:latin typeface="微软雅黑" panose="020B0503020204020204" pitchFamily="34" charset="-122"/>
                <a:ea typeface="微软雅黑" panose="020B0503020204020204" pitchFamily="34" charset="-122"/>
              </a:rPr>
              <a:t>不同重要性指标的关联</a:t>
            </a:r>
            <a:endParaRPr lang="en-US" altLang="zh-CN" sz="2800" b="1" dirty="0">
              <a:solidFill>
                <a:srgbClr val="115522"/>
              </a:solidFill>
              <a:latin typeface="微软雅黑" panose="020B0503020204020204" pitchFamily="34" charset="-122"/>
              <a:ea typeface="微软雅黑" panose="020B0503020204020204" pitchFamily="34" charset="-122"/>
            </a:endParaRPr>
          </a:p>
        </p:txBody>
      </p:sp>
      <p:sp>
        <p:nvSpPr>
          <p:cNvPr id="8" name="AutoShape 5">
            <a:extLst>
              <a:ext uri="{FF2B5EF4-FFF2-40B4-BE49-F238E27FC236}">
                <a16:creationId xmlns:a16="http://schemas.microsoft.com/office/drawing/2014/main" id="{83E71E99-C4C7-11B5-0840-AC21B41781F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9" name="图片 8">
            <a:extLst>
              <a:ext uri="{FF2B5EF4-FFF2-40B4-BE49-F238E27FC236}">
                <a16:creationId xmlns:a16="http://schemas.microsoft.com/office/drawing/2014/main" id="{6F6AC4AE-E617-EFE6-8CD7-76B4CCF1A7A2}"/>
              </a:ext>
            </a:extLst>
          </p:cNvPr>
          <p:cNvPicPr>
            <a:picLocks noChangeAspect="1"/>
          </p:cNvPicPr>
          <p:nvPr/>
        </p:nvPicPr>
        <p:blipFill>
          <a:blip r:embed="rId3"/>
          <a:stretch>
            <a:fillRect/>
          </a:stretch>
        </p:blipFill>
        <p:spPr>
          <a:xfrm>
            <a:off x="-152400" y="1637927"/>
            <a:ext cx="12192000" cy="4860244"/>
          </a:xfrm>
          <a:prstGeom prst="rect">
            <a:avLst/>
          </a:prstGeom>
        </p:spPr>
      </p:pic>
    </p:spTree>
    <p:extLst>
      <p:ext uri="{BB962C8B-B14F-4D97-AF65-F5344CB8AC3E}">
        <p14:creationId xmlns:p14="http://schemas.microsoft.com/office/powerpoint/2010/main" val="2160645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609600"/>
            <a:ext cx="6962193" cy="553998"/>
          </a:xfrm>
        </p:spPr>
        <p:txBody>
          <a:bodyPr/>
          <a:lstStyle/>
          <a:p>
            <a:pPr>
              <a:defRPr sz="3600" b="1"/>
            </a:pPr>
            <a:r>
              <a:rPr lang="zh-CN" altLang="en-US" dirty="0">
                <a:solidFill>
                  <a:schemeClr val="tx1"/>
                </a:solidFill>
              </a:rPr>
              <a:t>决策树与随机森林</a:t>
            </a:r>
            <a:r>
              <a:rPr dirty="0" err="1">
                <a:solidFill>
                  <a:schemeClr val="tx1"/>
                </a:solidFill>
              </a:rPr>
              <a:t>的比较</a:t>
            </a:r>
            <a:endParaRPr dirty="0">
              <a:solidFill>
                <a:schemeClr val="tx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2370703894"/>
              </p:ext>
            </p:extLst>
          </p:nvPr>
        </p:nvGraphicFramePr>
        <p:xfrm>
          <a:off x="1983828" y="1404759"/>
          <a:ext cx="9141372" cy="3200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3578772">
                  <a:extLst>
                    <a:ext uri="{9D8B030D-6E8A-4147-A177-3AD203B41FA5}">
                      <a16:colId xmlns:a16="http://schemas.microsoft.com/office/drawing/2014/main" val="20002"/>
                    </a:ext>
                  </a:extLst>
                </a:gridCol>
              </a:tblGrid>
              <a:tr h="457200">
                <a:tc>
                  <a:txBody>
                    <a:bodyPr/>
                    <a:lstStyle/>
                    <a:p>
                      <a:pPr algn="ctr">
                        <a:defRPr sz="2000" b="1">
                          <a:solidFill>
                            <a:srgbClr val="FFFFFF"/>
                          </a:solidFill>
                        </a:defRPr>
                      </a:pPr>
                      <a:r>
                        <a:t>特征</a:t>
                      </a:r>
                    </a:p>
                  </a:txBody>
                  <a:tcPr>
                    <a:solidFill>
                      <a:srgbClr val="5B9BD5"/>
                    </a:solidFill>
                  </a:tcPr>
                </a:tc>
                <a:tc>
                  <a:txBody>
                    <a:bodyPr/>
                    <a:lstStyle/>
                    <a:p>
                      <a:pPr algn="ctr">
                        <a:defRPr sz="2000" b="1">
                          <a:solidFill>
                            <a:srgbClr val="FFFFFF"/>
                          </a:solidFill>
                        </a:defRPr>
                      </a:pPr>
                      <a:r>
                        <a:t>决策树 🌳</a:t>
                      </a:r>
                    </a:p>
                  </a:txBody>
                  <a:tcPr>
                    <a:solidFill>
                      <a:srgbClr val="5B9BD5"/>
                    </a:solidFill>
                  </a:tcPr>
                </a:tc>
                <a:tc>
                  <a:txBody>
                    <a:bodyPr/>
                    <a:lstStyle/>
                    <a:p>
                      <a:pPr algn="ctr">
                        <a:defRPr sz="2000" b="1">
                          <a:solidFill>
                            <a:srgbClr val="FFFFFF"/>
                          </a:solidFill>
                        </a:defRPr>
                      </a:pPr>
                      <a:r>
                        <a:t>随机森林 🌲</a:t>
                      </a:r>
                    </a:p>
                  </a:txBody>
                  <a:tcPr>
                    <a:solidFill>
                      <a:srgbClr val="5B9BD5"/>
                    </a:solidFill>
                  </a:tcPr>
                </a:tc>
                <a:extLst>
                  <a:ext uri="{0D108BD9-81ED-4DB2-BD59-A6C34878D82A}">
                    <a16:rowId xmlns:a16="http://schemas.microsoft.com/office/drawing/2014/main" val="10000"/>
                  </a:ext>
                </a:extLst>
              </a:tr>
              <a:tr h="457200">
                <a:tc>
                  <a:txBody>
                    <a:bodyPr/>
                    <a:lstStyle/>
                    <a:p>
                      <a:pPr marL="540000" algn="l">
                        <a:defRPr sz="1800"/>
                      </a:pPr>
                      <a:r>
                        <a:rPr b="1">
                          <a:latin typeface="微软雅黑" panose="020B0503020204020204" pitchFamily="34" charset="-122"/>
                          <a:ea typeface="微软雅黑" panose="020B0503020204020204" pitchFamily="34" charset="-122"/>
                        </a:rPr>
                        <a:t>模型复杂度</a:t>
                      </a:r>
                    </a:p>
                  </a:txBody>
                  <a:tcPr/>
                </a:tc>
                <a:tc>
                  <a:txBody>
                    <a:bodyPr/>
                    <a:lstStyle/>
                    <a:p>
                      <a:pPr algn="l">
                        <a:defRPr sz="1800"/>
                      </a:pPr>
                      <a:r>
                        <a:rPr dirty="0" err="1">
                          <a:latin typeface="微软雅黑" panose="020B0503020204020204" pitchFamily="34" charset="-122"/>
                          <a:ea typeface="微软雅黑" panose="020B0503020204020204" pitchFamily="34" charset="-122"/>
                        </a:rPr>
                        <a:t>简单</a:t>
                      </a:r>
                      <a:endParaRPr dirty="0">
                        <a:latin typeface="微软雅黑" panose="020B0503020204020204" pitchFamily="34" charset="-122"/>
                        <a:ea typeface="微软雅黑" panose="020B0503020204020204" pitchFamily="34" charset="-122"/>
                      </a:endParaRPr>
                    </a:p>
                  </a:txBody>
                  <a:tcPr/>
                </a:tc>
                <a:tc>
                  <a:txBody>
                    <a:bodyPr/>
                    <a:lstStyle/>
                    <a:p>
                      <a:pPr algn="l">
                        <a:defRPr sz="1800"/>
                      </a:pPr>
                      <a:r>
                        <a:rPr dirty="0" err="1">
                          <a:latin typeface="微软雅黑" panose="020B0503020204020204" pitchFamily="34" charset="-122"/>
                          <a:ea typeface="微软雅黑" panose="020B0503020204020204" pitchFamily="34" charset="-122"/>
                        </a:rPr>
                        <a:t>复杂</a:t>
                      </a:r>
                      <a:endParaRPr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1"/>
                  </a:ext>
                </a:extLst>
              </a:tr>
              <a:tr h="457200">
                <a:tc>
                  <a:txBody>
                    <a:bodyPr/>
                    <a:lstStyle/>
                    <a:p>
                      <a:pPr marL="540000" algn="l">
                        <a:defRPr sz="1800"/>
                      </a:pPr>
                      <a:r>
                        <a:rPr b="1" dirty="0" err="1">
                          <a:latin typeface="微软雅黑" panose="020B0503020204020204" pitchFamily="34" charset="-122"/>
                          <a:ea typeface="微软雅黑" panose="020B0503020204020204" pitchFamily="34" charset="-122"/>
                        </a:rPr>
                        <a:t>稳定性</a:t>
                      </a:r>
                      <a:endParaRPr b="1" dirty="0">
                        <a:latin typeface="微软雅黑" panose="020B0503020204020204" pitchFamily="34" charset="-122"/>
                        <a:ea typeface="微软雅黑" panose="020B0503020204020204" pitchFamily="34" charset="-122"/>
                      </a:endParaRPr>
                    </a:p>
                  </a:txBody>
                  <a:tcPr/>
                </a:tc>
                <a:tc>
                  <a:txBody>
                    <a:bodyPr/>
                    <a:lstStyle/>
                    <a:p>
                      <a:pPr algn="l">
                        <a:defRPr sz="1800"/>
                      </a:pPr>
                      <a:r>
                        <a:rPr dirty="0" err="1">
                          <a:latin typeface="微软雅黑" panose="020B0503020204020204" pitchFamily="34" charset="-122"/>
                          <a:ea typeface="微软雅黑" panose="020B0503020204020204" pitchFamily="34" charset="-122"/>
                        </a:rPr>
                        <a:t>对样本分布敏感，容易过拟合</a:t>
                      </a:r>
                      <a:endParaRPr dirty="0">
                        <a:latin typeface="微软雅黑" panose="020B0503020204020204" pitchFamily="34" charset="-122"/>
                        <a:ea typeface="微软雅黑" panose="020B0503020204020204" pitchFamily="34" charset="-122"/>
                      </a:endParaRPr>
                    </a:p>
                  </a:txBody>
                  <a:tcPr/>
                </a:tc>
                <a:tc>
                  <a:txBody>
                    <a:bodyPr/>
                    <a:lstStyle/>
                    <a:p>
                      <a:pPr algn="l">
                        <a:defRPr sz="1800"/>
                      </a:pPr>
                      <a:r>
                        <a:rPr>
                          <a:latin typeface="微软雅黑" panose="020B0503020204020204" pitchFamily="34" charset="-122"/>
                          <a:ea typeface="微软雅黑" panose="020B0503020204020204" pitchFamily="34" charset="-122"/>
                        </a:rPr>
                        <a:t>稳定性强，泛化能力高</a:t>
                      </a:r>
                    </a:p>
                  </a:txBody>
                  <a:tcPr/>
                </a:tc>
                <a:extLst>
                  <a:ext uri="{0D108BD9-81ED-4DB2-BD59-A6C34878D82A}">
                    <a16:rowId xmlns:a16="http://schemas.microsoft.com/office/drawing/2014/main" val="10002"/>
                  </a:ext>
                </a:extLst>
              </a:tr>
              <a:tr h="457200">
                <a:tc>
                  <a:txBody>
                    <a:bodyPr/>
                    <a:lstStyle/>
                    <a:p>
                      <a:pPr marL="540000" algn="l">
                        <a:defRPr sz="1800"/>
                      </a:pPr>
                      <a:r>
                        <a:rPr lang="zh-CN" altLang="en-US" sz="1800" b="1" dirty="0">
                          <a:solidFill>
                            <a:schemeClr val="dk1"/>
                          </a:solidFill>
                          <a:latin typeface="微软雅黑" panose="020B0503020204020204" pitchFamily="34" charset="-122"/>
                          <a:ea typeface="微软雅黑" panose="020B0503020204020204" pitchFamily="34" charset="-122"/>
                          <a:cs typeface="+mn-cs"/>
                        </a:rPr>
                        <a:t>准确率</a:t>
                      </a:r>
                      <a:endParaRPr sz="1800" b="1" dirty="0">
                        <a:solidFill>
                          <a:schemeClr val="dk1"/>
                        </a:solidFill>
                        <a:latin typeface="微软雅黑" panose="020B0503020204020204" pitchFamily="34" charset="-122"/>
                        <a:ea typeface="微软雅黑" panose="020B0503020204020204" pitchFamily="34" charset="-122"/>
                        <a:cs typeface="+mn-cs"/>
                      </a:endParaRPr>
                    </a:p>
                  </a:txBody>
                  <a:tcPr/>
                </a:tc>
                <a:tc>
                  <a:txBody>
                    <a:bodyPr/>
                    <a:lstStyle/>
                    <a:p>
                      <a:pPr algn="l">
                        <a:defRPr sz="1800"/>
                      </a:pPr>
                      <a:r>
                        <a:rPr dirty="0" err="1">
                          <a:latin typeface="微软雅黑" panose="020B0503020204020204" pitchFamily="34" charset="-122"/>
                          <a:ea typeface="微软雅黑" panose="020B0503020204020204" pitchFamily="34" charset="-122"/>
                        </a:rPr>
                        <a:t>中等偏低</a:t>
                      </a:r>
                      <a:endParaRPr dirty="0">
                        <a:latin typeface="微软雅黑" panose="020B0503020204020204" pitchFamily="34" charset="-122"/>
                        <a:ea typeface="微软雅黑" panose="020B0503020204020204" pitchFamily="34" charset="-122"/>
                      </a:endParaRPr>
                    </a:p>
                  </a:txBody>
                  <a:tcPr/>
                </a:tc>
                <a:tc>
                  <a:txBody>
                    <a:bodyPr/>
                    <a:lstStyle/>
                    <a:p>
                      <a:pPr algn="l">
                        <a:defRPr sz="1800"/>
                      </a:pPr>
                      <a:r>
                        <a:rPr dirty="0" err="1">
                          <a:latin typeface="微软雅黑" panose="020B0503020204020204" pitchFamily="34" charset="-122"/>
                          <a:ea typeface="微软雅黑" panose="020B0503020204020204" pitchFamily="34" charset="-122"/>
                        </a:rPr>
                        <a:t>较高</a:t>
                      </a:r>
                      <a:endParaRPr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3"/>
                  </a:ext>
                </a:extLst>
              </a:tr>
              <a:tr h="457200">
                <a:tc>
                  <a:txBody>
                    <a:bodyPr/>
                    <a:lstStyle/>
                    <a:p>
                      <a:pPr marL="540000" algn="l">
                        <a:defRPr sz="1800"/>
                      </a:pPr>
                      <a:r>
                        <a:rPr lang="zh-CN" altLang="en-US" b="1" dirty="0">
                          <a:latin typeface="微软雅黑" panose="020B0503020204020204" pitchFamily="34" charset="-122"/>
                          <a:ea typeface="微软雅黑" panose="020B0503020204020204" pitchFamily="34" charset="-122"/>
                        </a:rPr>
                        <a:t>混淆矩阵</a:t>
                      </a:r>
                      <a:endParaRPr b="1" dirty="0">
                        <a:latin typeface="微软雅黑" panose="020B0503020204020204" pitchFamily="34" charset="-122"/>
                        <a:ea typeface="微软雅黑" panose="020B0503020204020204" pitchFamily="34" charset="-122"/>
                      </a:endParaRPr>
                    </a:p>
                  </a:txBody>
                  <a:tcPr/>
                </a:tc>
                <a:tc>
                  <a:txBody>
                    <a:bodyPr/>
                    <a:lstStyle/>
                    <a:p>
                      <a:pPr algn="l">
                        <a:defRPr sz="1800"/>
                      </a:pPr>
                      <a:r>
                        <a:rPr lang="zh-CN" altLang="en-US" dirty="0">
                          <a:latin typeface="微软雅黑" panose="020B0503020204020204" pitchFamily="34" charset="-122"/>
                          <a:ea typeface="微软雅黑" panose="020B0503020204020204" pitchFamily="34" charset="-122"/>
                        </a:rPr>
                        <a:t>错误分类更多</a:t>
                      </a:r>
                      <a:endParaRPr dirty="0">
                        <a:latin typeface="微软雅黑" panose="020B0503020204020204" pitchFamily="34" charset="-122"/>
                        <a:ea typeface="微软雅黑" panose="020B0503020204020204" pitchFamily="34" charset="-122"/>
                      </a:endParaRPr>
                    </a:p>
                  </a:txBody>
                  <a:tcPr/>
                </a:tc>
                <a:tc>
                  <a:txBody>
                    <a:bodyPr/>
                    <a:lstStyle/>
                    <a:p>
                      <a:pPr algn="l">
                        <a:defRPr sz="1800"/>
                      </a:pPr>
                      <a:r>
                        <a:rPr lang="zh-CN" altLang="en-US" dirty="0">
                          <a:latin typeface="微软雅黑" panose="020B0503020204020204" pitchFamily="34" charset="-122"/>
                          <a:ea typeface="微软雅黑" panose="020B0503020204020204" pitchFamily="34" charset="-122"/>
                        </a:rPr>
                        <a:t>错误分类较少</a:t>
                      </a:r>
                      <a:endParaRPr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4"/>
                  </a:ext>
                </a:extLst>
              </a:tr>
              <a:tr h="457200">
                <a:tc>
                  <a:txBody>
                    <a:bodyPr/>
                    <a:lstStyle/>
                    <a:p>
                      <a:pPr marL="540000" algn="l">
                        <a:defRPr sz="1800"/>
                      </a:pPr>
                      <a:r>
                        <a:rPr b="1" dirty="0" err="1">
                          <a:latin typeface="微软雅黑" panose="020B0503020204020204" pitchFamily="34" charset="-122"/>
                          <a:ea typeface="微软雅黑" panose="020B0503020204020204" pitchFamily="34" charset="-122"/>
                        </a:rPr>
                        <a:t>计算成本</a:t>
                      </a:r>
                      <a:endParaRPr b="1" dirty="0">
                        <a:latin typeface="微软雅黑" panose="020B0503020204020204" pitchFamily="34" charset="-122"/>
                        <a:ea typeface="微软雅黑" panose="020B0503020204020204" pitchFamily="34" charset="-122"/>
                      </a:endParaRPr>
                    </a:p>
                  </a:txBody>
                  <a:tcPr/>
                </a:tc>
                <a:tc>
                  <a:txBody>
                    <a:bodyPr/>
                    <a:lstStyle/>
                    <a:p>
                      <a:pPr algn="l">
                        <a:defRPr sz="1800"/>
                      </a:pPr>
                      <a:r>
                        <a:rPr dirty="0">
                          <a:latin typeface="微软雅黑" panose="020B0503020204020204" pitchFamily="34" charset="-122"/>
                          <a:ea typeface="微软雅黑" panose="020B0503020204020204" pitchFamily="34" charset="-122"/>
                        </a:rPr>
                        <a:t>低</a:t>
                      </a:r>
                    </a:p>
                  </a:txBody>
                  <a:tcPr/>
                </a:tc>
                <a:tc>
                  <a:txBody>
                    <a:bodyPr/>
                    <a:lstStyle/>
                    <a:p>
                      <a:pPr algn="l">
                        <a:defRPr sz="1800"/>
                      </a:pPr>
                      <a:r>
                        <a:rPr dirty="0">
                          <a:latin typeface="微软雅黑" panose="020B0503020204020204" pitchFamily="34" charset="-122"/>
                          <a:ea typeface="微软雅黑" panose="020B0503020204020204" pitchFamily="34" charset="-122"/>
                        </a:rPr>
                        <a:t>高</a:t>
                      </a:r>
                    </a:p>
                  </a:txBody>
                  <a:tcPr/>
                </a:tc>
                <a:extLst>
                  <a:ext uri="{0D108BD9-81ED-4DB2-BD59-A6C34878D82A}">
                    <a16:rowId xmlns:a16="http://schemas.microsoft.com/office/drawing/2014/main" val="10005"/>
                  </a:ext>
                </a:extLst>
              </a:tr>
              <a:tr h="457200">
                <a:tc>
                  <a:txBody>
                    <a:bodyPr/>
                    <a:lstStyle/>
                    <a:p>
                      <a:pPr marL="540000" marR="0" lvl="0" indent="0" algn="l" defTabSz="914400" eaLnBrk="1" fontAlgn="auto" latinLnBrk="0" hangingPunct="1">
                        <a:lnSpc>
                          <a:spcPct val="100000"/>
                        </a:lnSpc>
                        <a:spcBef>
                          <a:spcPts val="0"/>
                        </a:spcBef>
                        <a:spcAft>
                          <a:spcPts val="0"/>
                        </a:spcAft>
                        <a:buClrTx/>
                        <a:buSzTx/>
                        <a:buFontTx/>
                        <a:buNone/>
                        <a:tabLst/>
                        <a:defRPr sz="1800"/>
                      </a:pPr>
                      <a:r>
                        <a:rPr lang="zh-CN" altLang="en-US" b="1" dirty="0">
                          <a:latin typeface="微软雅黑" panose="020B0503020204020204" pitchFamily="34" charset="-122"/>
                          <a:ea typeface="微软雅黑" panose="020B0503020204020204" pitchFamily="34" charset="-122"/>
                        </a:rPr>
                        <a:t>特征选择能力</a:t>
                      </a:r>
                    </a:p>
                  </a:txBody>
                  <a:tcPr/>
                </a:tc>
                <a:tc>
                  <a:txBody>
                    <a:bodyPr/>
                    <a:lstStyle/>
                    <a:p>
                      <a:pPr algn="l">
                        <a:defRPr sz="1800"/>
                      </a:pPr>
                      <a:r>
                        <a:rPr lang="zh-CN" altLang="en-US" dirty="0">
                          <a:latin typeface="微软雅黑" panose="020B0503020204020204" pitchFamily="34" charset="-122"/>
                          <a:ea typeface="微软雅黑" panose="020B0503020204020204" pitchFamily="34" charset="-122"/>
                        </a:rPr>
                        <a:t>无</a:t>
                      </a:r>
                      <a:endParaRPr dirty="0">
                        <a:latin typeface="微软雅黑" panose="020B0503020204020204" pitchFamily="34" charset="-122"/>
                        <a:ea typeface="微软雅黑" panose="020B0503020204020204" pitchFamily="34" charset="-122"/>
                      </a:endParaRPr>
                    </a:p>
                  </a:txBody>
                  <a:tcPr/>
                </a:tc>
                <a:tc>
                  <a:txBody>
                    <a:bodyPr/>
                    <a:lstStyle/>
                    <a:p>
                      <a:pPr algn="l">
                        <a:defRPr sz="1800"/>
                      </a:pPr>
                      <a:r>
                        <a:rPr lang="zh-CN" altLang="en-US" dirty="0">
                          <a:latin typeface="微软雅黑" panose="020B0503020204020204" pitchFamily="34" charset="-122"/>
                          <a:ea typeface="微软雅黑" panose="020B0503020204020204" pitchFamily="34" charset="-122"/>
                        </a:rPr>
                        <a:t>有（可评估特征重要性）</a:t>
                      </a:r>
                      <a:endParaRPr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857923820"/>
                  </a:ext>
                </a:extLst>
              </a:tr>
            </a:tbl>
          </a:graphicData>
        </a:graphic>
      </p:graphicFrame>
      <p:sp>
        <p:nvSpPr>
          <p:cNvPr id="4" name="TextBox 3"/>
          <p:cNvSpPr txBox="1"/>
          <p:nvPr/>
        </p:nvSpPr>
        <p:spPr>
          <a:xfrm>
            <a:off x="1905000" y="4724400"/>
            <a:ext cx="9050876" cy="925253"/>
          </a:xfrm>
          <a:prstGeom prst="rect">
            <a:avLst/>
          </a:prstGeom>
          <a:noFill/>
        </p:spPr>
        <p:txBody>
          <a:bodyPr wrap="none">
            <a:spAutoFit/>
          </a:bodyPr>
          <a:lstStyle/>
          <a:p>
            <a:pPr>
              <a:lnSpc>
                <a:spcPct val="150000"/>
              </a:lnSpc>
              <a:defRPr sz="2000" b="1">
                <a:solidFill>
                  <a:srgbClr val="006600"/>
                </a:solidFill>
              </a:defRPr>
            </a:pPr>
            <a:r>
              <a:rPr sz="2000" dirty="0"/>
              <a:t>✅ </a:t>
            </a:r>
            <a:r>
              <a:rPr sz="2000" dirty="0" err="1"/>
              <a:t>随机森林通过集成多棵随机化的决策树，有效减少模型方差，避免过拟合</a:t>
            </a:r>
            <a:r>
              <a:rPr sz="2000" dirty="0"/>
              <a:t>，</a:t>
            </a:r>
          </a:p>
          <a:p>
            <a:pPr>
              <a:lnSpc>
                <a:spcPct val="150000"/>
              </a:lnSpc>
            </a:pPr>
            <a:r>
              <a:rPr dirty="0" err="1"/>
              <a:t>从而在预测准确性与稳定性上明显优于决策树</a:t>
            </a:r>
            <a:r>
              <a:rPr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0169" y="0"/>
            <a:ext cx="12192000" cy="6858000"/>
          </a:xfrm>
          <a:prstGeom prst="rect">
            <a:avLst/>
          </a:prstGeom>
        </p:spPr>
      </p:pic>
      <p:sp>
        <p:nvSpPr>
          <p:cNvPr id="10" name="文本框 9"/>
          <p:cNvSpPr txBox="1"/>
          <p:nvPr/>
        </p:nvSpPr>
        <p:spPr>
          <a:xfrm>
            <a:off x="1053620" y="2345095"/>
            <a:ext cx="10387025" cy="1106805"/>
          </a:xfrm>
          <a:prstGeom prst="rect">
            <a:avLst/>
          </a:prstGeom>
          <a:noFill/>
          <a:effectLst>
            <a:outerShdw blurRad="25400" dist="50800" dir="600000" algn="tl" rotWithShape="0">
              <a:schemeClr val="accent1">
                <a:lumMod val="60000"/>
                <a:lumOff val="40000"/>
              </a:schemeClr>
            </a:outerShdw>
          </a:effectLst>
        </p:spPr>
        <p:txBody>
          <a:bodyPr wrap="square" rtlCol="0">
            <a:spAutoFit/>
          </a:bodyPr>
          <a:lstStyle/>
          <a:p>
            <a:pPr algn="ctr"/>
            <a:r>
              <a:rPr lang="zh-CN" altLang="en-US" sz="6600" b="1" spc="600" dirty="0">
                <a:solidFill>
                  <a:srgbClr val="115522"/>
                </a:solidFill>
                <a:latin typeface="微软雅黑" panose="020B0503020204020204" charset="-122"/>
                <a:ea typeface="微软雅黑" panose="020B0503020204020204" charset="-122"/>
              </a:rPr>
              <a:t>谢  谢  ！</a:t>
            </a:r>
          </a:p>
        </p:txBody>
      </p:sp>
      <p:pic>
        <p:nvPicPr>
          <p:cNvPr id="4" name="图片 3" descr="图片包含 游戏机, 画, 食物, 标志&#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27771" y="120250"/>
            <a:ext cx="2159377" cy="67280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4008</TotalTime>
  <Words>1778</Words>
  <Application>Microsoft Office PowerPoint</Application>
  <PresentationFormat>宽屏</PresentationFormat>
  <Paragraphs>238</Paragraphs>
  <Slides>21</Slides>
  <Notes>15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等线</vt:lpstr>
      <vt:lpstr>宋体</vt:lpstr>
      <vt:lpstr>微软雅黑</vt:lpstr>
      <vt:lpstr>Arial</vt:lpstr>
      <vt:lpstr>Calibri</vt:lpstr>
      <vt:lpstr>Cambria</vt:lpstr>
      <vt:lpstr>Cambria Math</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决策树与随机森林的比较</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描述平均水平的指标</dc:title>
  <dc:creator>HP</dc:creator>
  <cp:lastModifiedBy>朔 杨</cp:lastModifiedBy>
  <cp:revision>366</cp:revision>
  <dcterms:created xsi:type="dcterms:W3CDTF">2021-11-08T11:24:24Z</dcterms:created>
  <dcterms:modified xsi:type="dcterms:W3CDTF">2025-10-10T13:27:38Z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Acrobat PDFMaker 10.1 PowerPoint 版</vt:lpwstr>
  </property>
  <property fmtid="{D5CDD505-2E9C-101B-9397-08002B2CF9AE}" pid="3" name="ICV">
    <vt:lpwstr>FF2BB430853C4DD589440B9E6908D641</vt:lpwstr>
  </property>
  <property fmtid="{D5CDD505-2E9C-101B-9397-08002B2CF9AE}" pid="4" name="KSOProductBuildVer">
    <vt:lpwstr>1033-3.1.6.6275</vt:lpwstr>
  </property>
</Properties>
</file>