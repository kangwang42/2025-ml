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14" r:id="rId2"/>
    <p:sldId id="276" r:id="rId3"/>
    <p:sldId id="542" r:id="rId4"/>
    <p:sldId id="554" r:id="rId5"/>
    <p:sldId id="574" r:id="rId6"/>
    <p:sldId id="575" r:id="rId7"/>
    <p:sldId id="576" r:id="rId8"/>
    <p:sldId id="550" r:id="rId9"/>
    <p:sldId id="556" r:id="rId10"/>
    <p:sldId id="577" r:id="rId11"/>
    <p:sldId id="578" r:id="rId12"/>
    <p:sldId id="579" r:id="rId13"/>
    <p:sldId id="580" r:id="rId14"/>
    <p:sldId id="582" r:id="rId15"/>
    <p:sldId id="581" r:id="rId16"/>
    <p:sldId id="583" r:id="rId17"/>
    <p:sldId id="584" r:id="rId18"/>
    <p:sldId id="462" r:id="rId19"/>
    <p:sldId id="532" r:id="rId20"/>
    <p:sldId id="610" r:id="rId21"/>
    <p:sldId id="611" r:id="rId22"/>
    <p:sldId id="613" r:id="rId23"/>
    <p:sldId id="614" r:id="rId24"/>
    <p:sldId id="615" r:id="rId25"/>
    <p:sldId id="616" r:id="rId26"/>
    <p:sldId id="617" r:id="rId27"/>
    <p:sldId id="618" r:id="rId28"/>
    <p:sldId id="612" r:id="rId29"/>
    <p:sldId id="587" r:id="rId30"/>
    <p:sldId id="588" r:id="rId31"/>
    <p:sldId id="591" r:id="rId32"/>
    <p:sldId id="595" r:id="rId33"/>
    <p:sldId id="593" r:id="rId34"/>
    <p:sldId id="594" r:id="rId35"/>
    <p:sldId id="597" r:id="rId36"/>
    <p:sldId id="599" r:id="rId37"/>
    <p:sldId id="600" r:id="rId38"/>
    <p:sldId id="601" r:id="rId39"/>
    <p:sldId id="602" r:id="rId40"/>
    <p:sldId id="603" r:id="rId41"/>
    <p:sldId id="589" r:id="rId42"/>
    <p:sldId id="590" r:id="rId43"/>
    <p:sldId id="605" r:id="rId44"/>
    <p:sldId id="607" r:id="rId45"/>
    <p:sldId id="608" r:id="rId46"/>
    <p:sldId id="606" r:id="rId47"/>
    <p:sldId id="609" r:id="rId48"/>
    <p:sldId id="586" r:id="rId49"/>
    <p:sldId id="560" r:id="rId50"/>
    <p:sldId id="585" r:id="rId51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8">
          <p15:clr>
            <a:srgbClr val="A4A3A4"/>
          </p15:clr>
        </p15:guide>
        <p15:guide id="2" pos="21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924"/>
    <a:srgbClr val="141C1D"/>
    <a:srgbClr val="5949B4"/>
    <a:srgbClr val="755AF0"/>
    <a:srgbClr val="4E5656"/>
    <a:srgbClr val="13191B"/>
    <a:srgbClr val="C6E0B3"/>
    <a:srgbClr val="70AC48"/>
    <a:srgbClr val="FFE699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99" autoAdjust="0"/>
    <p:restoredTop sz="93826" autoAdjust="0"/>
  </p:normalViewPr>
  <p:slideViewPr>
    <p:cSldViewPr>
      <p:cViewPr varScale="1">
        <p:scale>
          <a:sx n="67" d="100"/>
          <a:sy n="67" d="100"/>
        </p:scale>
        <p:origin x="244" y="44"/>
      </p:cViewPr>
      <p:guideLst>
        <p:guide orient="horz" pos="2898"/>
        <p:guide pos="215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552" y="6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E1CF3-1557-4903-AA7A-069E8B896DA4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EAE90-66CF-41CD-86CF-AB39C198B2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2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3.R</a:t>
            </a:r>
            <a:r>
              <a:rPr lang="zh-CN" altLang="en-US" dirty="0"/>
              <a:t>实践？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141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564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C1639-DA3D-EA6A-3AB0-FC131E2D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B6D25E-022F-8DB2-6F2F-2D86124C1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38795A-76AD-0DB5-2BCF-0D777E4FB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9C946-5075-7D5B-1714-8C84B5B64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282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BA63F-9840-E370-F6A2-3A7B5E8A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2D38D2-EEF2-A7F6-C25A-163EE2D1C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9DE8BA-8CDE-D374-EBF1-CB3060F2A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FE853A-F53F-5F7B-92F0-0641A4DD3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825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3E878-6672-A174-1C09-60328FD7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99C3B2-A6FD-72E4-5114-E81C46D86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ED961C-F2A2-F9AF-D2B8-D03185D62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0A22A2-EB8B-77B5-EDCF-657F2B305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146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84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739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AFAD4-5D02-8557-F1BC-A2A24AD4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8C0534-E8FD-51B0-D410-1E0A207CB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9AFC86-E534-685E-8B77-FF2B72335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DA51-4BE0-481B-91B2-BCDC8DDFA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89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7167-289C-663E-56F0-89107DBC2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A1AE80-6917-CB50-F0E3-B7020D8E9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29DFF8-998F-3545-B450-BE26998DE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906966-4DBC-5474-E3C0-401E1BE75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990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AF8A-49E7-C3A7-13CE-1D4764FB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3858A2-0A48-FE80-ACB1-3C7B52992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DF0EE1-660F-3788-94D8-29B5C0A5D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0E7858-6B3E-EB69-97E7-CD65E957D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45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D296-630B-9220-4359-9EF444A0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65E736-8E99-7377-8E79-F8C6765D9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A107BD-78B0-9C1F-F78B-D476378BD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208634-7E3D-ABE8-6DB0-03585692A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427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520F5-E820-BFAF-B041-3AA46E69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05CB0A-D5A1-755E-81DE-51ED2144B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74DED1-796C-43E8-D6F8-3AFA53331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4A2934-A809-6993-9242-3673981ED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409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0193-FE1A-56D1-CF55-8AB0A279B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4AD9A6-A47A-9739-DFAE-4C08E2C49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1810D7-A241-85DB-9920-00A572B24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1D8DD-223B-F445-89EB-A59582B97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636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1A68-6254-2FA0-BC01-BF098551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776D41-BA92-D023-254B-0C219F698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C82C8C-311B-6E44-272B-E239EA8DC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BFA64-2B6C-61DD-7DA7-FF4716086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226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2F4A3-34B2-8870-2D57-9428BCF7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A2D853-1980-02B8-510A-D7B2CA203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C45967-2591-0EFC-A508-B399B440F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3005E-5FD8-81C3-52A5-45F45ADA0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957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257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624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5977-FFF2-7292-610B-8E0DA1FD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E5D180-1E8E-405B-9256-2378057E0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F1E220-686B-4F81-78E8-8379F8BEF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AD92D2-A110-F08A-E522-1B8A4E5BB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231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946F1-D847-5AE9-0BF0-02BBF4E1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6A2677-FFF3-45B4-1910-1558736C9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000F50-ACB1-6714-AD29-3B366E0C7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E82FC2-FD21-81BC-C4C0-3F541027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4887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CA41F-1831-DE2D-5179-601A98BA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7E2144-5465-6ED3-30DB-666C189F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5BFDB2-B601-1E2D-6782-9E11AFAD9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9B89C6-E994-3360-3A99-93E775185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9043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5BB4-0450-BC8A-A972-2FAFD5872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7908B0-0FF7-ABF7-ADFC-34B710211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6C0A05-12C1-D30B-08BE-61624D307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74B4C-5D4E-2BC6-AC58-B55EE8958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218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D3F78-D9E0-381C-D2A6-43051A3C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E94895-6017-092F-2E3B-BF83086B4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1D9733-BEDD-07BF-AA39-AC0C0FB36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6A2F08-F75E-F01B-7900-8851C0D07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0891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1EB1-AA6D-B329-50EB-384D27B7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AC1BA1-E079-B78A-9C89-2D8C4775D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13D592-B500-FA05-729F-05BEABD1F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B7DC75-813F-A5CB-0AA2-DCAEBC7BF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7645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073F-1D8F-49B9-5A1B-01D1DB72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0312C1-46F3-B187-3751-3F2106CEB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67A448-27CF-46B8-EEA2-F24347591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40ADD-A427-49C5-D3A0-70858530E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0571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BD38-EFE1-5B32-93F8-F3BB4E25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EAD5BA-9A11-ACBE-2648-8436BC101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4C34CE-AC71-B795-8CD7-537FF8996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4BDDBD-8D50-642F-8114-2CA2EF668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8982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ED50E-1EB3-7176-289D-1F05B0F3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CC60E7-E2D7-0C31-4898-96BAFDB9D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57A16C-98C8-D53D-154C-E8F066E73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EE3061-FBFC-9B88-8580-47FDC28FE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843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AA8B-D427-C831-99A0-785DF3228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4688FB-B02A-E994-249C-5E9FE6C07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6467BF-D675-68E7-2520-5DCBC24CB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906694-26F1-1764-8AE4-E9837203F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325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E4AD-7AEB-A503-1470-DDCA9E06E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4CC198-6D18-6533-506F-788A80C3A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F62B5B-8E08-DDFE-E12F-FD04F7D47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A4A2FF-7B48-40A0-0DE2-18585F3EA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9285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4D5C-2BE4-7C33-9DE5-D97DDF281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01F200-FF74-59A7-C992-CAC741340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420BEB-7B23-7898-C55F-B9534966B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C83279-9367-082E-1263-166190FB5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4984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6CA0-B9B4-A839-6F7C-F2F45B83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69800C-3FEE-2D4A-6BC3-78073B1D3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97B579-A3A1-BD6A-4206-6914EA5C1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7B6012-DE03-04D5-F21D-1808D5080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3911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2DF8-5D5A-FA07-912C-F2089A99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5E7790-C0B8-C113-D5F4-471F7C444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17C3F0-EB12-9E50-11CF-BC7CA9861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BDCED1-90B3-DD53-31DB-237A9E8F3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5951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234A-F661-050F-D79F-678882A9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6FCC0A-138F-ADD8-03DA-728108602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D58500-B7C8-C282-4D8E-963269EC9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7F3FB-DB95-1C53-2085-AFEB8615D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1562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7EA5-4F91-2BAA-D022-0DCD24B0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8A3AA9-0D73-DDDC-A21F-A4E8A663A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1A5D0D-EDC2-0F73-0DA6-C8EC77F20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83E2B2-68D8-7067-C2BE-7CA604415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9235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3436-BB95-28F7-F402-6BF92494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DD1CA5-DD5A-E808-57DC-E03227E3C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02F14F-9457-721D-4DAA-8D8B3F1EE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146C21-547F-06A3-BAC5-5F8C86039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5810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8D7F-CE1E-82E0-95A2-8EED89DB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63D5E6-DEDA-174E-50E7-114FEDC8F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ED67A3-8698-AC2B-D843-04F99B0FC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5648D-C5BA-21D5-14DE-35529212E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1989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0585-01E0-1308-A01E-29A376D62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94669C-A18C-E687-4D84-14C688A42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D5A684-370F-DC91-638E-94E93ABDC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62DA46-C54B-C999-0169-3D1F39CB7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4496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5B5F5-4CCE-83CA-F352-2B689673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674735-A102-55EE-A3FC-9D3B1EEE4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0ED2B0-5E19-5DF7-5627-EADCDC906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7B7994-11FF-AB2D-06CE-3F55FADD5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2754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F1F5D-DC92-F26D-0E1A-4AEC79C5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D0BB9D-C086-742D-5B3F-1CA89A8F1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0B3B4D-C895-915F-2BAC-84B29399C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70EA3E-FEFA-9ED0-598C-F61230DBB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4663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2A5A-EB7F-7290-F181-66C4D4CBD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3A3963-DD12-4A33-0DFF-83310D654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6CE11D-0985-A319-612B-E8EE7F37F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9B01C8-5130-0278-5969-D2AF7803B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93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AA64-BACD-837C-FAB7-EE1A1C16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5FFE63-7F47-5A4C-CF62-C0FEFAAA6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37843B-F3E1-EAEE-9E3E-B7BA55FE7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95A353-C7E4-1429-3E23-80521647C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965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2CA8-FE4F-92B4-73E2-C78D5322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6AFB31-A361-3626-5994-BE80F1272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B3BAE2-41F3-886B-632F-D7E38A437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7068F7-88C9-60BA-8E52-71E9F937F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5870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1E800-A7E7-AF76-2D9A-1B499939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D31A26-C3DB-CADE-3D1B-E1CE8C5D4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1A0D63-01BC-0BB3-A4D4-E5127B560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721A47-FA66-2C80-EC42-8D07A7ED0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4961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708B-2BAA-E0CF-8BD7-C65648333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B12127-7E6E-2D70-7A88-84B25B0CB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510DA8-1C9C-6997-FD94-8C767E834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9D3021-CE5F-E8E8-F819-83401164B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513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B92B-1C6A-6D65-2A6C-859DA7C8F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EEDDDC-EA23-B420-F6D0-B105D6DB3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8A5387-9CAC-552E-6D66-DDAF7B457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261B22-A427-35B6-EB30-8FF0AC004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2741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F4B1-ECB0-1CE6-E005-951C1FC9B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799B22-7FEA-2882-F6EE-40C2D1C15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B55FF4-E55A-3CEA-A621-4CF2D8E5C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F7D7C3-5AAF-1949-61AD-D3CB7E3F5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37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9E66-D346-3E5A-191A-029630FC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1BC8F1-1E89-7FD7-44E8-96DB28CFD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DB3C21-5026-5CD2-69EC-1974F6767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7E56C-923F-556E-13CC-8D1AADE08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771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741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C6B37-6DDF-5F76-514B-895A5E36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FFA9C8-6D75-D88E-FB63-5CD2438FA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21E227-8FB3-5578-8BF1-0EC830F5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97D57-586E-B2F8-F25E-EFCAD2A843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568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F1EDA-2185-4E13-833A-11DC947F0B31}" type="datetime1">
              <a:rPr lang="en-US" altLang="zh-CN" smtClean="0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438B5-E977-4F18-A537-6151DEA6F160}" type="datetime1">
              <a:rPr lang="en-US" altLang="zh-CN" smtClean="0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98017-1D30-4CC7-A6CC-54A233630E7B}" type="datetime1">
              <a:rPr lang="en-US" altLang="zh-CN" smtClean="0"/>
              <a:t>10/23/2025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356C9-F7B0-411B-8D30-BF9882AF1535}" type="datetime1">
              <a:rPr lang="en-US" altLang="zh-CN" smtClean="0"/>
              <a:t>10/23/2025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2D703-4F80-43D3-A047-6741BF785863}" type="datetime1">
              <a:rPr lang="en-US" altLang="zh-CN" smtClean="0"/>
              <a:t>10/23/2025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F7656-F52A-4C60-AD4A-5BD73BEB40CB}" type="datetime1">
              <a:rPr lang="en-US" altLang="zh-CN" smtClean="0"/>
              <a:t>10/23/2025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‹#›</a:t>
            </a:fld>
            <a:endParaRPr lang="en-US" altLang="zh-CN">
              <a:solidFill>
                <a:srgbClr val="003366"/>
              </a:solidFill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4" y="6256020"/>
            <a:ext cx="12188951" cy="1097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96205" y="477205"/>
            <a:ext cx="5999588" cy="1005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1021" y="1224804"/>
            <a:ext cx="6453505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93802-85A7-4100-A586-803CE70513F5}" type="datetime1">
              <a:rPr lang="en-US" altLang="zh-CN" smtClean="0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49" b="60669"/>
          <a:stretch>
            <a:fillRect/>
          </a:stretch>
        </p:blipFill>
        <p:spPr>
          <a:xfrm>
            <a:off x="0" y="536121"/>
            <a:ext cx="4401879" cy="2366567"/>
          </a:xfrm>
          <a:prstGeom prst="rect">
            <a:avLst/>
          </a:prstGeom>
        </p:spPr>
      </p:pic>
      <p:pic>
        <p:nvPicPr>
          <p:cNvPr id="6" name="图片 5" descr="图片包含 看着, 女人, 房间, 食物&#10;&#10;描述已自动生成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9" b="28461"/>
          <a:stretch>
            <a:fillRect/>
          </a:stretch>
        </p:blipFill>
        <p:spPr>
          <a:xfrm>
            <a:off x="0" y="1531999"/>
            <a:ext cx="12191999" cy="12874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00099" y="1548628"/>
            <a:ext cx="10591800" cy="106984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机器学习（</a:t>
            </a:r>
            <a:r>
              <a:rPr lang="en-US" altLang="zh-CN" sz="4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Machine Learning)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810000" y="3742142"/>
            <a:ext cx="6172200" cy="195495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费懿（</a:t>
            </a:r>
            <a:r>
              <a:rPr lang="en-US" altLang="zh-CN" sz="28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2024</a:t>
            </a:r>
            <a:r>
              <a:rPr lang="zh-CN" altLang="en-US" sz="28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级全日制硕士）</a:t>
            </a:r>
            <a:endParaRPr lang="en-US" altLang="zh-CN" sz="2800" b="1" dirty="0">
              <a:solidFill>
                <a:srgbClr val="115522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b="1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2025</a:t>
            </a:r>
            <a:r>
              <a:rPr lang="zh-CN" altLang="en-US" sz="2800" b="1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800" b="1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2800" b="1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1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23</a:t>
            </a:r>
            <a:r>
              <a:rPr lang="zh-CN" altLang="en-US" sz="2800" b="1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  <a:endParaRPr lang="en-US" altLang="zh-CN" sz="2800" b="1" dirty="0">
              <a:solidFill>
                <a:srgbClr val="013718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中山大学公共卫生学院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图片包含 游戏机, 画, 食物, 标志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E642ACB-FF2E-4207-B10F-0562BAFDF3A3}"/>
              </a:ext>
            </a:extLst>
          </p:cNvPr>
          <p:cNvSpPr txBox="1"/>
          <p:nvPr/>
        </p:nvSpPr>
        <p:spPr>
          <a:xfrm>
            <a:off x="1847331" y="2700687"/>
            <a:ext cx="8497336" cy="825094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dirty="0"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第六讲   支持向量机与核方法</a:t>
            </a:r>
            <a:endParaRPr lang="en-US" altLang="zh-CN" sz="3600" b="1" dirty="0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A01B10-FEC1-4283-9929-947CC1287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5276" y="6453264"/>
            <a:ext cx="804724" cy="276999"/>
          </a:xfrm>
        </p:spPr>
        <p:txBody>
          <a:bodyPr/>
          <a:lstStyle/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5400000">
            <a:off x="-1731010" y="1731645"/>
            <a:ext cx="6858000" cy="339534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71"/>
          <p:cNvGrpSpPr/>
          <p:nvPr/>
        </p:nvGrpSpPr>
        <p:grpSpPr bwMode="auto">
          <a:xfrm>
            <a:off x="5547742" y="914400"/>
            <a:ext cx="3901058" cy="608136"/>
            <a:chOff x="8134913" y="3271350"/>
            <a:chExt cx="3901189" cy="608807"/>
          </a:xfrm>
        </p:grpSpPr>
        <p:sp>
          <p:nvSpPr>
            <p:cNvPr id="28" name="文本框 5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034799" y="3294737"/>
              <a:ext cx="3001303" cy="585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3200" b="1" dirty="0">
                  <a:latin typeface="Arial" panose="020B0604020202020204" pitchFamily="34" charset="0"/>
                </a:rPr>
                <a:t>前言</a:t>
              </a:r>
            </a:p>
          </p:txBody>
        </p:sp>
        <p:grpSp>
          <p:nvGrpSpPr>
            <p:cNvPr id="29" name="组合 64"/>
            <p:cNvGrpSpPr/>
            <p:nvPr/>
          </p:nvGrpSpPr>
          <p:grpSpPr bwMode="auto">
            <a:xfrm>
              <a:off x="8134913" y="3271350"/>
              <a:ext cx="899886" cy="606586"/>
              <a:chOff x="8134913" y="3271350"/>
              <a:chExt cx="899886" cy="606586"/>
            </a:xfrm>
          </p:grpSpPr>
          <p:sp>
            <p:nvSpPr>
              <p:cNvPr id="37" name="文本框 61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8134913" y="3292516"/>
                <a:ext cx="899886" cy="585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1</a:t>
                </a:r>
                <a:endParaRPr lang="zh-CN" altLang="en-US" sz="32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" name="矩形 47"/>
              <p:cNvSpPr/>
              <p:nvPr>
                <p:custDataLst>
                  <p:tags r:id="rId17"/>
                </p:custDataLst>
              </p:nvPr>
            </p:nvSpPr>
            <p:spPr>
              <a:xfrm>
                <a:off x="8219392" y="3271350"/>
                <a:ext cx="730928" cy="5649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 dirty="0"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8" name="组合 71"/>
          <p:cNvGrpSpPr/>
          <p:nvPr/>
        </p:nvGrpSpPr>
        <p:grpSpPr bwMode="auto">
          <a:xfrm>
            <a:off x="5547742" y="2024155"/>
            <a:ext cx="3901058" cy="608137"/>
            <a:chOff x="8134913" y="3271350"/>
            <a:chExt cx="3901189" cy="608807"/>
          </a:xfrm>
        </p:grpSpPr>
        <p:sp>
          <p:nvSpPr>
            <p:cNvPr id="63" name="文本框 5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034799" y="3294737"/>
              <a:ext cx="3001303" cy="585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3200" b="1" dirty="0">
                  <a:latin typeface="Arial" panose="020B0604020202020204" pitchFamily="34" charset="0"/>
                </a:rPr>
                <a:t>SVM</a:t>
              </a:r>
              <a:r>
                <a:rPr lang="zh-CN" altLang="en-US" sz="3200" b="1" dirty="0">
                  <a:latin typeface="Arial" panose="020B0604020202020204" pitchFamily="34" charset="0"/>
                </a:rPr>
                <a:t>直观理解</a:t>
              </a:r>
            </a:p>
          </p:txBody>
        </p:sp>
        <p:grpSp>
          <p:nvGrpSpPr>
            <p:cNvPr id="66" name="组合 64"/>
            <p:cNvGrpSpPr/>
            <p:nvPr/>
          </p:nvGrpSpPr>
          <p:grpSpPr bwMode="auto">
            <a:xfrm>
              <a:off x="8134913" y="3271350"/>
              <a:ext cx="899886" cy="606586"/>
              <a:chOff x="8134913" y="3271350"/>
              <a:chExt cx="899886" cy="606586"/>
            </a:xfrm>
          </p:grpSpPr>
          <p:sp>
            <p:nvSpPr>
              <p:cNvPr id="67" name="文本框 61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8134913" y="3292516"/>
                <a:ext cx="899886" cy="585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2</a:t>
                </a:r>
                <a:endParaRPr lang="zh-CN" altLang="en-US" sz="32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8" name="矩形 67"/>
              <p:cNvSpPr/>
              <p:nvPr>
                <p:custDataLst>
                  <p:tags r:id="rId14"/>
                </p:custDataLst>
              </p:nvPr>
            </p:nvSpPr>
            <p:spPr>
              <a:xfrm>
                <a:off x="8219392" y="3271350"/>
                <a:ext cx="730928" cy="5649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 dirty="0">
                  <a:latin typeface="微软雅黑" panose="020B0503020204020204" pitchFamily="34" charset="-122"/>
                </a:endParaRPr>
              </a:p>
            </p:txBody>
          </p:sp>
        </p:grpSp>
      </p:grpSp>
      <p:sp>
        <p:nvSpPr>
          <p:cNvPr id="7172" name="文本框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6240" y="2590800"/>
            <a:ext cx="179939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6000" b="1" dirty="0">
                <a:solidFill>
                  <a:schemeClr val="bg1"/>
                </a:solidFill>
                <a:latin typeface="Arial" panose="020B0604020202020204" pitchFamily="34" charset="0"/>
              </a:rPr>
              <a:t>目录</a:t>
            </a:r>
          </a:p>
        </p:txBody>
      </p:sp>
      <p:sp>
        <p:nvSpPr>
          <p:cNvPr id="7173" name="文本框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3556000"/>
            <a:ext cx="322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CONTENTS</a:t>
            </a:r>
            <a:endParaRPr lang="zh-CN" altLang="en-US" sz="4000" b="1">
              <a:solidFill>
                <a:schemeClr val="bg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6" name="图片 35" descr="图片包含 游戏机, 画, 食物, 标志&#10;&#10;描述已自动生成">
            <a:extLst>
              <a:ext uri="{FF2B5EF4-FFF2-40B4-BE49-F238E27FC236}">
                <a16:creationId xmlns:a16="http://schemas.microsoft.com/office/drawing/2014/main" id="{F29926AE-B640-4B71-9A3D-F6EF69DFACE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grpSp>
        <p:nvGrpSpPr>
          <p:cNvPr id="38" name="组合 71">
            <a:extLst>
              <a:ext uri="{FF2B5EF4-FFF2-40B4-BE49-F238E27FC236}">
                <a16:creationId xmlns:a16="http://schemas.microsoft.com/office/drawing/2014/main" id="{96D7784A-B1D4-4E02-B475-5BC646FAA48D}"/>
              </a:ext>
            </a:extLst>
          </p:cNvPr>
          <p:cNvGrpSpPr/>
          <p:nvPr/>
        </p:nvGrpSpPr>
        <p:grpSpPr bwMode="auto">
          <a:xfrm>
            <a:off x="5547742" y="3127807"/>
            <a:ext cx="3901058" cy="608136"/>
            <a:chOff x="8134913" y="3271350"/>
            <a:chExt cx="3901189" cy="608806"/>
          </a:xfrm>
        </p:grpSpPr>
        <p:sp>
          <p:nvSpPr>
            <p:cNvPr id="39" name="文本框 59">
              <a:extLst>
                <a:ext uri="{FF2B5EF4-FFF2-40B4-BE49-F238E27FC236}">
                  <a16:creationId xmlns:a16="http://schemas.microsoft.com/office/drawing/2014/main" id="{460C9450-3435-4995-9A84-90DAC5D2F6D3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034799" y="3294737"/>
              <a:ext cx="3001303" cy="585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3200" b="1" dirty="0">
                  <a:latin typeface="Arial" panose="020B0604020202020204" pitchFamily="34" charset="0"/>
                </a:rPr>
                <a:t>代码实现</a:t>
              </a:r>
            </a:p>
          </p:txBody>
        </p:sp>
        <p:grpSp>
          <p:nvGrpSpPr>
            <p:cNvPr id="40" name="组合 64">
              <a:extLst>
                <a:ext uri="{FF2B5EF4-FFF2-40B4-BE49-F238E27FC236}">
                  <a16:creationId xmlns:a16="http://schemas.microsoft.com/office/drawing/2014/main" id="{57FBAC9E-F315-4A38-B142-1B83DDE7089E}"/>
                </a:ext>
              </a:extLst>
            </p:cNvPr>
            <p:cNvGrpSpPr/>
            <p:nvPr/>
          </p:nvGrpSpPr>
          <p:grpSpPr bwMode="auto">
            <a:xfrm>
              <a:off x="8134913" y="3271350"/>
              <a:ext cx="899886" cy="606586"/>
              <a:chOff x="8134913" y="3271350"/>
              <a:chExt cx="899886" cy="606586"/>
            </a:xfrm>
          </p:grpSpPr>
          <p:sp>
            <p:nvSpPr>
              <p:cNvPr id="41" name="文本框 61">
                <a:extLst>
                  <a:ext uri="{FF2B5EF4-FFF2-40B4-BE49-F238E27FC236}">
                    <a16:creationId xmlns:a16="http://schemas.microsoft.com/office/drawing/2014/main" id="{C52D1C15-A85D-4DB6-A898-31285052ED4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8134913" y="3292516"/>
                <a:ext cx="899886" cy="585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3</a:t>
                </a:r>
                <a:endParaRPr lang="zh-CN" altLang="en-US" sz="32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670E14E-DFB4-4415-B1FE-1326121BD0BD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8219392" y="3271350"/>
                <a:ext cx="730928" cy="5649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 dirty="0">
                  <a:latin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9246E33-C83E-451C-9F76-65D882B4ED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1" name="组合 71">
            <a:extLst>
              <a:ext uri="{FF2B5EF4-FFF2-40B4-BE49-F238E27FC236}">
                <a16:creationId xmlns:a16="http://schemas.microsoft.com/office/drawing/2014/main" id="{BADAA079-E984-37B1-6DA5-305BFFB7A622}"/>
              </a:ext>
            </a:extLst>
          </p:cNvPr>
          <p:cNvGrpSpPr/>
          <p:nvPr/>
        </p:nvGrpSpPr>
        <p:grpSpPr bwMode="auto">
          <a:xfrm>
            <a:off x="5547742" y="4270807"/>
            <a:ext cx="3901058" cy="608136"/>
            <a:chOff x="8134913" y="3271350"/>
            <a:chExt cx="3901189" cy="608806"/>
          </a:xfrm>
        </p:grpSpPr>
        <p:sp>
          <p:nvSpPr>
            <p:cNvPr id="12" name="文本框 59">
              <a:extLst>
                <a:ext uri="{FF2B5EF4-FFF2-40B4-BE49-F238E27FC236}">
                  <a16:creationId xmlns:a16="http://schemas.microsoft.com/office/drawing/2014/main" id="{A7B86B91-7B59-A4A7-39E9-67669D968C5E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034799" y="3294737"/>
              <a:ext cx="3001303" cy="585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3200" b="1" dirty="0">
                  <a:latin typeface="Arial" panose="020B0604020202020204" pitchFamily="34" charset="0"/>
                </a:rPr>
                <a:t>SVM</a:t>
              </a:r>
              <a:r>
                <a:rPr lang="zh-CN" altLang="en-US" sz="3200" b="1" dirty="0">
                  <a:latin typeface="Arial" panose="020B0604020202020204" pitchFamily="34" charset="0"/>
                </a:rPr>
                <a:t>原理</a:t>
              </a:r>
            </a:p>
          </p:txBody>
        </p:sp>
        <p:grpSp>
          <p:nvGrpSpPr>
            <p:cNvPr id="13" name="组合 64">
              <a:extLst>
                <a:ext uri="{FF2B5EF4-FFF2-40B4-BE49-F238E27FC236}">
                  <a16:creationId xmlns:a16="http://schemas.microsoft.com/office/drawing/2014/main" id="{8A24A9A2-5E2E-8837-5C95-F5F9C7F8AE16}"/>
                </a:ext>
              </a:extLst>
            </p:cNvPr>
            <p:cNvGrpSpPr/>
            <p:nvPr/>
          </p:nvGrpSpPr>
          <p:grpSpPr bwMode="auto">
            <a:xfrm>
              <a:off x="8134913" y="3271350"/>
              <a:ext cx="899886" cy="606586"/>
              <a:chOff x="8134913" y="3271350"/>
              <a:chExt cx="899886" cy="606586"/>
            </a:xfrm>
          </p:grpSpPr>
          <p:sp>
            <p:nvSpPr>
              <p:cNvPr id="14" name="文本框 61">
                <a:extLst>
                  <a:ext uri="{FF2B5EF4-FFF2-40B4-BE49-F238E27FC236}">
                    <a16:creationId xmlns:a16="http://schemas.microsoft.com/office/drawing/2014/main" id="{5E8836B1-1E99-1466-2AB3-C85410375BB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134913" y="3292516"/>
                <a:ext cx="899886" cy="585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4</a:t>
                </a:r>
                <a:endParaRPr lang="zh-CN" altLang="en-US" sz="32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757592C-3F13-EF42-1C88-8B4C82A7D462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219392" y="3271350"/>
                <a:ext cx="730928" cy="5649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 dirty="0"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1" name="组合 71">
            <a:extLst>
              <a:ext uri="{FF2B5EF4-FFF2-40B4-BE49-F238E27FC236}">
                <a16:creationId xmlns:a16="http://schemas.microsoft.com/office/drawing/2014/main" id="{39C7A57E-6454-08C5-1023-9C8BA8A5F526}"/>
              </a:ext>
            </a:extLst>
          </p:cNvPr>
          <p:cNvGrpSpPr/>
          <p:nvPr/>
        </p:nvGrpSpPr>
        <p:grpSpPr bwMode="auto">
          <a:xfrm>
            <a:off x="5532884" y="5413807"/>
            <a:ext cx="3901058" cy="608136"/>
            <a:chOff x="8134913" y="3271350"/>
            <a:chExt cx="3901189" cy="608806"/>
          </a:xfrm>
        </p:grpSpPr>
        <p:sp>
          <p:nvSpPr>
            <p:cNvPr id="22" name="文本框 59">
              <a:extLst>
                <a:ext uri="{FF2B5EF4-FFF2-40B4-BE49-F238E27FC236}">
                  <a16:creationId xmlns:a16="http://schemas.microsoft.com/office/drawing/2014/main" id="{A122EF8E-91D7-A046-A6F1-2C04581B20AE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034799" y="3294737"/>
              <a:ext cx="3001303" cy="585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3200" b="1" dirty="0">
                  <a:latin typeface="Arial" panose="020B0604020202020204" pitchFamily="34" charset="0"/>
                </a:rPr>
                <a:t>核方法</a:t>
              </a:r>
            </a:p>
          </p:txBody>
        </p:sp>
        <p:grpSp>
          <p:nvGrpSpPr>
            <p:cNvPr id="23" name="组合 64">
              <a:extLst>
                <a:ext uri="{FF2B5EF4-FFF2-40B4-BE49-F238E27FC236}">
                  <a16:creationId xmlns:a16="http://schemas.microsoft.com/office/drawing/2014/main" id="{139FEAE6-7695-7FAC-0BB8-6301464F3619}"/>
                </a:ext>
              </a:extLst>
            </p:cNvPr>
            <p:cNvGrpSpPr/>
            <p:nvPr/>
          </p:nvGrpSpPr>
          <p:grpSpPr bwMode="auto">
            <a:xfrm>
              <a:off x="8134913" y="3271350"/>
              <a:ext cx="899886" cy="606586"/>
              <a:chOff x="8134913" y="3271350"/>
              <a:chExt cx="899886" cy="606586"/>
            </a:xfrm>
          </p:grpSpPr>
          <p:sp>
            <p:nvSpPr>
              <p:cNvPr id="24" name="文本框 61">
                <a:extLst>
                  <a:ext uri="{FF2B5EF4-FFF2-40B4-BE49-F238E27FC236}">
                    <a16:creationId xmlns:a16="http://schemas.microsoft.com/office/drawing/2014/main" id="{12284881-E71A-E543-53C3-4D5F79EEB22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134913" y="3292516"/>
                <a:ext cx="899886" cy="585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5</a:t>
                </a:r>
                <a:endParaRPr lang="zh-CN" altLang="en-US" sz="32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285CADA-D8E0-3754-BCF6-F3599824B94F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219392" y="3271350"/>
                <a:ext cx="730928" cy="5649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 dirty="0">
                  <a:latin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3042076"/>
            <a:ext cx="1415764" cy="156965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前言</a:t>
            </a:r>
          </a:p>
          <a:p>
            <a:endParaRPr lang="zh-CN" altLang="en-US" sz="4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游戏机, 画, 食物, 标志&#10;&#10;描述已自动生成">
            <a:extLst>
              <a:ext uri="{FF2B5EF4-FFF2-40B4-BE49-F238E27FC236}">
                <a16:creationId xmlns:a16="http://schemas.microsoft.com/office/drawing/2014/main" id="{3890F2E0-CFB5-4624-8372-7B1D6D0A1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007E4EF-8EE4-4AF5-9193-681C01DFF6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6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25147"/>
            <a:ext cx="12934897" cy="584771"/>
            <a:chOff x="-254000" y="125147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990600" y="125147"/>
              <a:ext cx="7449870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前言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2514601" y="176254"/>
              <a:ext cx="10166296" cy="490494"/>
              <a:chOff x="2514601" y="176254"/>
              <a:chExt cx="10166296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2514601" y="217491"/>
                <a:ext cx="10166296" cy="449257"/>
                <a:chOff x="2430740" y="217491"/>
                <a:chExt cx="10250156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2430740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16261D-332A-4D6D-9190-C2E8120E34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D87F24-92E1-48AC-936C-534203BECC8A}"/>
              </a:ext>
            </a:extLst>
          </p:cNvPr>
          <p:cNvSpPr txBox="1"/>
          <p:nvPr/>
        </p:nvSpPr>
        <p:spPr>
          <a:xfrm>
            <a:off x="1257300" y="1967252"/>
            <a:ext cx="9677400" cy="23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spc="100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机器学习方法都是由模型、策略和算法构成的，可以简单地表示为：</a:t>
            </a:r>
            <a:endParaRPr lang="en-US" altLang="zh-CN" sz="2000" spc="100" dirty="0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457200" algn="ctr">
              <a:lnSpc>
                <a:spcPct val="150000"/>
              </a:lnSpc>
            </a:pPr>
            <a:r>
              <a:rPr lang="zh-CN" altLang="en-US" sz="2000" spc="1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方法</a:t>
            </a:r>
            <a:r>
              <a:rPr lang="en-US" altLang="zh-CN" sz="2000" spc="1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=</a:t>
            </a:r>
            <a:r>
              <a:rPr lang="zh-CN" altLang="en-US" sz="2000" spc="1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模型</a:t>
            </a:r>
            <a:r>
              <a:rPr lang="en-US" altLang="zh-CN" sz="2000" spc="1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2000" spc="1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策略</a:t>
            </a:r>
            <a:r>
              <a:rPr lang="en-US" altLang="zh-CN" sz="2000" spc="1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2000" spc="1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算法</a:t>
            </a:r>
            <a:endParaRPr lang="en-US" altLang="zh-CN" sz="2000" b="0" i="0" spc="100" dirty="0">
              <a:solidFill>
                <a:srgbClr val="FF0000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i="0" spc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模型：如何由输入数据得到我们想要的输出数据</a:t>
            </a:r>
            <a:endParaRPr lang="en-US" altLang="zh-CN" sz="2000" b="0" i="0" spc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spc="100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策略：按照什么样的准则来选择最优模型</a:t>
            </a:r>
            <a:endParaRPr lang="en-US" altLang="zh-CN" sz="2000" spc="100" dirty="0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i="0" spc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算法：计算机如何求解最优模型参数</a:t>
            </a:r>
            <a:endParaRPr lang="zh-CN" altLang="zh-CN" sz="2000" b="0" i="0" spc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AB6614-3419-4AE2-8410-6BD2AD85AFE2}"/>
              </a:ext>
            </a:extLst>
          </p:cNvPr>
          <p:cNvSpPr txBox="1"/>
          <p:nvPr/>
        </p:nvSpPr>
        <p:spPr>
          <a:xfrm>
            <a:off x="22624" y="154529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38C318-B5FE-5B43-9376-35066A85C58B}"/>
              </a:ext>
            </a:extLst>
          </p:cNvPr>
          <p:cNvSpPr txBox="1"/>
          <p:nvPr/>
        </p:nvSpPr>
        <p:spPr>
          <a:xfrm>
            <a:off x="644070" y="811858"/>
            <a:ext cx="6467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机器学习方法三要素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BB1E34-A89F-9CC6-0753-4208DA3BC454}"/>
              </a:ext>
            </a:extLst>
          </p:cNvPr>
          <p:cNvSpPr txBox="1"/>
          <p:nvPr/>
        </p:nvSpPr>
        <p:spPr>
          <a:xfrm>
            <a:off x="1502638" y="5029200"/>
            <a:ext cx="9525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学习机器学习模型就是在学这三个要素，</a:t>
            </a:r>
            <a:r>
              <a:rPr lang="zh-CN" altLang="en-US" sz="2000" dirty="0"/>
              <a:t>这一框架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能让我们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不偏离主线，也不过于深入细节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，更重要的是，它让我们以一种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设计者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的角度去学习。</a:t>
            </a:r>
          </a:p>
        </p:txBody>
      </p:sp>
    </p:spTree>
    <p:extLst>
      <p:ext uri="{BB962C8B-B14F-4D97-AF65-F5344CB8AC3E}">
        <p14:creationId xmlns:p14="http://schemas.microsoft.com/office/powerpoint/2010/main" val="425076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7146-7A35-F8BB-5814-B1DA3E90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EEC5EF31-6A62-BA32-2905-2D906270F6F4}"/>
              </a:ext>
            </a:extLst>
          </p:cNvPr>
          <p:cNvGrpSpPr/>
          <p:nvPr/>
        </p:nvGrpSpPr>
        <p:grpSpPr>
          <a:xfrm>
            <a:off x="-254000" y="125147"/>
            <a:ext cx="12934897" cy="584771"/>
            <a:chOff x="-254000" y="125147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60CC8ED5-DF67-FF35-8927-ECB26BC1E6CA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B61D54-072A-C88B-0B2A-90F570271759}"/>
                </a:ext>
              </a:extLst>
            </p:cNvPr>
            <p:cNvSpPr txBox="1"/>
            <p:nvPr/>
          </p:nvSpPr>
          <p:spPr>
            <a:xfrm>
              <a:off x="990600" y="125147"/>
              <a:ext cx="7449870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前言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587C509-414F-C597-47EF-77A003002B18}"/>
                </a:ext>
              </a:extLst>
            </p:cNvPr>
            <p:cNvGrpSpPr/>
            <p:nvPr/>
          </p:nvGrpSpPr>
          <p:grpSpPr>
            <a:xfrm>
              <a:off x="2514601" y="176254"/>
              <a:ext cx="10166296" cy="490494"/>
              <a:chOff x="2514601" y="176254"/>
              <a:chExt cx="10166296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E92D2BF8-FEDE-623E-8083-46796C31FC14}"/>
                  </a:ext>
                </a:extLst>
              </p:cNvPr>
              <p:cNvGrpSpPr/>
              <p:nvPr/>
            </p:nvGrpSpPr>
            <p:grpSpPr>
              <a:xfrm>
                <a:off x="2514601" y="217491"/>
                <a:ext cx="10166296" cy="449257"/>
                <a:chOff x="2430740" y="217491"/>
                <a:chExt cx="10250156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1544083F-4DB3-E3C5-9C1C-763D464E3147}"/>
                    </a:ext>
                  </a:extLst>
                </p:cNvPr>
                <p:cNvSpPr/>
                <p:nvPr/>
              </p:nvSpPr>
              <p:spPr>
                <a:xfrm>
                  <a:off x="2430740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89775E49-F108-4223-533A-FB0E10B6A4E7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866CBB1-FDB8-D109-5EE8-E1187AB5E8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C38A4C-00A3-9902-52F9-041588782B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5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B1C371-054D-AF6C-7E62-BECBBCB5D13F}"/>
              </a:ext>
            </a:extLst>
          </p:cNvPr>
          <p:cNvSpPr txBox="1"/>
          <p:nvPr/>
        </p:nvSpPr>
        <p:spPr>
          <a:xfrm>
            <a:off x="22624" y="154529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339825-0C05-8172-6A42-1A1996D023AB}"/>
              </a:ext>
            </a:extLst>
          </p:cNvPr>
          <p:cNvSpPr txBox="1"/>
          <p:nvPr/>
        </p:nvSpPr>
        <p:spPr>
          <a:xfrm>
            <a:off x="644070" y="811858"/>
            <a:ext cx="6467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以线性回归为例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050" name="Picture 2" descr="从线性回归到广义线性模型_线性回归 广义线性模型-CSDN博客">
            <a:extLst>
              <a:ext uri="{FF2B5EF4-FFF2-40B4-BE49-F238E27FC236}">
                <a16:creationId xmlns:a16="http://schemas.microsoft.com/office/drawing/2014/main" id="{15619B06-CB32-C627-D649-5FA160F0C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741" y="1809889"/>
            <a:ext cx="5310259" cy="398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A7E361C-F7A0-EC81-A5A1-F355B4A584F0}"/>
                  </a:ext>
                </a:extLst>
              </p:cNvPr>
              <p:cNvSpPr txBox="1"/>
              <p:nvPr/>
            </p:nvSpPr>
            <p:spPr>
              <a:xfrm>
                <a:off x="601414" y="1733689"/>
                <a:ext cx="6553200" cy="3871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b="0" i="0" spc="1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模型：用直线拟合数据</a:t>
                </a:r>
                <a:endParaRPr lang="en-US" altLang="zh-CN" sz="2000" b="0" i="0" spc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pc="100" dirty="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000" b="0" i="1" spc="100" dirty="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pc="1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pc="1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pc="1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0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pc="1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 spc="100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altLang="zh-CN" sz="2000" b="0" i="1" spc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0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sz="20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0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US" altLang="zh-CN" sz="2000" b="0" i="1" spc="10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pc="10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 spc="10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b="0" i="1" spc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000" b="0" i="1" spc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spc="100" dirty="0">
                    <a:solidFill>
                      <a:srgbClr val="333333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策略：最小二乘法，即残差平方和最小的直线最优</a:t>
                </a:r>
                <a:endParaRPr lang="en-US" altLang="zh-CN" sz="2000" i="1" spc="100" dirty="0">
                  <a:solidFill>
                    <a:srgbClr val="333333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grow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 err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aln/>
                                        </m:r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−⋯−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 err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 err="1">
                                              <a:latin typeface="Cambria Math" panose="02040503050406030204" pitchFamily="18" charset="0"/>
                                            </a:rPr>
                                            <m:t>𝑖𝑝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sz="2000" spc="100" dirty="0">
                  <a:solidFill>
                    <a:srgbClr val="333333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algn="just"/>
                <a:endParaRPr lang="en-US" altLang="zh-CN" sz="2000" spc="100" dirty="0">
                  <a:solidFill>
                    <a:srgbClr val="333333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b="0" i="0" spc="1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算法</a:t>
                </a:r>
                <a:r>
                  <a:rPr lang="zh-CN" altLang="en-US" sz="2000" spc="100" dirty="0">
                    <a:solidFill>
                      <a:srgbClr val="333333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：令偏导等于</a:t>
                </a:r>
                <a:r>
                  <a:rPr lang="en-US" altLang="zh-CN" sz="2000" spc="100" dirty="0">
                    <a:solidFill>
                      <a:srgbClr val="333333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000" spc="100" dirty="0">
                    <a:solidFill>
                      <a:srgbClr val="333333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求出参数表达式</a:t>
                </a:r>
                <a:endParaRPr lang="zh-CN" altLang="zh-CN" sz="2000" b="0" i="0" spc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A7E361C-F7A0-EC81-A5A1-F355B4A58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14" y="1733689"/>
                <a:ext cx="6553200" cy="3871444"/>
              </a:xfrm>
              <a:prstGeom prst="rect">
                <a:avLst/>
              </a:prstGeom>
              <a:blipFill>
                <a:blip r:embed="rId5"/>
                <a:stretch>
                  <a:fillRect l="-837" b="-1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57C1A46-EF3F-592D-659B-07428C49FDBD}"/>
              </a:ext>
            </a:extLst>
          </p:cNvPr>
          <p:cNvCxnSpPr>
            <a:cxnSpLocks/>
          </p:cNvCxnSpPr>
          <p:nvPr/>
        </p:nvCxnSpPr>
        <p:spPr>
          <a:xfrm flipV="1">
            <a:off x="7765774" y="2819400"/>
            <a:ext cx="3657600" cy="16002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960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D4861-E162-4E3B-1A7F-FF597F083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D8C6A7E2-058C-233F-B962-214253A70B94}"/>
              </a:ext>
            </a:extLst>
          </p:cNvPr>
          <p:cNvGrpSpPr/>
          <p:nvPr/>
        </p:nvGrpSpPr>
        <p:grpSpPr>
          <a:xfrm>
            <a:off x="-254000" y="125147"/>
            <a:ext cx="12934897" cy="584771"/>
            <a:chOff x="-254000" y="125147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79DBF49F-A664-97D6-01AC-6E9DC2E9E20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D2EF4DE-F05F-EA67-5ECE-7E9DFBBE045C}"/>
                </a:ext>
              </a:extLst>
            </p:cNvPr>
            <p:cNvSpPr txBox="1"/>
            <p:nvPr/>
          </p:nvSpPr>
          <p:spPr>
            <a:xfrm>
              <a:off x="990600" y="125147"/>
              <a:ext cx="7449870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前言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37CCE16-8115-7266-76C8-874415A64226}"/>
                </a:ext>
              </a:extLst>
            </p:cNvPr>
            <p:cNvGrpSpPr/>
            <p:nvPr/>
          </p:nvGrpSpPr>
          <p:grpSpPr>
            <a:xfrm>
              <a:off x="2514601" y="176254"/>
              <a:ext cx="10166296" cy="490494"/>
              <a:chOff x="2514601" y="176254"/>
              <a:chExt cx="10166296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FCF2452D-4D04-BE80-F884-87388EB0A47F}"/>
                  </a:ext>
                </a:extLst>
              </p:cNvPr>
              <p:cNvGrpSpPr/>
              <p:nvPr/>
            </p:nvGrpSpPr>
            <p:grpSpPr>
              <a:xfrm>
                <a:off x="2514601" y="217491"/>
                <a:ext cx="10166296" cy="449257"/>
                <a:chOff x="2430740" y="217491"/>
                <a:chExt cx="10250156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415B3D74-534F-AB9B-6E3B-2FE3795FCC25}"/>
                    </a:ext>
                  </a:extLst>
                </p:cNvPr>
                <p:cNvSpPr/>
                <p:nvPr/>
              </p:nvSpPr>
              <p:spPr>
                <a:xfrm>
                  <a:off x="2430740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A7755A0-22DC-25BB-6C09-C65A332063F8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6C8E53C6-3429-A4EE-4893-826DF3F4E5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D86E6C-EE45-81DE-B37F-AD6D7F2EEB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6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5828BF-3CF7-1102-0BE3-C4A3F83C7A27}"/>
              </a:ext>
            </a:extLst>
          </p:cNvPr>
          <p:cNvSpPr txBox="1"/>
          <p:nvPr/>
        </p:nvSpPr>
        <p:spPr>
          <a:xfrm>
            <a:off x="22624" y="154529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2D55A1-3F88-6463-9E77-322F0520A95F}"/>
              </a:ext>
            </a:extLst>
          </p:cNvPr>
          <p:cNvSpPr txBox="1"/>
          <p:nvPr/>
        </p:nvSpPr>
        <p:spPr>
          <a:xfrm>
            <a:off x="644070" y="811858"/>
            <a:ext cx="6467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以线性回归为例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5C7CA40-3393-D511-BE34-E663142D63CC}"/>
                  </a:ext>
                </a:extLst>
              </p:cNvPr>
              <p:cNvSpPr txBox="1"/>
              <p:nvPr/>
            </p:nvSpPr>
            <p:spPr>
              <a:xfrm>
                <a:off x="914400" y="1375463"/>
                <a:ext cx="43434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pc="100" dirty="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800" b="0" i="1" spc="100" dirty="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pc="1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pc="1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pc="1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800" b="0" i="1" spc="100" dirty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pc="100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800" b="0" i="1" spc="100" dirty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 spc="100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altLang="zh-CN" sz="1800" b="0" i="1" spc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18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sz="18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8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US" altLang="zh-CN" sz="1800" b="0" i="1" spc="10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pc="10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800" b="0" i="1" spc="10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b="0" i="1" spc="10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b="0" i="1" spc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5C7CA40-3393-D511-BE34-E663142D6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75463"/>
                <a:ext cx="4343400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DF3CBDBF-E40D-99D3-1E43-76199165DB41}"/>
              </a:ext>
            </a:extLst>
          </p:cNvPr>
          <p:cNvSpPr txBox="1"/>
          <p:nvPr/>
        </p:nvSpPr>
        <p:spPr>
          <a:xfrm>
            <a:off x="5334000" y="1380864"/>
            <a:ext cx="559478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b="0" spc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对于这个模型，难道只有残差平方和最小才最优吗？难道不能有</a:t>
            </a:r>
            <a:r>
              <a:rPr lang="zh-CN" altLang="en-US" spc="100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别的</a:t>
            </a:r>
            <a:r>
              <a:rPr lang="zh-CN" altLang="en-US" sz="1800" b="0" spc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策略吗？</a:t>
            </a:r>
            <a:endParaRPr lang="en-US" altLang="zh-CN" sz="1800" b="0" spc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503D3D2-D81F-2639-B6BB-CEAED3B7924A}"/>
                  </a:ext>
                </a:extLst>
              </p:cNvPr>
              <p:cNvSpPr txBox="1"/>
              <p:nvPr/>
            </p:nvSpPr>
            <p:spPr>
              <a:xfrm>
                <a:off x="1143000" y="2912944"/>
                <a:ext cx="3877503" cy="410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zh-CN" altLang="en-US" b="0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i="1" spc="1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i="1" spc="1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i="1" spc="1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 spc="1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pc="1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 spc="1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spc="1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503D3D2-D81F-2639-B6BB-CEAED3B79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912944"/>
                <a:ext cx="3877503" cy="410497"/>
              </a:xfrm>
              <a:prstGeom prst="rect">
                <a:avLst/>
              </a:prstGeom>
              <a:blipFill>
                <a:blip r:embed="rId5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下 23">
            <a:extLst>
              <a:ext uri="{FF2B5EF4-FFF2-40B4-BE49-F238E27FC236}">
                <a16:creationId xmlns:a16="http://schemas.microsoft.com/office/drawing/2014/main" id="{46E12967-8378-A0C1-C081-AEB64D55E6E8}"/>
              </a:ext>
            </a:extLst>
          </p:cNvPr>
          <p:cNvSpPr/>
          <p:nvPr/>
        </p:nvSpPr>
        <p:spPr>
          <a:xfrm>
            <a:off x="2971800" y="2345565"/>
            <a:ext cx="381000" cy="520607"/>
          </a:xfrm>
          <a:prstGeom prst="downArrow">
            <a:avLst/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33288B2-B8C6-2F2B-AE2C-F05FDB36FF39}"/>
                  </a:ext>
                </a:extLst>
              </p:cNvPr>
              <p:cNvSpPr txBox="1"/>
              <p:nvPr/>
            </p:nvSpPr>
            <p:spPr>
              <a:xfrm>
                <a:off x="5257800" y="2468274"/>
                <a:ext cx="5943600" cy="1289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pc="100" dirty="0">
                    <a:solidFill>
                      <a:srgbClr val="333333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既然能得到</a:t>
                </a:r>
                <a14:m>
                  <m:oMath xmlns:m="http://schemas.openxmlformats.org/officeDocument/2006/math">
                    <m:r>
                      <a:rPr lang="en-US" altLang="zh-CN" i="1" spc="10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</m:oMath>
                </a14:m>
                <a:r>
                  <a:rPr lang="zh-CN" altLang="en-US" sz="1800" b="0" spc="1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的概率分布，那能否采用</a:t>
                </a:r>
                <a:r>
                  <a:rPr lang="zh-CN" altLang="en-US" sz="1800" b="0" spc="1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极大似然</a:t>
                </a:r>
                <a:r>
                  <a:rPr lang="zh-CN" altLang="en-US" sz="1800" b="0" spc="1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的策略呢？</a:t>
                </a:r>
                <a:r>
                  <a:rPr lang="zh-CN" altLang="en-US" spc="1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极大似然的思想是：</a:t>
                </a:r>
                <a:r>
                  <a:rPr lang="zh-CN" altLang="en-US" dirty="0"/>
                  <a:t>已知发生了某个结果，最大化出现当前结果的可能性</a:t>
                </a:r>
                <a:r>
                  <a:rPr lang="zh-CN" altLang="en-US" spc="1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。</a:t>
                </a:r>
                <a:endParaRPr lang="en-US" altLang="zh-CN" sz="1800" b="0" spc="100" dirty="0">
                  <a:effectLst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33288B2-B8C6-2F2B-AE2C-F05FDB36F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468274"/>
                <a:ext cx="5943600" cy="1289456"/>
              </a:xfrm>
              <a:prstGeom prst="rect">
                <a:avLst/>
              </a:prstGeom>
              <a:blipFill>
                <a:blip r:embed="rId6"/>
                <a:stretch>
                  <a:fillRect l="-923" r="-821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2F27CCD-0564-2176-FC7B-0D2D0D9F9895}"/>
                  </a:ext>
                </a:extLst>
              </p:cNvPr>
              <p:cNvSpPr txBox="1"/>
              <p:nvPr/>
            </p:nvSpPr>
            <p:spPr>
              <a:xfrm>
                <a:off x="1169504" y="4042834"/>
                <a:ext cx="10058400" cy="2125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似然函数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zh-CN" altLang="en-US" i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f>
                              <m:f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altLang="en-US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altLang="en-US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zh-CN" altLang="en-US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altLang="en-US">
                                                <a:latin typeface="Cambria Math" panose="02040503050406030204" pitchFamily="18" charset="0"/>
                                              </a:rPr>
                                              <m:t>−⋯−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𝑖𝑝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取对数得：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−⋯−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𝑖𝑝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lim>
                    </m:limLow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等价于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aln/>
                                      </m:r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−⋯−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𝑖𝑝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2F27CCD-0564-2176-FC7B-0D2D0D9F9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04" y="4042834"/>
                <a:ext cx="10058400" cy="2125325"/>
              </a:xfrm>
              <a:prstGeom prst="rect">
                <a:avLst/>
              </a:prstGeom>
              <a:blipFill>
                <a:blip r:embed="rId7"/>
                <a:stretch>
                  <a:fillRect l="-545" b="-22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F3F1731C-9E59-CD94-7D5D-CA6F1702B139}"/>
              </a:ext>
            </a:extLst>
          </p:cNvPr>
          <p:cNvSpPr txBox="1"/>
          <p:nvPr/>
        </p:nvSpPr>
        <p:spPr>
          <a:xfrm>
            <a:off x="8534400" y="4042834"/>
            <a:ext cx="2570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最终等价于最小二乘法，</a:t>
            </a:r>
            <a:r>
              <a:rPr lang="zh-CN" altLang="en-US" dirty="0">
                <a:solidFill>
                  <a:srgbClr val="FF0000"/>
                </a:solidFill>
              </a:rPr>
              <a:t>但逻辑起点却完全不同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9447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5" grpId="0"/>
      <p:bldP spid="27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2282E-3062-BF17-51E8-A25C8DB0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4962E79-187E-7841-FD4A-17B2AB2D54AA}"/>
              </a:ext>
            </a:extLst>
          </p:cNvPr>
          <p:cNvGrpSpPr/>
          <p:nvPr/>
        </p:nvGrpSpPr>
        <p:grpSpPr>
          <a:xfrm>
            <a:off x="-254000" y="125147"/>
            <a:ext cx="12934897" cy="584771"/>
            <a:chOff x="-254000" y="125147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F4AF03E2-4D1B-E298-BE9D-40E465FB7EF1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3A46E5C-A7F2-2430-5501-67FC063D5183}"/>
                </a:ext>
              </a:extLst>
            </p:cNvPr>
            <p:cNvSpPr txBox="1"/>
            <p:nvPr/>
          </p:nvSpPr>
          <p:spPr>
            <a:xfrm>
              <a:off x="990600" y="125147"/>
              <a:ext cx="7449870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前言</a:t>
              </a:r>
              <a:endPara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288F0BD-3F3F-519B-7C99-7A6EFF7A662B}"/>
                </a:ext>
              </a:extLst>
            </p:cNvPr>
            <p:cNvGrpSpPr/>
            <p:nvPr/>
          </p:nvGrpSpPr>
          <p:grpSpPr>
            <a:xfrm>
              <a:off x="2514601" y="176254"/>
              <a:ext cx="10166296" cy="490494"/>
              <a:chOff x="2514601" y="176254"/>
              <a:chExt cx="10166296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E9F63FF-A3BD-9A64-48DD-AFE11AA7B5AA}"/>
                  </a:ext>
                </a:extLst>
              </p:cNvPr>
              <p:cNvGrpSpPr/>
              <p:nvPr/>
            </p:nvGrpSpPr>
            <p:grpSpPr>
              <a:xfrm>
                <a:off x="2514601" y="217491"/>
                <a:ext cx="10166296" cy="449257"/>
                <a:chOff x="2430740" y="217491"/>
                <a:chExt cx="10250156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65A3AD96-6865-5698-CD02-FE03DD9F8359}"/>
                    </a:ext>
                  </a:extLst>
                </p:cNvPr>
                <p:cNvSpPr/>
                <p:nvPr/>
              </p:nvSpPr>
              <p:spPr>
                <a:xfrm>
                  <a:off x="2430740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F2705B36-3D88-0217-E0C7-6E92D2385EDB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32941277-6493-A32C-6AFB-0F9105AC1E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1F4901-DE49-9DA2-D576-9BC4528C3F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7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F2583D-69BB-493F-566C-C72FE41D5CB7}"/>
              </a:ext>
            </a:extLst>
          </p:cNvPr>
          <p:cNvSpPr txBox="1"/>
          <p:nvPr/>
        </p:nvSpPr>
        <p:spPr>
          <a:xfrm>
            <a:off x="22624" y="154529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094990-EFE3-D522-1CC5-02AE7530BCE7}"/>
              </a:ext>
            </a:extLst>
          </p:cNvPr>
          <p:cNvSpPr txBox="1"/>
          <p:nvPr/>
        </p:nvSpPr>
        <p:spPr>
          <a:xfrm>
            <a:off x="2611382" y="1143000"/>
            <a:ext cx="6467888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sz="2400" spc="100" dirty="0">
                <a:latin typeface="Arial" panose="020B0604020202020204" pitchFamily="34" charset="0"/>
                <a:ea typeface="微软雅黑" panose="020B0503020204020204" pitchFamily="34" charset="-122"/>
              </a:rPr>
              <a:t>方法</a:t>
            </a:r>
            <a:r>
              <a:rPr lang="en-US" altLang="zh-CN" sz="2400" spc="100" dirty="0">
                <a:latin typeface="Arial" panose="020B0604020202020204" pitchFamily="34" charset="0"/>
                <a:ea typeface="微软雅黑" panose="020B0503020204020204" pitchFamily="34" charset="-122"/>
              </a:rPr>
              <a:t>=</a:t>
            </a:r>
            <a:r>
              <a:rPr lang="zh-CN" altLang="en-US" sz="2400" spc="100" dirty="0">
                <a:latin typeface="Arial" panose="020B0604020202020204" pitchFamily="34" charset="0"/>
                <a:ea typeface="微软雅黑" panose="020B0503020204020204" pitchFamily="34" charset="-122"/>
              </a:rPr>
              <a:t>模型</a:t>
            </a:r>
            <a:r>
              <a:rPr lang="en-US" altLang="zh-CN" sz="2400" spc="100" dirty="0"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2400" spc="100" dirty="0">
                <a:latin typeface="Arial" panose="020B0604020202020204" pitchFamily="34" charset="0"/>
                <a:ea typeface="微软雅黑" panose="020B0503020204020204" pitchFamily="34" charset="-122"/>
              </a:rPr>
              <a:t>策略</a:t>
            </a:r>
            <a:r>
              <a:rPr lang="en-US" altLang="zh-CN" sz="2400" spc="100" dirty="0"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2400" spc="100" dirty="0">
                <a:latin typeface="Arial" panose="020B0604020202020204" pitchFamily="34" charset="0"/>
                <a:ea typeface="微软雅黑" panose="020B0503020204020204" pitchFamily="34" charset="-122"/>
              </a:rPr>
              <a:t>算法</a:t>
            </a:r>
            <a:endParaRPr lang="en-US" altLang="zh-CN" sz="2400" spc="1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35FAA8-3FE3-F5BB-0C4D-39D2B7DF054D}"/>
              </a:ext>
            </a:extLst>
          </p:cNvPr>
          <p:cNvSpPr txBox="1"/>
          <p:nvPr/>
        </p:nvSpPr>
        <p:spPr>
          <a:xfrm>
            <a:off x="1650928" y="265875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学不懂时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FC700B33-1993-47D8-F2A0-8C7BFA0954BA}"/>
              </a:ext>
            </a:extLst>
          </p:cNvPr>
          <p:cNvSpPr/>
          <p:nvPr/>
        </p:nvSpPr>
        <p:spPr>
          <a:xfrm>
            <a:off x="2984428" y="2639832"/>
            <a:ext cx="685800" cy="457200"/>
          </a:xfrm>
          <a:prstGeom prst="rightArrow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42A066-0AF9-FFE8-8E2B-50DC49B7BBD2}"/>
              </a:ext>
            </a:extLst>
          </p:cNvPr>
          <p:cNvSpPr txBox="1"/>
          <p:nvPr/>
        </p:nvSpPr>
        <p:spPr>
          <a:xfrm>
            <a:off x="3971886" y="2582557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围绕“</a:t>
            </a:r>
            <a:r>
              <a:rPr lang="zh-CN" altLang="en-US" spc="100" dirty="0">
                <a:latin typeface="Arial" panose="020B0604020202020204" pitchFamily="34" charset="0"/>
                <a:ea typeface="微软雅黑" panose="020B0503020204020204" pitchFamily="34" charset="-122"/>
              </a:rPr>
              <a:t>模型→策略→算法”这一主线进行学习，数学推导、实现方式一律不管</a:t>
            </a:r>
            <a:endParaRPr lang="zh-CN" altLang="en-US" dirty="0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6AC16DB7-B210-BDFC-342D-413E7F6C50C5}"/>
              </a:ext>
            </a:extLst>
          </p:cNvPr>
          <p:cNvSpPr/>
          <p:nvPr/>
        </p:nvSpPr>
        <p:spPr>
          <a:xfrm>
            <a:off x="8585128" y="2677123"/>
            <a:ext cx="685800" cy="457200"/>
          </a:xfrm>
          <a:prstGeom prst="rightArrow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2F001B-359F-B6A9-44E1-11402F35B8E5}"/>
              </a:ext>
            </a:extLst>
          </p:cNvPr>
          <p:cNvSpPr txBox="1"/>
          <p:nvPr/>
        </p:nvSpPr>
        <p:spPr>
          <a:xfrm>
            <a:off x="9492731" y="27277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09248DF-85D4-A53B-BE90-AB07DA4F6EA3}"/>
              </a:ext>
            </a:extLst>
          </p:cNvPr>
          <p:cNvSpPr txBox="1"/>
          <p:nvPr/>
        </p:nvSpPr>
        <p:spPr>
          <a:xfrm>
            <a:off x="1261073" y="4409960"/>
            <a:ext cx="133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学得深入时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C12A296-D139-49AA-8C41-4FE4B0C904AE}"/>
              </a:ext>
            </a:extLst>
          </p:cNvPr>
          <p:cNvSpPr/>
          <p:nvPr/>
        </p:nvSpPr>
        <p:spPr>
          <a:xfrm>
            <a:off x="2689823" y="4393434"/>
            <a:ext cx="685800" cy="457200"/>
          </a:xfrm>
          <a:prstGeom prst="rightArrow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2BCC65F-CD09-C889-4CDF-3320A42874B9}"/>
              </a:ext>
            </a:extLst>
          </p:cNvPr>
          <p:cNvSpPr txBox="1"/>
          <p:nvPr/>
        </p:nvSpPr>
        <p:spPr>
          <a:xfrm>
            <a:off x="3559326" y="4211256"/>
            <a:ext cx="5327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如何改进模型部分？它的思想如何应用到其他方法？</a:t>
            </a:r>
            <a:endParaRPr lang="en-US" altLang="zh-CN" dirty="0"/>
          </a:p>
          <a:p>
            <a:r>
              <a:rPr lang="zh-CN" altLang="en-US" dirty="0"/>
              <a:t>如何改进策略部分？它的思想如何应用到其他方法？</a:t>
            </a:r>
          </a:p>
          <a:p>
            <a:r>
              <a:rPr lang="zh-CN" altLang="en-US" dirty="0"/>
              <a:t>如何改进算法部分？它的思想如何应用到其他方法？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5AA0D9A5-D206-EE93-F216-716342ED2F9B}"/>
              </a:ext>
            </a:extLst>
          </p:cNvPr>
          <p:cNvSpPr/>
          <p:nvPr/>
        </p:nvSpPr>
        <p:spPr>
          <a:xfrm>
            <a:off x="9074597" y="4437678"/>
            <a:ext cx="685800" cy="457200"/>
          </a:xfrm>
          <a:prstGeom prst="rightArrow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9D5F851-CCAE-0A90-43CE-5E0BB85E7CD8}"/>
              </a:ext>
            </a:extLst>
          </p:cNvPr>
          <p:cNvSpPr txBox="1"/>
          <p:nvPr/>
        </p:nvSpPr>
        <p:spPr>
          <a:xfrm>
            <a:off x="9982200" y="448825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创新</a:t>
            </a:r>
          </a:p>
        </p:txBody>
      </p:sp>
    </p:spTree>
    <p:extLst>
      <p:ext uri="{BB962C8B-B14F-4D97-AF65-F5344CB8AC3E}">
        <p14:creationId xmlns:p14="http://schemas.microsoft.com/office/powerpoint/2010/main" val="1257505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2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3042076"/>
            <a:ext cx="3980569" cy="156965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直观理解</a:t>
            </a:r>
          </a:p>
          <a:p>
            <a:endParaRPr lang="zh-CN" altLang="en-US" sz="4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游戏机, 画, 食物, 标志&#10;&#10;描述已自动生成">
            <a:extLst>
              <a:ext uri="{FF2B5EF4-FFF2-40B4-BE49-F238E27FC236}">
                <a16:creationId xmlns:a16="http://schemas.microsoft.com/office/drawing/2014/main" id="{3890F2E0-CFB5-4624-8372-7B1D6D0A1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650A45-19B3-4DA2-958F-662F086E62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8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078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30414BF-4B02-4BA3-AAEB-FE20115EC13A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CFC18E57-AE98-4F31-88BB-9C19FAE6C6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9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9683CD-78A6-2F7B-BE34-EECBD0383C9F}"/>
              </a:ext>
            </a:extLst>
          </p:cNvPr>
          <p:cNvSpPr txBox="1"/>
          <p:nvPr/>
        </p:nvSpPr>
        <p:spPr>
          <a:xfrm>
            <a:off x="796787" y="6299929"/>
            <a:ext cx="8614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effectLst/>
                <a:latin typeface="Inter"/>
              </a:rPr>
              <a:t>Zhang, X., &amp; Ke, H. (2000). ALL/AML Cancer Classification by Gene Expression Data Using SVM and CSVM Approach. Genome Informatics, 11, 237-239.</a:t>
            </a:r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9C6226-1228-E6E0-AC2E-0DD44289E470}"/>
              </a:ext>
            </a:extLst>
          </p:cNvPr>
          <p:cNvSpPr txBox="1"/>
          <p:nvPr/>
        </p:nvSpPr>
        <p:spPr>
          <a:xfrm>
            <a:off x="1066800" y="729711"/>
            <a:ext cx="1489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问题引入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7CE703-0859-D1DA-B870-3DC3C15BFAF8}"/>
              </a:ext>
            </a:extLst>
          </p:cNvPr>
          <p:cNvSpPr txBox="1"/>
          <p:nvPr/>
        </p:nvSpPr>
        <p:spPr>
          <a:xfrm>
            <a:off x="1947448" y="1498187"/>
            <a:ext cx="82971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在癌症治疗中，癌症分类是关键环节，</a:t>
            </a:r>
            <a:r>
              <a:rPr lang="en-US" altLang="zh-CN" b="0" i="0" dirty="0">
                <a:effectLst/>
                <a:latin typeface="Inter"/>
              </a:rPr>
              <a:t>Golub </a:t>
            </a:r>
            <a:r>
              <a:rPr lang="zh-CN" altLang="en-US" b="0" i="0" dirty="0">
                <a:effectLst/>
                <a:latin typeface="Inter"/>
              </a:rPr>
              <a:t>等人曾提出基于 </a:t>
            </a:r>
            <a:r>
              <a:rPr lang="en-US" altLang="zh-CN" b="0" i="0" dirty="0">
                <a:effectLst/>
                <a:latin typeface="Inter"/>
              </a:rPr>
              <a:t>DNA </a:t>
            </a:r>
            <a:r>
              <a:rPr lang="zh-CN" altLang="en-US" b="0" i="0" dirty="0">
                <a:effectLst/>
                <a:latin typeface="Inter"/>
              </a:rPr>
              <a:t>微阵列基因表达监测的新方案，针对急性淋巴细胞白血病（</a:t>
            </a:r>
            <a:r>
              <a:rPr lang="en-US" altLang="zh-CN" b="0" i="0" dirty="0">
                <a:effectLst/>
                <a:latin typeface="Inter"/>
              </a:rPr>
              <a:t>ALL</a:t>
            </a:r>
            <a:r>
              <a:rPr lang="zh-CN" altLang="en-US" b="0" i="0" dirty="0">
                <a:effectLst/>
                <a:latin typeface="Inter"/>
              </a:rPr>
              <a:t>）与急性髓系白血病（</a:t>
            </a:r>
            <a:r>
              <a:rPr lang="en-US" altLang="zh-CN" b="0" i="0" dirty="0">
                <a:effectLst/>
                <a:latin typeface="Inter"/>
              </a:rPr>
              <a:t>AML</a:t>
            </a:r>
            <a:r>
              <a:rPr lang="zh-CN" altLang="en-US" b="0" i="0" dirty="0">
                <a:effectLst/>
                <a:latin typeface="Inter"/>
              </a:rPr>
              <a:t>）分类问题，所用数据呈现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高维度、小样本</a:t>
            </a:r>
            <a:r>
              <a:rPr lang="zh-CN" altLang="en-US" b="0" i="0" dirty="0">
                <a:effectLst/>
                <a:latin typeface="Inter"/>
              </a:rPr>
              <a:t>特点：含 </a:t>
            </a:r>
            <a:r>
              <a:rPr lang="en-US" altLang="zh-CN" b="0" i="0" dirty="0">
                <a:effectLst/>
                <a:latin typeface="Inter"/>
              </a:rPr>
              <a:t>6817 </a:t>
            </a:r>
            <a:r>
              <a:rPr lang="zh-CN" altLang="en-US" b="0" i="0" dirty="0">
                <a:effectLst/>
                <a:latin typeface="Inter"/>
              </a:rPr>
              <a:t>个基因的表达数据，仅 </a:t>
            </a:r>
            <a:r>
              <a:rPr lang="en-US" altLang="zh-CN" b="0" i="0" dirty="0">
                <a:effectLst/>
                <a:latin typeface="Inter"/>
              </a:rPr>
              <a:t>38 </a:t>
            </a:r>
            <a:r>
              <a:rPr lang="zh-CN" altLang="en-US" b="0" i="0" dirty="0">
                <a:effectLst/>
                <a:latin typeface="Inter"/>
              </a:rPr>
              <a:t>个训练样本、</a:t>
            </a:r>
            <a:r>
              <a:rPr lang="en-US" altLang="zh-CN" b="0" i="0" dirty="0">
                <a:effectLst/>
                <a:latin typeface="Inter"/>
              </a:rPr>
              <a:t>34 </a:t>
            </a:r>
            <a:r>
              <a:rPr lang="zh-CN" altLang="en-US" b="0" i="0" dirty="0">
                <a:effectLst/>
                <a:latin typeface="Inter"/>
              </a:rPr>
              <a:t>个测试样本。</a:t>
            </a:r>
            <a:endParaRPr lang="en-US" altLang="zh-CN" b="0" i="0" dirty="0">
              <a:effectLst/>
              <a:latin typeface="Inter"/>
            </a:endParaRPr>
          </a:p>
          <a:p>
            <a:endParaRPr lang="en-US" altLang="zh-CN" dirty="0"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面对这类高维小样本场景，如何实现可靠的 </a:t>
            </a:r>
            <a:r>
              <a:rPr lang="en-US" altLang="zh-CN" b="0" i="0" dirty="0">
                <a:effectLst/>
                <a:latin typeface="Inter"/>
              </a:rPr>
              <a:t>ALL/AML </a:t>
            </a:r>
            <a:r>
              <a:rPr lang="zh-CN" altLang="en-US" b="0" i="0" dirty="0">
                <a:effectLst/>
                <a:latin typeface="Inter"/>
              </a:rPr>
              <a:t>分类？</a:t>
            </a: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logistic </a:t>
            </a:r>
            <a:r>
              <a:rPr lang="zh-CN" altLang="en-US" dirty="0"/>
              <a:t>回归面对 </a:t>
            </a:r>
            <a:r>
              <a:rPr lang="en-US" altLang="zh-CN" dirty="0"/>
              <a:t>6817 </a:t>
            </a:r>
            <a:r>
              <a:rPr lang="zh-CN" altLang="en-US" dirty="0"/>
              <a:t>个基因的高维数据时，其参数估计易出现不稳定问题，且</a:t>
            </a:r>
            <a:r>
              <a:rPr lang="zh-CN" altLang="en-US" dirty="0">
                <a:solidFill>
                  <a:srgbClr val="FF0000"/>
                </a:solidFill>
              </a:rPr>
              <a:t>难以捕捉</a:t>
            </a:r>
            <a:r>
              <a:rPr lang="zh-CN" altLang="en-US" dirty="0"/>
              <a:t>基因间可能存在的</a:t>
            </a:r>
            <a:r>
              <a:rPr lang="zh-CN" altLang="en-US" dirty="0">
                <a:solidFill>
                  <a:srgbClr val="FF0000"/>
                </a:solidFill>
              </a:rPr>
              <a:t>非线性关联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决策树其在高维度且样本量少的数据场景下极易发生</a:t>
            </a:r>
            <a:r>
              <a:rPr lang="zh-CN" altLang="en-US" dirty="0">
                <a:solidFill>
                  <a:srgbClr val="FF0000"/>
                </a:solidFill>
              </a:rPr>
              <a:t>过拟合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3FD927-7F0B-70CE-2101-53D0C7FFB557}"/>
              </a:ext>
            </a:extLst>
          </p:cNvPr>
          <p:cNvSpPr txBox="1"/>
          <p:nvPr/>
        </p:nvSpPr>
        <p:spPr>
          <a:xfrm>
            <a:off x="1947448" y="4953000"/>
            <a:ext cx="7796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Inter"/>
              </a:rPr>
              <a:t>支持向量机（</a:t>
            </a:r>
            <a:r>
              <a:rPr lang="en-US" altLang="zh-CN" dirty="0">
                <a:latin typeface="Inter"/>
              </a:rPr>
              <a:t>Support Vector Machine</a:t>
            </a:r>
            <a:r>
              <a:rPr lang="zh-CN" altLang="en-US" dirty="0">
                <a:latin typeface="Inter"/>
              </a:rPr>
              <a:t>，</a:t>
            </a:r>
            <a:r>
              <a:rPr lang="en-US" altLang="zh-CN" dirty="0">
                <a:latin typeface="Inter"/>
              </a:rPr>
              <a:t>SVM</a:t>
            </a:r>
            <a:r>
              <a:rPr lang="zh-CN" altLang="en-US" dirty="0">
                <a:latin typeface="Inter"/>
              </a:rPr>
              <a:t>）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恰好能解决这一难题 ，它不仅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适合少样本</a:t>
            </a:r>
            <a:r>
              <a:rPr lang="zh-CN" altLang="en-US" b="0" i="0" dirty="0">
                <a:effectLst/>
                <a:latin typeface="Inter"/>
              </a:rPr>
              <a:t>的任务，泛化能力强，还可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处理非线性分类</a:t>
            </a:r>
            <a:r>
              <a:rPr lang="zh-CN" altLang="en-US" b="0" i="0" dirty="0">
                <a:effectLst/>
                <a:latin typeface="Inter"/>
              </a:rPr>
              <a:t>问题。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956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A257-078C-48D8-963B-7624C12C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F0C85F2-5005-D204-5FA0-C54B8E17357C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6BC8388-A7D1-8C49-5558-8FD88149C60A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21F04A9-4B55-6E9A-6E08-C83F4570482B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26E4788-7C3B-01EF-2365-F1A656A14482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F7058009-68E7-0B28-5D22-1451968CD21E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3B15B8B0-6948-4663-28AA-E8FC3152D7AE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D71D25FE-B8D2-8B72-7F8B-BAEF65999B65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222FB3D4-8E63-B47F-FF9C-6007B481A05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4E086EB2-F8F8-5D77-F9D0-923E2B68BC77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AEC35BAB-029F-4167-8E02-26DF1BC44D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10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CD935E-C15E-EBDD-7AA6-2DAB6D7266D3}"/>
              </a:ext>
            </a:extLst>
          </p:cNvPr>
          <p:cNvSpPr txBox="1"/>
          <p:nvPr/>
        </p:nvSpPr>
        <p:spPr>
          <a:xfrm>
            <a:off x="863276" y="729711"/>
            <a:ext cx="2403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线性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分类器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4C933B-4D61-5A45-8486-534F3777B128}"/>
              </a:ext>
            </a:extLst>
          </p:cNvPr>
          <p:cNvSpPr txBox="1"/>
          <p:nvPr/>
        </p:nvSpPr>
        <p:spPr>
          <a:xfrm>
            <a:off x="916614" y="2264165"/>
            <a:ext cx="51389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假设我们有一个具有两个特征的数据集</a:t>
            </a:r>
            <a:r>
              <a:rPr lang="en-US" altLang="zh-CN" dirty="0"/>
              <a:t>——x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其中每个样本都被标记为两个类别中的一个。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我们的目标是构建一个分类器，可以根据未知点的特征将其分类到这些类中的一个。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很明显的做法是画一条直线，直线上为黄色类别，直线下为绿色类别。</a:t>
            </a:r>
            <a:endParaRPr lang="en-US" altLang="zh-CN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8A39751-BD1F-23C1-9D03-04C408321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799" y="2028875"/>
            <a:ext cx="4876717" cy="3007272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95727D62-1A27-9C18-A906-A8AE1EC51421}"/>
              </a:ext>
            </a:extLst>
          </p:cNvPr>
          <p:cNvSpPr/>
          <p:nvPr/>
        </p:nvSpPr>
        <p:spPr>
          <a:xfrm>
            <a:off x="9067800" y="2316550"/>
            <a:ext cx="228600" cy="228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42300E-9181-45D0-8DE9-8A6F9E747E16}"/>
              </a:ext>
            </a:extLst>
          </p:cNvPr>
          <p:cNvSpPr txBox="1"/>
          <p:nvPr/>
        </p:nvSpPr>
        <p:spPr>
          <a:xfrm>
            <a:off x="9220158" y="224618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C90795C-8D38-F1F6-E6BC-CC063AAB3ACB}"/>
              </a:ext>
            </a:extLst>
          </p:cNvPr>
          <p:cNvSpPr txBox="1"/>
          <p:nvPr/>
        </p:nvSpPr>
        <p:spPr>
          <a:xfrm>
            <a:off x="543211" y="5546032"/>
            <a:ext cx="6538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system-ui"/>
              </a:rPr>
              <a:t>线性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system-ui"/>
              </a:rPr>
              <a:t>SVM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system-ui"/>
              </a:rPr>
              <a:t>的模型就是用一个超平面，把两类数据点清晰地分开。</a:t>
            </a:r>
            <a:r>
              <a:rPr lang="zh-CN" altLang="en-US" dirty="0">
                <a:latin typeface="system-ui"/>
              </a:rPr>
              <a:t>超平面指直线在高维空间下的推广，线性指超平面是“直”的。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71DD018-26C2-9328-BF42-F07A9DB30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133" y="1993270"/>
            <a:ext cx="3796048" cy="307848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D65BB14E-8348-EBE4-6097-BAE8366EF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308" y="2048263"/>
            <a:ext cx="4745974" cy="294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9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22A93-C34C-89B8-1C3B-9F806343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CDE037B-6D6D-714B-D28C-584C7885830C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E9B4AF1B-DB8E-9295-E00C-F53578C98B4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BD9BD72-C24B-BA1C-40D1-39BA2A874317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1FC98D-0C7E-7731-CAA1-01B070ABEA0E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959760B-637A-4382-461D-405574851E4C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5E524AED-3486-8492-C5A3-BA4E7929F147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9B39BCF-2F0A-EE49-1159-90C2B4B1203B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FB725356-A2BC-35BA-CEBE-22E1F86C20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E743ED1C-3D87-70F6-621F-9DBE0AB5F4DD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3870BBF7-C211-4D1D-E3F2-7EE99C961D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11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DFB4B2-3FBA-2AD2-821E-AB0F81D2602C}"/>
              </a:ext>
            </a:extLst>
          </p:cNvPr>
          <p:cNvSpPr txBox="1"/>
          <p:nvPr/>
        </p:nvSpPr>
        <p:spPr>
          <a:xfrm>
            <a:off x="863276" y="729711"/>
            <a:ext cx="2403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线性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分类器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BBE160-3512-D7DB-AE6F-81EBDE8DB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924291"/>
            <a:ext cx="5234677" cy="3331994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D87D6BD2-F5D1-FDFB-268D-67351D553E33}"/>
              </a:ext>
            </a:extLst>
          </p:cNvPr>
          <p:cNvSpPr/>
          <p:nvPr/>
        </p:nvSpPr>
        <p:spPr>
          <a:xfrm rot="729187">
            <a:off x="8656438" y="2103593"/>
            <a:ext cx="53295" cy="3178403"/>
          </a:xfrm>
          <a:prstGeom prst="rect">
            <a:avLst/>
          </a:prstGeom>
          <a:solidFill>
            <a:srgbClr val="14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087C7D2-EA35-937D-6BB4-5AFB55AFAFB4}"/>
              </a:ext>
            </a:extLst>
          </p:cNvPr>
          <p:cNvCxnSpPr/>
          <p:nvPr/>
        </p:nvCxnSpPr>
        <p:spPr>
          <a:xfrm>
            <a:off x="8153400" y="5022000"/>
            <a:ext cx="6480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F83E8E2-37CD-88FF-F6EB-54B62B3CDBFD}"/>
              </a:ext>
            </a:extLst>
          </p:cNvPr>
          <p:cNvCxnSpPr>
            <a:cxnSpLocks/>
          </p:cNvCxnSpPr>
          <p:nvPr/>
        </p:nvCxnSpPr>
        <p:spPr>
          <a:xfrm rot="-360000">
            <a:off x="8604000" y="3877200"/>
            <a:ext cx="190800" cy="152399"/>
          </a:xfrm>
          <a:prstGeom prst="line">
            <a:avLst/>
          </a:prstGeom>
          <a:ln>
            <a:solidFill>
              <a:srgbClr val="4E56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FE0054B-AF40-657E-6A96-2CB960198714}"/>
              </a:ext>
            </a:extLst>
          </p:cNvPr>
          <p:cNvCxnSpPr>
            <a:cxnSpLocks/>
          </p:cNvCxnSpPr>
          <p:nvPr/>
        </p:nvCxnSpPr>
        <p:spPr>
          <a:xfrm rot="120000" flipH="1">
            <a:off x="8593200" y="3352800"/>
            <a:ext cx="204843" cy="304800"/>
          </a:xfrm>
          <a:prstGeom prst="line">
            <a:avLst/>
          </a:prstGeom>
          <a:ln w="15875">
            <a:solidFill>
              <a:srgbClr val="755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53F61F1-CC25-5E46-D467-43AA2D12DEE6}"/>
              </a:ext>
            </a:extLst>
          </p:cNvPr>
          <p:cNvCxnSpPr>
            <a:cxnSpLocks/>
          </p:cNvCxnSpPr>
          <p:nvPr/>
        </p:nvCxnSpPr>
        <p:spPr>
          <a:xfrm>
            <a:off x="8686800" y="2133600"/>
            <a:ext cx="152400" cy="304800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E51E7B8-5209-EB3C-9A6E-56D85EED1DCB}"/>
              </a:ext>
            </a:extLst>
          </p:cNvPr>
          <p:cNvSpPr txBox="1"/>
          <p:nvPr/>
        </p:nvSpPr>
        <p:spPr>
          <a:xfrm>
            <a:off x="576034" y="1898064"/>
            <a:ext cx="55961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什么样的直线（超平面）才是我们最想要的呢？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如图，</a:t>
            </a:r>
            <a:r>
              <a:rPr lang="en-US" altLang="zh-CN" dirty="0"/>
              <a:t>H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zh-CN" altLang="en-US" dirty="0"/>
              <a:t>两条直线都能正确分类所有样本点，哪一条更优呢？</a:t>
            </a:r>
            <a:endParaRPr lang="en-US" altLang="zh-CN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548B7E6-2FD1-3897-9F23-94FA080485C3}"/>
              </a:ext>
            </a:extLst>
          </p:cNvPr>
          <p:cNvSpPr/>
          <p:nvPr/>
        </p:nvSpPr>
        <p:spPr>
          <a:xfrm>
            <a:off x="8534400" y="4669136"/>
            <a:ext cx="249488" cy="24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043728-D9DB-4A0A-5127-3D5DD3349FA6}"/>
              </a:ext>
            </a:extLst>
          </p:cNvPr>
          <p:cNvSpPr txBox="1"/>
          <p:nvPr/>
        </p:nvSpPr>
        <p:spPr>
          <a:xfrm>
            <a:off x="8775302" y="46347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885CFE-D069-3D39-21CC-FF82A04BA8AD}"/>
              </a:ext>
            </a:extLst>
          </p:cNvPr>
          <p:cNvSpPr txBox="1"/>
          <p:nvPr/>
        </p:nvSpPr>
        <p:spPr>
          <a:xfrm>
            <a:off x="561433" y="3580224"/>
            <a:ext cx="56049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很明显</a:t>
            </a:r>
            <a:r>
              <a:rPr lang="zh-CN" altLang="en-US" dirty="0">
                <a:solidFill>
                  <a:srgbClr val="5949B4"/>
                </a:solidFill>
              </a:rPr>
              <a:t>紫色</a:t>
            </a:r>
            <a:r>
              <a:rPr lang="zh-CN" altLang="en-US" dirty="0"/>
              <a:t>的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zh-CN" altLang="en-US" dirty="0"/>
              <a:t>更优，因为它提供了更大的缓冲区域，当有新样本来的时候，更不容易分错。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8BF96-8004-7199-7E4E-BACD1F64C322}"/>
              </a:ext>
            </a:extLst>
          </p:cNvPr>
          <p:cNvSpPr txBox="1"/>
          <p:nvPr/>
        </p:nvSpPr>
        <p:spPr>
          <a:xfrm>
            <a:off x="569162" y="4840069"/>
            <a:ext cx="5526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这提示我们，能</a:t>
            </a:r>
            <a:r>
              <a:rPr lang="zh-CN" altLang="en-US" dirty="0">
                <a:solidFill>
                  <a:srgbClr val="FF0000"/>
                </a:solidFill>
              </a:rPr>
              <a:t>让两个类别间隔最大</a:t>
            </a:r>
            <a:r>
              <a:rPr lang="zh-CN" altLang="en-US" dirty="0"/>
              <a:t>的分类直线是最优的。（策略）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171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1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D675-59FE-0A6A-8335-6827790FE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2F5EC90-7025-4230-83E5-C171F4CFC5E4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35E90FC7-A89D-D11F-B726-B82EB5769EB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88832E8-B71B-36E6-C321-0A05C5F18FEC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87F01B8-23D9-4279-326D-49E4437E9D4E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6A6879A8-0529-10F4-588D-EB800978F22B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4BD33B32-EC15-CD10-9216-8639A828281A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A2620005-9EA2-839C-2A9C-B3F7D1299108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02C7D45D-C887-6CA8-3C6C-E2BF66C326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8163FFD5-320D-E1E1-A6CD-FEB2287848EA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569B0F52-B025-F09D-D67C-A7E180DD0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12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89EBAA-381B-5868-8E15-47EE942769E4}"/>
              </a:ext>
            </a:extLst>
          </p:cNvPr>
          <p:cNvSpPr txBox="1"/>
          <p:nvPr/>
        </p:nvSpPr>
        <p:spPr>
          <a:xfrm>
            <a:off x="863276" y="729711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线性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分类器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硬间隔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3BFEA0-FF3F-4421-EB6F-33E46A182776}"/>
              </a:ext>
            </a:extLst>
          </p:cNvPr>
          <p:cNvSpPr txBox="1"/>
          <p:nvPr/>
        </p:nvSpPr>
        <p:spPr>
          <a:xfrm>
            <a:off x="467630" y="1884593"/>
            <a:ext cx="2727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具体地，如何定义间隔？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F17D97-DA12-A602-4B06-511CE0740F3D}"/>
              </a:ext>
            </a:extLst>
          </p:cNvPr>
          <p:cNvSpPr txBox="1"/>
          <p:nvPr/>
        </p:nvSpPr>
        <p:spPr>
          <a:xfrm>
            <a:off x="467630" y="2252580"/>
            <a:ext cx="495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两倍各类训练样本点到分类超平面（决策边界）之间的</a:t>
            </a:r>
            <a:r>
              <a:rPr lang="zh-CN" altLang="en-US" dirty="0">
                <a:solidFill>
                  <a:srgbClr val="FF0000"/>
                </a:solidFill>
              </a:rPr>
              <a:t>最小垂直距离。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E261ED5-F7F7-0AC9-CAAE-F14C65739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24096"/>
            <a:ext cx="5106442" cy="3247935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E4A17E4-073C-F982-9409-5DB69F7BF778}"/>
              </a:ext>
            </a:extLst>
          </p:cNvPr>
          <p:cNvCxnSpPr>
            <a:cxnSpLocks/>
          </p:cNvCxnSpPr>
          <p:nvPr/>
        </p:nvCxnSpPr>
        <p:spPr>
          <a:xfrm>
            <a:off x="7848600" y="2975678"/>
            <a:ext cx="914400" cy="6819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C562547-8ED1-516F-4E75-4E5BEAAEA6B7}"/>
              </a:ext>
            </a:extLst>
          </p:cNvPr>
          <p:cNvCxnSpPr>
            <a:cxnSpLocks/>
          </p:cNvCxnSpPr>
          <p:nvPr/>
        </p:nvCxnSpPr>
        <p:spPr>
          <a:xfrm>
            <a:off x="7315200" y="3467100"/>
            <a:ext cx="1066800" cy="8001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022FC62-2CD4-54DD-F895-F05B71E77C3D}"/>
              </a:ext>
            </a:extLst>
          </p:cNvPr>
          <p:cNvCxnSpPr>
            <a:cxnSpLocks/>
          </p:cNvCxnSpPr>
          <p:nvPr/>
        </p:nvCxnSpPr>
        <p:spPr>
          <a:xfrm rot="300000">
            <a:off x="8610600" y="3962400"/>
            <a:ext cx="457200" cy="3048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758CC89B-5DA3-806F-14C7-7D26D696EE12}"/>
              </a:ext>
            </a:extLst>
          </p:cNvPr>
          <p:cNvSpPr/>
          <p:nvPr/>
        </p:nvSpPr>
        <p:spPr>
          <a:xfrm rot="1977333">
            <a:off x="8458200" y="3912172"/>
            <a:ext cx="838200" cy="4572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BCE3FC4-FFDF-5C22-C2F9-DF4D16FC46ED}"/>
              </a:ext>
            </a:extLst>
          </p:cNvPr>
          <p:cNvSpPr txBox="1"/>
          <p:nvPr/>
        </p:nvSpPr>
        <p:spPr>
          <a:xfrm>
            <a:off x="457200" y="4309104"/>
            <a:ext cx="5106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图中虚线表示间隔的上下边界，边界上的样本点称为：</a:t>
            </a:r>
            <a:r>
              <a:rPr lang="zh-CN" altLang="en-US" dirty="0">
                <a:solidFill>
                  <a:srgbClr val="FF0000"/>
                </a:solidFill>
              </a:rPr>
              <a:t>支持向量</a:t>
            </a:r>
            <a:r>
              <a:rPr lang="zh-CN" altLang="en-US" dirty="0"/>
              <a:t>，它们是真正决定分类边界位置的关键样本。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F7E35F7-7D57-3CA1-47F1-98DAA71F6D79}"/>
              </a:ext>
            </a:extLst>
          </p:cNvPr>
          <p:cNvSpPr txBox="1"/>
          <p:nvPr/>
        </p:nvSpPr>
        <p:spPr>
          <a:xfrm>
            <a:off x="467630" y="5221069"/>
            <a:ext cx="6467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“支持”：这些样本点很重要，它们支撑了边界；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“向量”：一个样本就是一个向量。</a:t>
            </a:r>
            <a:endParaRPr lang="en-US" altLang="zh-CN" dirty="0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CD2EC00B-6662-CAC8-11DC-E8E763361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829" y="2124095"/>
            <a:ext cx="3764767" cy="3247935"/>
          </a:xfrm>
          <a:prstGeom prst="rect">
            <a:avLst/>
          </a:prstGeom>
        </p:spPr>
      </p:pic>
      <p:sp>
        <p:nvSpPr>
          <p:cNvPr id="57" name="椭圆 56">
            <a:extLst>
              <a:ext uri="{FF2B5EF4-FFF2-40B4-BE49-F238E27FC236}">
                <a16:creationId xmlns:a16="http://schemas.microsoft.com/office/drawing/2014/main" id="{26AB03EF-3D6D-DE45-798C-A135A90F4FA9}"/>
              </a:ext>
            </a:extLst>
          </p:cNvPr>
          <p:cNvSpPr/>
          <p:nvPr/>
        </p:nvSpPr>
        <p:spPr>
          <a:xfrm>
            <a:off x="7197829" y="2784641"/>
            <a:ext cx="3535828" cy="56815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C69581E-9F7E-140A-90A0-8EB1417CAE66}"/>
              </a:ext>
            </a:extLst>
          </p:cNvPr>
          <p:cNvSpPr txBox="1"/>
          <p:nvPr/>
        </p:nvSpPr>
        <p:spPr>
          <a:xfrm>
            <a:off x="467630" y="3441544"/>
            <a:ext cx="6611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这种间隔也称之为“</a:t>
            </a:r>
            <a:r>
              <a:rPr lang="zh-CN" altLang="en-US" dirty="0">
                <a:solidFill>
                  <a:srgbClr val="FF0000"/>
                </a:solidFill>
              </a:rPr>
              <a:t>硬间隔</a:t>
            </a:r>
            <a:r>
              <a:rPr lang="zh-CN" altLang="en-US" dirty="0"/>
              <a:t>”，即每个样本都被正确分类。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93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4576-5393-7ABE-B6B8-15A72EEE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1EDDA50-E6B5-D087-A211-C658AF3CCFE9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28E2941B-B1AC-2555-DF38-3F7BAC8864D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2CA26CC-3356-25ED-5623-4166C1626375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7232323-CA28-EB21-993A-6A6237A25632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A43AF22-79BE-124F-88B2-A3870B1001AF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8A3BCE7B-640D-15D2-C48E-232CE408A4DC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5A31F281-0B29-E20E-E122-A7A2EE4F388D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31DEB4A-2889-B7D6-7BF4-D0A1B9EE82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E192C9BE-68A5-9FD0-C053-2E1ED4D9BB0D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2E92FF77-2C55-340B-12FF-1BE3EDA0EC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13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175928-8EE3-4184-5D82-ADC161557F59}"/>
              </a:ext>
            </a:extLst>
          </p:cNvPr>
          <p:cNvSpPr txBox="1"/>
          <p:nvPr/>
        </p:nvSpPr>
        <p:spPr>
          <a:xfrm>
            <a:off x="863276" y="729711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线性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分类器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软间隔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FAAE18-1A91-10F9-E269-D36017C1D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095" y="1898946"/>
            <a:ext cx="4657725" cy="384168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A8F460-2D7D-9E7A-A09F-BBE85DF23FC4}"/>
              </a:ext>
            </a:extLst>
          </p:cNvPr>
          <p:cNvSpPr txBox="1"/>
          <p:nvPr/>
        </p:nvSpPr>
        <p:spPr>
          <a:xfrm>
            <a:off x="10913990" y="1642377"/>
            <a:ext cx="903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B27474"/>
                </a:solidFill>
              </a:rPr>
              <a:t>margin</a:t>
            </a:r>
            <a:endParaRPr lang="zh-CN" altLang="en-US" sz="1400" dirty="0">
              <a:solidFill>
                <a:srgbClr val="B27474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E06989-FD54-4FAC-02D7-D8F207993238}"/>
              </a:ext>
            </a:extLst>
          </p:cNvPr>
          <p:cNvSpPr txBox="1"/>
          <p:nvPr/>
        </p:nvSpPr>
        <p:spPr>
          <a:xfrm>
            <a:off x="580483" y="1788103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如果数据是近似线性可分，或是线性可分但是具有噪声的，无论怎么画决策直线，都无法完美地分开两类样本，此时硬间隔变得不可实现。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8CA30B4-FEBF-5A79-5E2F-3AF89C0BED91}"/>
                  </a:ext>
                </a:extLst>
              </p:cNvPr>
              <p:cNvSpPr txBox="1"/>
              <p:nvPr/>
            </p:nvSpPr>
            <p:spPr>
              <a:xfrm>
                <a:off x="561433" y="3358277"/>
                <a:ext cx="659184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那么就需要引入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软间隔</a:t>
                </a:r>
                <a:r>
                  <a:rPr lang="zh-CN" altLang="en-US" dirty="0"/>
                  <a:t>的概念，允许个别点“违规”进入间隔，甚至跑到错误的一边，但要为此付出代价，“代价”定义为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algn="ctr"/>
                <a:r>
                  <a:rPr lang="zh-CN" altLang="en-US" dirty="0">
                    <a:solidFill>
                      <a:srgbClr val="FF0000"/>
                    </a:solidFill>
                  </a:rPr>
                  <a:t>软间隔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=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硬间隔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-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代价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此时</a:t>
                </a:r>
                <a:r>
                  <a:rPr lang="en-US" altLang="zh-CN" dirty="0"/>
                  <a:t>SVM</a:t>
                </a:r>
                <a:r>
                  <a:rPr lang="zh-CN" altLang="en-US" dirty="0"/>
                  <a:t>的策略就变成了：最大化硬间隔的同时，控制“违规代价”，即从最大化硬间隔变成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最大化软间隔</a:t>
                </a:r>
                <a:r>
                  <a:rPr lang="zh-CN" altLang="en-US" dirty="0"/>
                  <a:t>，支持向量变为边界上的点和错分的点。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8CA30B4-FEBF-5A79-5E2F-3AF89C0BE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33" y="3358277"/>
                <a:ext cx="6591842" cy="2585323"/>
              </a:xfrm>
              <a:prstGeom prst="rect">
                <a:avLst/>
              </a:prstGeom>
              <a:blipFill>
                <a:blip r:embed="rId5"/>
                <a:stretch>
                  <a:fillRect l="-740" t="-1415" r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338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074D6-A421-C534-F246-856C165C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E5B636D-8226-27A5-198B-8BE6EA288427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6CC376E-A880-265F-A676-8D3CB440A9F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A6AEA40-C7A3-E92E-3558-8C3CE7720606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37518027-E3F2-E940-BCE4-17F5B9E7D5FA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9E9F868F-D5BF-66B3-46F9-4EAA3D5141AA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8DA7B2E1-1AAF-D4DC-F1DC-E83A11B45BE5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5F089BE9-F036-570B-9061-784F8AF16BF6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AEC09B13-C7FA-892C-9532-05C3C38F34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6B87DE28-1E1D-2487-7930-E9424E59A0B1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FB84B370-A953-2285-D888-055DEEF020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14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37B3E7-D42B-917B-9F4D-4D117D1AE907}"/>
              </a:ext>
            </a:extLst>
          </p:cNvPr>
          <p:cNvSpPr txBox="1"/>
          <p:nvPr/>
        </p:nvSpPr>
        <p:spPr>
          <a:xfrm>
            <a:off x="863276" y="729711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线性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分类器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软间隔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DFB03F8-7082-5742-06CF-8D6B326B7139}"/>
                  </a:ext>
                </a:extLst>
              </p:cNvPr>
              <p:cNvSpPr txBox="1"/>
              <p:nvPr/>
            </p:nvSpPr>
            <p:spPr>
              <a:xfrm>
                <a:off x="2065083" y="1828800"/>
                <a:ext cx="8077200" cy="1478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用一个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超参数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来控制我们对代价的容忍程度，它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可以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认为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是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代价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权重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 很大时，模型非常“严格”，几乎不允许任何点违规，此时间隔变窄；</a:t>
                </a: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当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很小时，模型很“宽容”，此时违规较多，但能保证间隔很宽。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DFB03F8-7082-5742-06CF-8D6B326B7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083" y="1828800"/>
                <a:ext cx="8077200" cy="1478033"/>
              </a:xfrm>
              <a:prstGeom prst="rect">
                <a:avLst/>
              </a:prstGeom>
              <a:blipFill>
                <a:blip r:embed="rId4"/>
                <a:stretch>
                  <a:fillRect l="-679" t="-2066" r="-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软间隔分类">
            <a:extLst>
              <a:ext uri="{FF2B5EF4-FFF2-40B4-BE49-F238E27FC236}">
                <a16:creationId xmlns:a16="http://schemas.microsoft.com/office/drawing/2014/main" id="{5EA3B673-07D8-7141-F230-7AB75970D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743" y="3733800"/>
            <a:ext cx="924877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79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FDFF-EA04-0470-E8E2-A901B976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675303C6-A2FF-85E0-02C3-B6D0A3704CCB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7E4F3282-D081-1E1D-8792-05EB87AA317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E582BEA-7BF8-4652-6D17-3E19185E3FFB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827F9E8-7D4D-6086-5F4F-C7B1D42504F2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2DC21D19-1542-7F39-26E4-2A5DEC4F0C6A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5129713D-9FB0-820F-79BF-ACCD79F962BC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297C60D-57EC-442F-71BC-7480E7A9E83A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58232BEC-2CE1-18D5-8BB9-77ADAD485D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2C569-A967-E4D3-3F99-8599C3F1C5CA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C50B21AE-1FEA-CD2D-60B0-87EBEFC483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15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7F9791-735B-09DC-D378-3F1428674878}"/>
              </a:ext>
            </a:extLst>
          </p:cNvPr>
          <p:cNvSpPr txBox="1"/>
          <p:nvPr/>
        </p:nvSpPr>
        <p:spPr>
          <a:xfrm>
            <a:off x="863276" y="729711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非线性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分类器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FC4C7F-3C6D-7946-5B73-9415AFA8EFBA}"/>
              </a:ext>
            </a:extLst>
          </p:cNvPr>
          <p:cNvSpPr txBox="1"/>
          <p:nvPr/>
        </p:nvSpPr>
        <p:spPr>
          <a:xfrm>
            <a:off x="550298" y="1828800"/>
            <a:ext cx="57574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现实生活中，很多数据实际上是非线性可分的，这时候即使用软间隔也不能很好地进行分类。</a:t>
            </a:r>
          </a:p>
        </p:txBody>
      </p:sp>
      <p:pic>
        <p:nvPicPr>
          <p:cNvPr id="2050" name="Picture 2" descr="Nonlinear data in support vector machine ">
            <a:extLst>
              <a:ext uri="{FF2B5EF4-FFF2-40B4-BE49-F238E27FC236}">
                <a16:creationId xmlns:a16="http://schemas.microsoft.com/office/drawing/2014/main" id="{E422B112-2B01-7971-2EE2-709479955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286000"/>
            <a:ext cx="5015025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26CCDDDF-C1AA-4036-25C0-086EF7FE6F42}"/>
              </a:ext>
            </a:extLst>
          </p:cNvPr>
          <p:cNvSpPr/>
          <p:nvPr/>
        </p:nvSpPr>
        <p:spPr>
          <a:xfrm>
            <a:off x="8273641" y="2943091"/>
            <a:ext cx="1695718" cy="1695718"/>
          </a:xfrm>
          <a:prstGeom prst="ellipse">
            <a:avLst/>
          </a:prstGeom>
          <a:noFill/>
          <a:ln w="19050">
            <a:solidFill>
              <a:srgbClr val="5949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E688715-3750-5474-E98A-FD55DF87465F}"/>
              </a:ext>
            </a:extLst>
          </p:cNvPr>
          <p:cNvCxnSpPr>
            <a:cxnSpLocks/>
          </p:cNvCxnSpPr>
          <p:nvPr/>
        </p:nvCxnSpPr>
        <p:spPr>
          <a:xfrm flipV="1">
            <a:off x="8016601" y="2667000"/>
            <a:ext cx="2270399" cy="2209800"/>
          </a:xfrm>
          <a:prstGeom prst="line">
            <a:avLst/>
          </a:prstGeom>
          <a:ln w="12700">
            <a:solidFill>
              <a:srgbClr val="5949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DE04D3D-4FCD-9EFD-805F-3F93F317F771}"/>
              </a:ext>
            </a:extLst>
          </p:cNvPr>
          <p:cNvSpPr txBox="1"/>
          <p:nvPr/>
        </p:nvSpPr>
        <p:spPr>
          <a:xfrm>
            <a:off x="550298" y="3060046"/>
            <a:ext cx="57574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面对这种情况，</a:t>
            </a:r>
            <a:r>
              <a:rPr lang="en-US" altLang="zh-CN" dirty="0"/>
              <a:t>SVM</a:t>
            </a:r>
            <a:r>
              <a:rPr lang="zh-CN" altLang="en-US" dirty="0"/>
              <a:t>的做法是：</a:t>
            </a:r>
            <a:r>
              <a:rPr lang="zh-CN" altLang="en-US" dirty="0">
                <a:solidFill>
                  <a:srgbClr val="FF0000"/>
                </a:solidFill>
              </a:rPr>
              <a:t>把数据映射到更高维度</a:t>
            </a:r>
            <a:r>
              <a:rPr lang="zh-CN" altLang="en-US" dirty="0"/>
              <a:t>，因为在高维空间中，数据更容易线性可分。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</p:txBody>
      </p:sp>
      <p:pic>
        <p:nvPicPr>
          <p:cNvPr id="2052" name="Picture 4" descr="Constructing a hyperplane">
            <a:extLst>
              <a:ext uri="{FF2B5EF4-FFF2-40B4-BE49-F238E27FC236}">
                <a16:creationId xmlns:a16="http://schemas.microsoft.com/office/drawing/2014/main" id="{72B196C9-6B3F-6410-3334-0A4F9229D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596" y="2287346"/>
            <a:ext cx="5005029" cy="300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yperplane in support vector machine">
            <a:extLst>
              <a:ext uri="{FF2B5EF4-FFF2-40B4-BE49-F238E27FC236}">
                <a16:creationId xmlns:a16="http://schemas.microsoft.com/office/drawing/2014/main" id="{9A82AEA2-73F2-1E28-537A-41F37B8DD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599" y="2314201"/>
            <a:ext cx="5015025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820215-E8B1-2FB1-6CAB-27F6475D6A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8610" y="2504350"/>
            <a:ext cx="5109002" cy="2535100"/>
          </a:xfrm>
          <a:prstGeom prst="rect">
            <a:avLst/>
          </a:prstGeom>
        </p:spPr>
      </p:pic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127D13D5-DB80-EF96-4EE7-0911FADF2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25553"/>
              </p:ext>
            </p:extLst>
          </p:nvPr>
        </p:nvGraphicFramePr>
        <p:xfrm>
          <a:off x="644070" y="4847581"/>
          <a:ext cx="5528130" cy="99441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343693">
                  <a:extLst>
                    <a:ext uri="{9D8B030D-6E8A-4147-A177-3AD203B41FA5}">
                      <a16:colId xmlns:a16="http://schemas.microsoft.com/office/drawing/2014/main" val="544790231"/>
                    </a:ext>
                  </a:extLst>
                </a:gridCol>
                <a:gridCol w="3184437">
                  <a:extLst>
                    <a:ext uri="{9D8B030D-6E8A-4147-A177-3AD203B41FA5}">
                      <a16:colId xmlns:a16="http://schemas.microsoft.com/office/drawing/2014/main" val="3083477983"/>
                    </a:ext>
                  </a:extLst>
                </a:gridCol>
              </a:tblGrid>
              <a:tr h="21622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线性核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51435" marR="51435" marT="51435" marB="5143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最简单，相当于没升维</a:t>
                      </a:r>
                    </a:p>
                  </a:txBody>
                  <a:tcPr marL="51435" marR="51435" marT="51435" marB="51435" anchor="ctr"/>
                </a:tc>
                <a:extLst>
                  <a:ext uri="{0D108BD9-81ED-4DB2-BD59-A6C34878D82A}">
                    <a16:rowId xmlns:a16="http://schemas.microsoft.com/office/drawing/2014/main" val="2902262054"/>
                  </a:ext>
                </a:extLst>
              </a:tr>
              <a:tr h="16817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多项式核</a:t>
                      </a:r>
                      <a:endParaRPr lang="en-US" sz="1600" b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51435" marR="51435" marT="51435" marB="5143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可捕捉低阶非线性关系</a:t>
                      </a:r>
                    </a:p>
                  </a:txBody>
                  <a:tcPr marL="51435" marR="51435" marT="51435" marB="51435" anchor="ctr"/>
                </a:tc>
                <a:extLst>
                  <a:ext uri="{0D108BD9-81ED-4DB2-BD59-A6C34878D82A}">
                    <a16:rowId xmlns:a16="http://schemas.microsoft.com/office/drawing/2014/main" val="3662434919"/>
                  </a:ext>
                </a:extLst>
              </a:tr>
              <a:tr h="21622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600" b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高斯核</a:t>
                      </a:r>
                      <a:r>
                        <a:rPr lang="en-US" sz="1600" b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/ RBF 核</a:t>
                      </a:r>
                    </a:p>
                  </a:txBody>
                  <a:tcPr marL="51435" marR="51435" marT="51435" marB="5143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最常用！能拟合任意复杂边界</a:t>
                      </a:r>
                    </a:p>
                  </a:txBody>
                  <a:tcPr marL="51435" marR="51435" marT="51435" marB="51435" anchor="ctr"/>
                </a:tc>
                <a:extLst>
                  <a:ext uri="{0D108BD9-81ED-4DB2-BD59-A6C34878D82A}">
                    <a16:rowId xmlns:a16="http://schemas.microsoft.com/office/drawing/2014/main" val="582666189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5C489C3B-D3C8-A49B-AE8F-6F5E259D8DF6}"/>
              </a:ext>
            </a:extLst>
          </p:cNvPr>
          <p:cNvSpPr txBox="1"/>
          <p:nvPr/>
        </p:nvSpPr>
        <p:spPr>
          <a:xfrm>
            <a:off x="533664" y="4197017"/>
            <a:ext cx="57906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SVM</a:t>
            </a:r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核函数</a:t>
            </a:r>
            <a:r>
              <a:rPr lang="zh-CN" altLang="en-US" dirty="0"/>
              <a:t>实现升维，核函数也是实际应用中的一个重要超参数，常用的核函数有：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1082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F303-B778-EC68-1010-0E886CAC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434F47D-0667-6E5D-1DA7-652BF21B1B18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B0E71BE1-168C-58E1-42E2-927253D6E063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0B3C1CF-6F3D-D006-677D-9A8CB492B34D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040EA19-96A8-962F-07C0-5C601AE1E788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68E3140-90B6-4D51-98FB-CBD56DB7F9C3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BFADDA89-84B2-5B04-80B1-BF470121AEEE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3BDB6597-6EE1-CD19-E40B-E7B88A630C0C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AA88DECA-6233-0789-565A-EB66DE61C3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AA538D39-9D7E-807C-9EAE-947279203555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BB71B1CA-43F0-1106-742F-5662C3837F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16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27CDA7-08E6-CADF-C2E0-A5C1429446FF}"/>
              </a:ext>
            </a:extLst>
          </p:cNvPr>
          <p:cNvSpPr txBox="1"/>
          <p:nvPr/>
        </p:nvSpPr>
        <p:spPr>
          <a:xfrm>
            <a:off x="863276" y="729711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SVM——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算法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684AF74-7CD7-A9BF-56D5-820B5C89F43C}"/>
              </a:ext>
            </a:extLst>
          </p:cNvPr>
          <p:cNvSpPr txBox="1"/>
          <p:nvPr/>
        </p:nvSpPr>
        <p:spPr>
          <a:xfrm>
            <a:off x="1905000" y="2885359"/>
            <a:ext cx="8229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/>
              <a:t>SVM</a:t>
            </a:r>
            <a:r>
              <a:rPr lang="zh-CN" altLang="en-US" sz="2200" dirty="0"/>
              <a:t>训练时最常用的优化算法是：序列最小优化算法（</a:t>
            </a:r>
            <a:r>
              <a:rPr lang="en-US" altLang="zh-CN" sz="2200" dirty="0"/>
              <a:t>Sequential Minimal Optimization</a:t>
            </a:r>
            <a:r>
              <a:rPr lang="zh-CN" altLang="en-US" sz="2200" dirty="0"/>
              <a:t>，</a:t>
            </a:r>
            <a:r>
              <a:rPr lang="en-US" altLang="zh-CN" sz="2200" dirty="0"/>
              <a:t> SMO</a:t>
            </a:r>
            <a:r>
              <a:rPr lang="zh-CN" altLang="en-US" sz="2200" dirty="0"/>
              <a:t>），它不直接求解整个大问题，而是每次只挑两个变量来优化，反复迭代直到收敛。</a:t>
            </a:r>
          </a:p>
        </p:txBody>
      </p:sp>
    </p:spTree>
    <p:extLst>
      <p:ext uri="{BB962C8B-B14F-4D97-AF65-F5344CB8AC3E}">
        <p14:creationId xmlns:p14="http://schemas.microsoft.com/office/powerpoint/2010/main" val="2671508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6DFE-6584-1C58-6B18-CBE426FA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22D8EE6-2F66-6158-A8FE-32659DA91389}"/>
              </a:ext>
            </a:extLst>
          </p:cNvPr>
          <p:cNvGrpSpPr/>
          <p:nvPr/>
        </p:nvGrpSpPr>
        <p:grpSpPr>
          <a:xfrm>
            <a:off x="-254000" y="144940"/>
            <a:ext cx="12934897" cy="584771"/>
            <a:chOff x="-254000" y="14494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1B9E8148-DFF6-4E41-04C1-F3AF6A2D249D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15A3AAC-2BE4-0CFD-7548-1BE361EACF48}"/>
                </a:ext>
              </a:extLst>
            </p:cNvPr>
            <p:cNvSpPr txBox="1"/>
            <p:nvPr/>
          </p:nvSpPr>
          <p:spPr>
            <a:xfrm>
              <a:off x="701167" y="14494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直观理解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E2B8427-2766-E9EB-C8BD-1BF17E1AAB96}"/>
                </a:ext>
              </a:extLst>
            </p:cNvPr>
            <p:cNvGrpSpPr/>
            <p:nvPr/>
          </p:nvGrpSpPr>
          <p:grpSpPr>
            <a:xfrm>
              <a:off x="3486097" y="176254"/>
              <a:ext cx="9194800" cy="490496"/>
              <a:chOff x="3486097" y="176254"/>
              <a:chExt cx="9194800" cy="490496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ABF82574-53ED-7A84-75F1-E757AC59411D}"/>
                  </a:ext>
                </a:extLst>
              </p:cNvPr>
              <p:cNvGrpSpPr/>
              <p:nvPr/>
            </p:nvGrpSpPr>
            <p:grpSpPr>
              <a:xfrm>
                <a:off x="3486097" y="217491"/>
                <a:ext cx="9194800" cy="449259"/>
                <a:chOff x="3410250" y="217491"/>
                <a:chExt cx="9270647" cy="449259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6875B134-F294-B2AF-D0E8-B33BA7BF7FFC}"/>
                    </a:ext>
                  </a:extLst>
                </p:cNvPr>
                <p:cNvSpPr/>
                <p:nvPr/>
              </p:nvSpPr>
              <p:spPr>
                <a:xfrm>
                  <a:off x="3410250" y="217491"/>
                  <a:ext cx="9257947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3CF3799-F3C1-1FD4-0F7F-A38181C643CF}"/>
                    </a:ext>
                  </a:extLst>
                </p:cNvPr>
                <p:cNvSpPr/>
                <p:nvPr/>
              </p:nvSpPr>
              <p:spPr>
                <a:xfrm flipV="1">
                  <a:off x="3422950" y="621031"/>
                  <a:ext cx="9257947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6117D2DA-2B68-62C2-427D-A67CB760B3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6232D8D3-CD09-9B0B-572B-CF96BDB35D53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45C2C3E2-530B-21E5-DC8D-55F4421D9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17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2EAEA4-E7FE-2753-7310-5E6D4FCD158E}"/>
              </a:ext>
            </a:extLst>
          </p:cNvPr>
          <p:cNvSpPr txBox="1"/>
          <p:nvPr/>
        </p:nvSpPr>
        <p:spPr>
          <a:xfrm>
            <a:off x="1219200" y="709918"/>
            <a:ext cx="990600" cy="46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小结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8EC4FF-B5AE-4D94-6C23-AF79E7F95CD4}"/>
              </a:ext>
            </a:extLst>
          </p:cNvPr>
          <p:cNvSpPr txBox="1"/>
          <p:nvPr/>
        </p:nvSpPr>
        <p:spPr>
          <a:xfrm>
            <a:off x="2438400" y="1730142"/>
            <a:ext cx="77296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支持向量机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模型：超平面划分数据，实现分类；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策略：最大化间隔，硬间隔、软间隔；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算法：</a:t>
            </a:r>
            <a:r>
              <a:rPr lang="en-US" altLang="zh-CN" sz="2400" dirty="0"/>
              <a:t>SMO</a:t>
            </a:r>
            <a:r>
              <a:rPr lang="zh-CN" altLang="en-US" sz="2400" dirty="0"/>
              <a:t>算法迭代求解；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通过核函数将数据映射到高维空间，从而将非线性可分问题转换为线性可分问题。</a:t>
            </a:r>
          </a:p>
        </p:txBody>
      </p:sp>
    </p:spTree>
    <p:extLst>
      <p:ext uri="{BB962C8B-B14F-4D97-AF65-F5344CB8AC3E}">
        <p14:creationId xmlns:p14="http://schemas.microsoft.com/office/powerpoint/2010/main" val="1788129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3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3042076"/>
            <a:ext cx="2646870" cy="156965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代码实现</a:t>
            </a:r>
          </a:p>
          <a:p>
            <a:endParaRPr lang="zh-CN" altLang="en-US" sz="4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游戏机, 画, 食物, 标志&#10;&#10;描述已自动生成">
            <a:extLst>
              <a:ext uri="{FF2B5EF4-FFF2-40B4-BE49-F238E27FC236}">
                <a16:creationId xmlns:a16="http://schemas.microsoft.com/office/drawing/2014/main" id="{3890F2E0-CFB5-4624-8372-7B1D6D0A1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650A45-19B3-4DA2-958F-662F086E62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18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322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59F429A-7AFC-4758-AAB6-8F225D460185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FDE93FD-47C1-466B-83C0-B0FE312F788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8D215A-4F3A-4466-BE5A-7DE32742A45F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8FF279-5DCE-4652-92AD-6E366A366D9A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A27AA6-5E16-42F5-AB52-15ED74EE67C0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04A7EB49-116C-4FCD-82D2-6D6479C1B9A0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6682765-B533-45CE-BA6D-2A4B828A426F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B3959D4D-3F67-43DA-90C0-85B4E60FA3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1B81C-0A3C-4946-81BE-617F166167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19C774-7564-41F0-ADB8-E7CBC399AD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19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8FB439-DB9F-2A47-E00D-08C83BA75097}"/>
              </a:ext>
            </a:extLst>
          </p:cNvPr>
          <p:cNvSpPr txBox="1"/>
          <p:nvPr/>
        </p:nvSpPr>
        <p:spPr>
          <a:xfrm>
            <a:off x="2924175" y="1371600"/>
            <a:ext cx="5757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R</a:t>
            </a:r>
            <a:r>
              <a:rPr lang="zh-CN" altLang="en-US" sz="2000" dirty="0"/>
              <a:t>语言中，支持向量机通过</a:t>
            </a:r>
            <a:r>
              <a:rPr lang="en-US" altLang="zh-CN" sz="2000" dirty="0">
                <a:solidFill>
                  <a:srgbClr val="FF0000"/>
                </a:solidFill>
              </a:rPr>
              <a:t>e1071</a:t>
            </a:r>
            <a:r>
              <a:rPr lang="zh-CN" altLang="en-US" sz="2000" dirty="0">
                <a:solidFill>
                  <a:srgbClr val="FF0000"/>
                </a:solidFill>
              </a:rPr>
              <a:t>包</a:t>
            </a:r>
            <a:r>
              <a:rPr lang="zh-CN" altLang="en-US" sz="2000" dirty="0"/>
              <a:t>的</a:t>
            </a:r>
            <a:r>
              <a:rPr lang="en-US" altLang="zh-CN" sz="2000" dirty="0" err="1">
                <a:solidFill>
                  <a:srgbClr val="FF0000"/>
                </a:solidFill>
              </a:rPr>
              <a:t>svm</a:t>
            </a:r>
            <a:r>
              <a:rPr lang="en-US" altLang="zh-CN" sz="2000" dirty="0">
                <a:solidFill>
                  <a:srgbClr val="FF0000"/>
                </a:solidFill>
              </a:rPr>
              <a:t>()</a:t>
            </a:r>
            <a:r>
              <a:rPr lang="zh-CN" altLang="en-US" sz="2000" dirty="0">
                <a:solidFill>
                  <a:srgbClr val="FF0000"/>
                </a:solidFill>
              </a:rPr>
              <a:t>函数</a:t>
            </a:r>
            <a:r>
              <a:rPr lang="zh-CN" altLang="en-US" sz="2000" dirty="0"/>
              <a:t>实现，调用方式与核心参数如下：</a:t>
            </a:r>
            <a:endParaRPr lang="en-US" altLang="zh-CN" sz="2000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22F713-936F-37E5-8E05-1EE4DBBBC6CD}"/>
              </a:ext>
            </a:extLst>
          </p:cNvPr>
          <p:cNvSpPr/>
          <p:nvPr/>
        </p:nvSpPr>
        <p:spPr>
          <a:xfrm>
            <a:off x="2590800" y="2438400"/>
            <a:ext cx="6464864" cy="132588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468CDE-AEAD-B388-4C12-51594B9B4084}"/>
              </a:ext>
            </a:extLst>
          </p:cNvPr>
          <p:cNvSpPr txBox="1"/>
          <p:nvPr/>
        </p:nvSpPr>
        <p:spPr>
          <a:xfrm>
            <a:off x="2863567" y="2747397"/>
            <a:ext cx="59193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svm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(x, y = </a:t>
            </a:r>
            <a:r>
              <a:rPr lang="en-US" altLang="zh-CN" sz="2000" b="0" i="0" dirty="0">
                <a:solidFill>
                  <a:srgbClr val="B15EF2"/>
                </a:solidFill>
                <a:effectLst/>
                <a:latin typeface="Menlo"/>
              </a:rPr>
              <a:t>NULL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scale = </a:t>
            </a:r>
            <a:r>
              <a:rPr lang="en-US" altLang="zh-CN" sz="2000" b="0" i="0" dirty="0">
                <a:solidFill>
                  <a:srgbClr val="D389CB"/>
                </a:solidFill>
                <a:effectLst/>
                <a:latin typeface="Menlo"/>
              </a:rPr>
              <a:t>TRUE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kernel = </a:t>
            </a:r>
            <a:r>
              <a:rPr lang="en-US" altLang="zh-CN" sz="2000" b="0" i="0" dirty="0">
                <a:solidFill>
                  <a:srgbClr val="69BD8B"/>
                </a:solidFill>
                <a:effectLst/>
                <a:latin typeface="Menlo"/>
              </a:rPr>
              <a:t>"radial"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</a:t>
            </a:r>
          </a:p>
          <a:p>
            <a:pPr algn="l" latinLnBrk="0">
              <a:buNone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   gamma = </a:t>
            </a:r>
            <a:r>
              <a:rPr lang="en-US" altLang="zh-CN" sz="2000" b="0" i="0" dirty="0">
                <a:solidFill>
                  <a:srgbClr val="D389CB"/>
                </a:solidFill>
                <a:effectLst/>
                <a:latin typeface="Menlo"/>
              </a:rPr>
              <a:t>1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/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ncol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(x), cost = </a:t>
            </a:r>
            <a:r>
              <a:rPr lang="en-US" altLang="zh-CN" sz="2000" b="0" i="0" dirty="0">
                <a:solidFill>
                  <a:srgbClr val="D389CB"/>
                </a:solidFill>
                <a:effectLst/>
                <a:latin typeface="Menlo"/>
              </a:rPr>
              <a:t>1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probability = </a:t>
            </a:r>
            <a:r>
              <a:rPr lang="en-US" altLang="zh-CN" sz="2000" b="0" i="0" dirty="0">
                <a:solidFill>
                  <a:srgbClr val="D389CB"/>
                </a:solidFill>
                <a:effectLst/>
                <a:latin typeface="Menlo"/>
              </a:rPr>
              <a:t>FALSE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...)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3C22426-3480-3ECD-C08C-EFAE5615D21A}"/>
                  </a:ext>
                </a:extLst>
              </p:cNvPr>
              <p:cNvSpPr txBox="1"/>
              <p:nvPr/>
            </p:nvSpPr>
            <p:spPr>
              <a:xfrm>
                <a:off x="1336829" y="4206495"/>
                <a:ext cx="9864571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altLang="zh-CN" sz="2000" dirty="0"/>
                  <a:t>x/y</a:t>
                </a:r>
                <a:r>
                  <a:rPr lang="zh-CN" altLang="en-US" sz="2000" dirty="0"/>
                  <a:t>：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是自变量；</a:t>
                </a:r>
                <a:r>
                  <a:rPr lang="en-US" altLang="zh-CN" sz="2000" dirty="0"/>
                  <a:t>y</a:t>
                </a:r>
                <a:r>
                  <a:rPr lang="zh-CN" altLang="en-US" sz="2000" dirty="0"/>
                  <a:t>是响应变量；</a:t>
                </a: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altLang="zh-CN" sz="2000" dirty="0"/>
                  <a:t>scale</a:t>
                </a:r>
                <a:r>
                  <a:rPr lang="zh-CN" altLang="en-US" sz="2000" dirty="0"/>
                  <a:t>：是否标准化特征（必开！</a:t>
                </a:r>
                <a:r>
                  <a:rPr lang="en-US" altLang="zh-CN" sz="2000" dirty="0"/>
                  <a:t>SVM </a:t>
                </a:r>
                <a:r>
                  <a:rPr lang="zh-CN" altLang="en-US" sz="2000" dirty="0"/>
                  <a:t>对尺度敏感），默认为</a:t>
                </a:r>
                <a:r>
                  <a:rPr lang="en-US" altLang="zh-CN" sz="2000" dirty="0"/>
                  <a:t>TRUE</a:t>
                </a:r>
                <a:r>
                  <a:rPr lang="zh-CN" altLang="en-US" sz="2000" dirty="0"/>
                  <a:t>；</a:t>
                </a:r>
                <a:endParaRPr lang="en-US" altLang="zh-CN" sz="2000" dirty="0"/>
              </a:p>
              <a:p>
                <a:pPr marL="342900" indent="-34290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kernel</a:t>
                </a:r>
                <a:r>
                  <a:rPr lang="zh-CN" altLang="en-US" sz="2000" dirty="0"/>
                  <a:t>：核函数，</a:t>
                </a:r>
                <a:r>
                  <a:rPr lang="en-US" altLang="zh-CN" sz="2000" dirty="0"/>
                  <a:t>“linear”</a:t>
                </a:r>
                <a:r>
                  <a:rPr lang="zh-CN" altLang="en-US" sz="2000" dirty="0"/>
                  <a:t>（线性）、</a:t>
                </a:r>
                <a:r>
                  <a:rPr lang="en-US" altLang="zh-CN" sz="2000" dirty="0"/>
                  <a:t>“radial”</a:t>
                </a:r>
                <a:r>
                  <a:rPr lang="zh-CN" altLang="en-US" sz="2000" dirty="0"/>
                  <a:t>（</a:t>
                </a:r>
                <a:r>
                  <a:rPr lang="en-US" altLang="zh-CN" sz="2000" dirty="0"/>
                  <a:t>RBF</a:t>
                </a:r>
                <a:r>
                  <a:rPr lang="zh-CN" altLang="en-US" sz="2000" dirty="0"/>
                  <a:t>）、</a:t>
                </a:r>
                <a:r>
                  <a:rPr lang="en-US" altLang="zh-CN" sz="2000" dirty="0"/>
                  <a:t> “polynomial”</a:t>
                </a:r>
                <a:r>
                  <a:rPr lang="zh-CN" altLang="en-US" sz="2000" dirty="0"/>
                  <a:t>（多项式）；</a:t>
                </a:r>
                <a:endParaRPr lang="en-US" altLang="zh-CN" sz="2000" dirty="0"/>
              </a:p>
              <a:p>
                <a:pPr marL="342900" indent="-34290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gamma</a:t>
                </a:r>
                <a:r>
                  <a:rPr lang="zh-CN" altLang="en-US" sz="2000" dirty="0"/>
                  <a:t>：</a:t>
                </a:r>
                <a:r>
                  <a:rPr lang="en-US" altLang="zh-CN" sz="2000" dirty="0"/>
                  <a:t>RBF</a:t>
                </a:r>
                <a:r>
                  <a:rPr lang="zh-CN" altLang="en-US" sz="2000" dirty="0"/>
                  <a:t>核函数参数，默认为</a:t>
                </a:r>
                <a:r>
                  <a:rPr lang="en-US" altLang="zh-CN" sz="2000" dirty="0"/>
                  <a:t>1/</a:t>
                </a:r>
                <a:r>
                  <a:rPr lang="zh-CN" altLang="en-US" sz="2000" dirty="0"/>
                  <a:t>特征数，是关键超参数；</a:t>
                </a:r>
                <a:endParaRPr lang="en-US" altLang="zh-CN" sz="2000" dirty="0"/>
              </a:p>
              <a:p>
                <a:pPr marL="342900" indent="-34290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cost</a:t>
                </a:r>
                <a:r>
                  <a:rPr lang="zh-CN" altLang="en-US" sz="2000" dirty="0"/>
                  <a:t>：错误惩罚系数，即软间隔中的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000" dirty="0"/>
                  <a:t>；</a:t>
                </a:r>
                <a:endParaRPr lang="en-US" altLang="zh-CN" sz="2000" dirty="0"/>
              </a:p>
              <a:p>
                <a:pPr marL="342900" indent="-34290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000" dirty="0"/>
                  <a:t>probability</a:t>
                </a:r>
                <a:r>
                  <a:rPr lang="zh-CN" altLang="en-US" sz="2000" dirty="0"/>
                  <a:t>：是否输出分类概率，默认</a:t>
                </a:r>
                <a:r>
                  <a:rPr lang="en-US" altLang="zh-CN" sz="2000" dirty="0"/>
                  <a:t>FALSE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3C22426-3480-3ECD-C08C-EFAE5615D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829" y="4206495"/>
                <a:ext cx="9864571" cy="1938992"/>
              </a:xfrm>
              <a:prstGeom prst="rect">
                <a:avLst/>
              </a:prstGeom>
              <a:blipFill>
                <a:blip r:embed="rId4"/>
                <a:stretch>
                  <a:fillRect l="-556" t="-1572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174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5647C-030A-2DA2-E024-AAB40D5C7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DE8A339-23E5-EADC-0034-38A6DBAFE436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7E0755FB-99F9-26E9-7E62-0A4634B2E144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71BE142-25BD-D695-E256-CC58760111D8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C6C1328A-6CA5-FDED-B4B2-309668C23A90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5F3C438E-08C1-2F01-B97D-AB5FB5D46C19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EA37B168-996B-1098-A1DA-B4F1C414283B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D0901143-2242-55BC-93DA-408A4E7BFECA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25EEC38C-3B36-032C-2F42-6F4A39266F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24A112C-CCAE-B0B8-817F-98A0F6DEF41F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142F30-1C40-2CD9-FD14-983740EDEF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20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B53300-4A59-D4FC-02BF-EDB180DB2560}"/>
              </a:ext>
            </a:extLst>
          </p:cNvPr>
          <p:cNvSpPr txBox="1"/>
          <p:nvPr/>
        </p:nvSpPr>
        <p:spPr>
          <a:xfrm>
            <a:off x="1981200" y="2133600"/>
            <a:ext cx="77133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来源权威：</a:t>
            </a:r>
            <a:r>
              <a:rPr lang="en-US" altLang="zh-CN" dirty="0"/>
              <a:t>NIDDK</a:t>
            </a:r>
            <a:r>
              <a:rPr lang="zh-CN" altLang="en-US" dirty="0"/>
              <a:t>（美国国家糖尿病研究所）真实临床数据；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人群特殊：皮马印第安女性糖尿病发病率高，是高风险筛查典型场景；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样本规模：</a:t>
            </a:r>
            <a:r>
              <a:rPr lang="en-US" altLang="zh-CN" dirty="0"/>
              <a:t>768</a:t>
            </a:r>
            <a:r>
              <a:rPr lang="zh-CN" altLang="en-US" dirty="0"/>
              <a:t>人 ，中小样本，适合展示 </a:t>
            </a:r>
            <a:r>
              <a:rPr lang="en-US" altLang="zh-CN" dirty="0"/>
              <a:t>SVM </a:t>
            </a:r>
            <a:r>
              <a:rPr lang="zh-CN" altLang="en-US" dirty="0"/>
              <a:t>小样本优势；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zh-CN" altLang="en-US" dirty="0"/>
              <a:t>共有</a:t>
            </a:r>
            <a:r>
              <a:rPr lang="en-US" altLang="zh-CN" dirty="0"/>
              <a:t>8</a:t>
            </a:r>
            <a:r>
              <a:rPr lang="zh-CN" altLang="en-US" dirty="0"/>
              <a:t>个特征，分别是：</a:t>
            </a:r>
            <a:r>
              <a:rPr lang="en-US" altLang="zh-CN" dirty="0"/>
              <a:t>pregnant</a:t>
            </a:r>
            <a:r>
              <a:rPr lang="zh-CN" altLang="en-US" dirty="0"/>
              <a:t>（</a:t>
            </a:r>
            <a:r>
              <a:rPr lang="zh-CN" altLang="zh-CN" dirty="0"/>
              <a:t>怀孕次数</a:t>
            </a:r>
            <a:r>
              <a:rPr lang="zh-CN" altLang="en-US" dirty="0"/>
              <a:t>）、</a:t>
            </a:r>
            <a:r>
              <a:rPr lang="en-US" altLang="zh-CN" dirty="0"/>
              <a:t>glucose</a:t>
            </a:r>
            <a:r>
              <a:rPr lang="zh-CN" altLang="en-US" dirty="0"/>
              <a:t>（血糖浓度</a:t>
            </a:r>
            <a:r>
              <a:rPr lang="en-US" altLang="zh-CN" dirty="0"/>
              <a:t>mg/dL</a:t>
            </a:r>
            <a:r>
              <a:rPr lang="zh-CN" altLang="en-US" dirty="0"/>
              <a:t>）、</a:t>
            </a:r>
            <a:r>
              <a:rPr lang="en-US" altLang="zh-CN" dirty="0"/>
              <a:t>pressure</a:t>
            </a:r>
            <a:r>
              <a:rPr lang="zh-CN" altLang="en-US" dirty="0"/>
              <a:t>（</a:t>
            </a:r>
            <a:r>
              <a:rPr lang="zh-CN" altLang="zh-CN" dirty="0"/>
              <a:t>舒张压</a:t>
            </a:r>
            <a:r>
              <a:rPr lang="en-US" altLang="zh-CN" dirty="0"/>
              <a:t>mm Hg）</a:t>
            </a:r>
            <a:r>
              <a:rPr lang="zh-CN" altLang="en-US" dirty="0"/>
              <a:t>、</a:t>
            </a:r>
            <a:r>
              <a:rPr lang="en-US" altLang="zh-CN" dirty="0"/>
              <a:t>triceps</a:t>
            </a:r>
            <a:r>
              <a:rPr lang="zh-CN" altLang="en-US" dirty="0"/>
              <a:t>（</a:t>
            </a:r>
            <a:r>
              <a:rPr lang="zh-CN" altLang="zh-CN" dirty="0"/>
              <a:t>三头肌皮褶厚度</a:t>
            </a:r>
            <a:r>
              <a:rPr lang="en-US" altLang="zh-CN" dirty="0"/>
              <a:t>mm</a:t>
            </a:r>
            <a:r>
              <a:rPr lang="zh-CN" altLang="zh-CN" dirty="0"/>
              <a:t>）</a:t>
            </a:r>
            <a:r>
              <a:rPr lang="zh-CN" altLang="en-US" dirty="0"/>
              <a:t>、</a:t>
            </a:r>
            <a:r>
              <a:rPr lang="en-US" altLang="zh-CN" dirty="0"/>
              <a:t>insulin</a:t>
            </a:r>
            <a:r>
              <a:rPr lang="zh-CN" altLang="en-US" dirty="0"/>
              <a:t>（</a:t>
            </a:r>
            <a:r>
              <a:rPr lang="zh-CN" altLang="zh-CN" dirty="0"/>
              <a:t>血清胰岛素</a:t>
            </a:r>
            <a:r>
              <a:rPr lang="en-US" altLang="zh-CN" dirty="0"/>
              <a:t>mu U/ml）</a:t>
            </a:r>
            <a:r>
              <a:rPr lang="zh-CN" altLang="en-US" dirty="0"/>
              <a:t>、</a:t>
            </a:r>
            <a:r>
              <a:rPr lang="en-US" altLang="zh-CN" dirty="0"/>
              <a:t>mass</a:t>
            </a:r>
            <a:r>
              <a:rPr lang="zh-CN" altLang="en-US" dirty="0"/>
              <a:t>（</a:t>
            </a:r>
            <a:r>
              <a:rPr lang="en-US" altLang="zh-CN" dirty="0"/>
              <a:t>BMI</a:t>
            </a:r>
            <a:r>
              <a:rPr lang="zh-CN" altLang="en-US" dirty="0"/>
              <a:t>）、</a:t>
            </a:r>
            <a:r>
              <a:rPr lang="en-US" altLang="zh-CN" dirty="0"/>
              <a:t>pedigree</a:t>
            </a:r>
            <a:r>
              <a:rPr lang="zh-CN" altLang="en-US" dirty="0"/>
              <a:t>（糖尿病谱系功能），</a:t>
            </a:r>
            <a:r>
              <a:rPr lang="en-US" altLang="zh-CN" dirty="0"/>
              <a:t>age</a:t>
            </a:r>
            <a:r>
              <a:rPr lang="zh-CN" altLang="en-US" dirty="0"/>
              <a:t>（</a:t>
            </a:r>
            <a:r>
              <a:rPr lang="zh-CN" altLang="zh-CN" dirty="0"/>
              <a:t>年龄</a:t>
            </a:r>
            <a:r>
              <a:rPr lang="en-US" altLang="zh-CN" dirty="0"/>
              <a:t> </a:t>
            </a:r>
            <a:r>
              <a:rPr lang="zh-CN" altLang="zh-CN" dirty="0"/>
              <a:t>岁）</a:t>
            </a:r>
          </a:p>
          <a:p>
            <a:pPr fontAlgn="base"/>
            <a:endParaRPr lang="zh-CN" altLang="zh-CN" dirty="0"/>
          </a:p>
          <a:p>
            <a:pPr fontAlgn="base"/>
            <a:endParaRPr lang="zh-CN" altLang="zh-CN" dirty="0"/>
          </a:p>
          <a:p>
            <a:pPr fontAlgn="base"/>
            <a:endParaRPr lang="zh-CN" altLang="zh-CN" dirty="0"/>
          </a:p>
          <a:p>
            <a:pPr fontAlgn="base"/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62A615-AEAB-BE12-9F8A-7966EAE98836}"/>
              </a:ext>
            </a:extLst>
          </p:cNvPr>
          <p:cNvSpPr txBox="1"/>
          <p:nvPr/>
        </p:nvSpPr>
        <p:spPr>
          <a:xfrm>
            <a:off x="914400" y="838683"/>
            <a:ext cx="6231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案例背景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皮马印第安人糖尿病预测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A9321413-0632-94ED-136D-FB37987B5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234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60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252E-67C0-AE71-5C63-CEF7FB3B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8C5866E8-50CF-7557-4018-475D73AB3A9B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B494573-18B1-A7CC-FCA6-196D33CF0AA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96DFF67-680F-9131-08EC-A05E58A21CC2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CD063FB2-04AA-4754-D801-5C04CBEA9806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3084E4F-7034-17A8-F386-FA23A059888F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353DFF98-4B5A-3075-0A72-1B687C151EEF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D91E6846-7161-55FA-2478-C34FE856F79F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A5680278-A9F0-1B21-5CA0-6B0DF74EAB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8CA0077A-105B-BC0C-CCBF-8B4BA515BD10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C0B02F-9375-C38B-6E5A-BBD5D74146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21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9D4662-5BBA-C4BE-2B29-4261E653EF7A}"/>
              </a:ext>
            </a:extLst>
          </p:cNvPr>
          <p:cNvSpPr txBox="1"/>
          <p:nvPr/>
        </p:nvSpPr>
        <p:spPr>
          <a:xfrm>
            <a:off x="914400" y="838683"/>
            <a:ext cx="6231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数据预览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E790F85B-2A60-7B68-5F39-0E0E82F39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234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054083-A975-B869-073B-9B0464AFA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828800"/>
            <a:ext cx="7696200" cy="407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78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60558-6458-1127-7382-AC099193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847A993-2D21-E73E-7BA6-6F97B021BBF2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2AA87727-67CC-B5DB-F839-E74EDF871803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C5E364F-4C99-9F03-8F6B-A2E49669CDC8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4814803-9957-F4BD-C94A-4807251C8F5C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BB561C5A-7EB2-A41E-816F-D4B8729244A4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A63A8F59-F18D-3973-2572-71CAA3A3B5F1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8763F4FB-1295-C48E-1441-B2B05C9E0DB7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9AF991-887B-0554-3B43-9D8A4F5099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7E0A2FCB-69FE-1DC1-65F3-F113F7BEB544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BED12C-87E1-D565-B4E8-F7D8B9B986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22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760CB55-4E29-1911-CAF1-A798BFA79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234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677709-6F23-7997-04BC-99B359B9E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04" y="1600200"/>
            <a:ext cx="5238333" cy="38862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7ACA90B-0A45-846B-C845-322B07D00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822689"/>
            <a:ext cx="1600200" cy="122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26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F4BFA-48A8-3F56-D141-3B6DEEA9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D12C5FF8-C004-720A-8EA6-5970BB4C1C71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3047D77-DBB5-8BAB-5603-822D1C98D90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534EA21-9F7D-6D52-429B-AC2793A733DD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3F9B6481-7BA8-09BC-0CF6-E221FB2D4B5D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5B7FDAE-4CB2-23B7-5DB5-B43835B2FD6B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CC6CDE9F-45C0-302E-E095-1FB7B2CD895D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CC100AB-E2CD-C6BF-3867-B7CCBDAA6545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EB879B5-83B8-AC2C-9B51-11E82F70BE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F926C02D-C348-E5AF-14E7-BDD0687F0630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61A225-EBB5-EFB0-9AB0-F918F71B4B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23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14481D14-8505-B188-5A32-0FA360FA5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234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BA4834-1AE1-6872-539C-7C27628E4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784" y="1447800"/>
            <a:ext cx="7756216" cy="23668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977E36-9136-97E1-2055-348C9C6A8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297" y="5024269"/>
            <a:ext cx="3065927" cy="133558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FAF5924-5DFE-2FC5-6DBD-3017FCE69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1201" y="5003950"/>
            <a:ext cx="1981200" cy="135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58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0D4B-A3B6-C59C-679D-E4907C2C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FB7E01C-BBFB-AAE3-2302-4565664968C1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BE2B1679-7BCF-05E3-17AB-FD09151B19A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20255F5-35C3-BACF-B566-C62CC14564A2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79FB861-68FA-C233-4719-14B76428148E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BDFBE176-5F9A-7A16-8E90-57647B093C7D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7761D811-F4C7-5317-9009-0D49DAEE71A4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D3697B98-9FA8-5D99-B7C7-861B851F36B1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4B1EED17-A36C-30F9-C79B-89B9319BF1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8DDAAB9-1F63-D7A7-B75F-FAE4972DCFCE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A14096-C319-DA75-006D-026904FD7A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24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8B65C2C0-5637-77D6-9CAA-0B081D9D9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234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16AEE8-1E1C-D064-814D-2D29DDA62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1066800"/>
            <a:ext cx="7200900" cy="31308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315FD4E-692C-A002-6ABC-C25344729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876800"/>
            <a:ext cx="4488407" cy="10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04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3739-1E6F-B966-E617-F0C84CF1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3B1BBD5-3CD6-B8FE-62F0-6A3E5DF3F407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892BEE1C-5B7F-1CB6-FCA7-27E54C6B515A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927658-C7A6-E603-4933-474CF05A38AF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3741848-FD73-568C-E36C-4E319C433936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5AC8835C-B978-F8EF-5EA5-3E6DD8E118CE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1AB801C3-254D-8BCF-2816-7BC44665DC36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29D6216B-8266-EAEB-67C4-63F7FAD783A5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DA77DF0A-4D43-3FDE-CACD-83CE403EE8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F275A67-E251-5455-B3A8-BACDA104B015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430ED8-0FEA-9CE9-A4B5-40F9395B9C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25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9385E5-2BC0-0604-CDB6-BDE224CF9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234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7454D4-FCD7-5DE5-6B62-09FE80AD9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8" y="1371600"/>
            <a:ext cx="4583761" cy="27736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C603E4-7669-95A9-16D5-3226FFA670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1266826"/>
            <a:ext cx="5797173" cy="2956521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CBBC3E5-2F61-6DD2-3C72-4907043DB394}"/>
              </a:ext>
            </a:extLst>
          </p:cNvPr>
          <p:cNvSpPr/>
          <p:nvPr/>
        </p:nvSpPr>
        <p:spPr>
          <a:xfrm>
            <a:off x="644070" y="1179698"/>
            <a:ext cx="4918530" cy="31637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D6E8DDC-DC96-14A9-238A-B2FA81E28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2520" y="5234305"/>
            <a:ext cx="8306959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74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506C-6B0D-438F-4EDA-B71A69DD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3FBC7BD-89AA-5526-724A-5875D5A89DCE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4C2C1893-0247-E5E7-4383-14CDD13DD48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D081ED-E28C-492D-1D48-1B7F2EE62B57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4993CDC-E108-DAF9-EE62-69F244957964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993B2B99-429B-82B3-81B1-081E16DA03A7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685F994B-5B40-DC26-95E5-514B3EF0DFC5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5ACB4ED8-2857-9C06-4BB7-3B1226D3F5BA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2877AD21-B71D-3538-168F-0BF225AD91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4177F-C58B-B79F-AC34-A72A4E38268E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484909-ADF8-2C91-F76C-D17DAFC663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26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013EEA9B-E0FF-D040-424B-FBB3439CF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234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6236ED-AB4B-A704-AE29-3ED13792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7" y="1443037"/>
            <a:ext cx="5911873" cy="4038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737B045-6A26-AEBD-7B13-12B047FBF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527" y="1447800"/>
            <a:ext cx="6022473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93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5630-47C2-E6BA-7954-DAEA1609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B7D2AC7-48B3-757D-B915-B83F65A254B4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19A983A9-148A-F332-5E09-321C5F0D4A41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2D0A283-F03D-EB79-375F-5FDADDE53D09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069081B-4191-BB1E-1BCB-067127119B0B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9DE90503-7E49-C6EB-DA98-3AE286FC2EF2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4209F62D-248D-1107-9DBC-2DF1F9E3BA56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5D11C5F3-46E3-79DC-219C-048D9AC90B3A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61179D43-24ED-B911-7E99-33275A1E74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B7420A2-B3B4-51B6-4624-DF95175EBF19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163D84-08E7-4445-21DB-A181C6A723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27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8903B977-0657-7D94-FDD2-B6E55580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2346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1C0A06-4D7A-4AD6-40D9-7E4B8781F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541" y="1600200"/>
            <a:ext cx="6142918" cy="41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4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37542-3212-AF0D-5E76-B6A96EF7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64BF35CF-C6A4-6DB8-408B-4EA29C83AD97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995D435C-9AD0-C4ED-B307-DEC0401C40A3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DA4EA38-FAD3-526B-F057-1E5973123E28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代码实现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B57206F-E13C-665F-BC9E-CC926AB7F716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39E8AECF-32EE-86C1-B8B6-C0DB798D4859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AEAB708E-1F66-04C9-47A9-932065ECCF65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FF7FAA2A-CE9D-93D3-A19C-B51E19E3DD59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759F5B83-81F4-FDE5-BD81-092AF0DE86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771E7C6A-4C06-1D1D-66A5-EF37A20FFFFC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FBA17E-D4DA-3F2B-7B80-5C98030545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28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3A0345-3CB6-3718-6C79-D2A0FD6DC003}"/>
              </a:ext>
            </a:extLst>
          </p:cNvPr>
          <p:cNvSpPr txBox="1"/>
          <p:nvPr/>
        </p:nvSpPr>
        <p:spPr>
          <a:xfrm>
            <a:off x="914400" y="838683"/>
            <a:ext cx="6231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优缺点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0E397F-75DD-0DF6-4AB1-69711CEC3FEE}"/>
              </a:ext>
            </a:extLst>
          </p:cNvPr>
          <p:cNvSpPr txBox="1"/>
          <p:nvPr/>
        </p:nvSpPr>
        <p:spPr>
          <a:xfrm>
            <a:off x="719735" y="2971800"/>
            <a:ext cx="4814832" cy="178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泛化能力强：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对噪声不敏感，在小样本、高维数据场景中表现优异；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鲁棒性较好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：通过最大化分类间隔，能有效降低过拟合风险，对数据分布的轻微波动容忍度更高；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适用场景广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：借助核函数可处理非线性问题。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1D95FF-7DC4-9011-3E9A-A0BA1D0FF331}"/>
              </a:ext>
            </a:extLst>
          </p:cNvPr>
          <p:cNvSpPr txBox="1"/>
          <p:nvPr/>
        </p:nvSpPr>
        <p:spPr>
          <a:xfrm>
            <a:off x="6873848" y="3048744"/>
            <a:ext cx="4485256" cy="1633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计算成本高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：训练过程求解耗时，当数据量超过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10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万级时，内存消耗和训练时间会显著增加；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核函数选择依赖经验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：核函数的类型和参数对模型效果影响极大，缺乏统一的最优选择标准，需反复调试。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8BAB12-2117-E89C-D832-445BFD408792}"/>
              </a:ext>
            </a:extLst>
          </p:cNvPr>
          <p:cNvCxnSpPr/>
          <p:nvPr/>
        </p:nvCxnSpPr>
        <p:spPr>
          <a:xfrm>
            <a:off x="457200" y="2514600"/>
            <a:ext cx="515356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2D201F4-012B-4F17-8D74-D61161246E68}"/>
              </a:ext>
            </a:extLst>
          </p:cNvPr>
          <p:cNvSpPr/>
          <p:nvPr/>
        </p:nvSpPr>
        <p:spPr>
          <a:xfrm>
            <a:off x="457200" y="1905000"/>
            <a:ext cx="5153567" cy="3505196"/>
          </a:xfrm>
          <a:prstGeom prst="roundRect">
            <a:avLst/>
          </a:prstGeom>
          <a:noFill/>
          <a:ln w="19050">
            <a:solidFill>
              <a:srgbClr val="141C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D6A4774-FB57-F579-62D6-5455931060BF}"/>
              </a:ext>
            </a:extLst>
          </p:cNvPr>
          <p:cNvSpPr txBox="1"/>
          <p:nvPr/>
        </p:nvSpPr>
        <p:spPr>
          <a:xfrm>
            <a:off x="2486567" y="2005068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优点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7C68AE5-7E89-01C2-8AF6-4A18BC135A30}"/>
              </a:ext>
            </a:extLst>
          </p:cNvPr>
          <p:cNvCxnSpPr/>
          <p:nvPr/>
        </p:nvCxnSpPr>
        <p:spPr>
          <a:xfrm>
            <a:off x="6525167" y="2514600"/>
            <a:ext cx="515356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770F5DE-FDEB-EF47-B3EC-EC9B9C2D9C59}"/>
              </a:ext>
            </a:extLst>
          </p:cNvPr>
          <p:cNvSpPr/>
          <p:nvPr/>
        </p:nvSpPr>
        <p:spPr>
          <a:xfrm>
            <a:off x="6525167" y="1905000"/>
            <a:ext cx="5153567" cy="3505196"/>
          </a:xfrm>
          <a:prstGeom prst="roundRect">
            <a:avLst/>
          </a:prstGeom>
          <a:noFill/>
          <a:ln w="19050">
            <a:solidFill>
              <a:srgbClr val="141C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7672D3-4CDD-7D8A-0334-8B8027FB2214}"/>
              </a:ext>
            </a:extLst>
          </p:cNvPr>
          <p:cNvSpPr txBox="1"/>
          <p:nvPr/>
        </p:nvSpPr>
        <p:spPr>
          <a:xfrm>
            <a:off x="8554534" y="2005068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缺点</a:t>
            </a:r>
          </a:p>
        </p:txBody>
      </p:sp>
    </p:spTree>
    <p:extLst>
      <p:ext uri="{BB962C8B-B14F-4D97-AF65-F5344CB8AC3E}">
        <p14:creationId xmlns:p14="http://schemas.microsoft.com/office/powerpoint/2010/main" val="4243714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28D08-6D63-93D9-9C81-D39F7702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48F02107-C044-0CEC-57C4-0DAF34E68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54BDE03-741D-234B-6AB2-F04F0F58FA22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93CFF3E-2862-4E5C-4774-74580DD53F4F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016CE3C-2D41-91DE-3A42-703D423A36F5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BF62EEE-C7E5-4B2C-BA77-F9450A639915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4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C4EF8DE2-BA84-9172-8E18-F0F17DFF04E4}"/>
              </a:ext>
            </a:extLst>
          </p:cNvPr>
          <p:cNvSpPr txBox="1"/>
          <p:nvPr/>
        </p:nvSpPr>
        <p:spPr>
          <a:xfrm>
            <a:off x="2950335" y="3042076"/>
            <a:ext cx="2749463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原理</a:t>
            </a:r>
          </a:p>
        </p:txBody>
      </p:sp>
      <p:pic>
        <p:nvPicPr>
          <p:cNvPr id="12" name="图片 11" descr="图片包含 游戏机, 画, 食物, 标志&#10;&#10;描述已自动生成">
            <a:extLst>
              <a:ext uri="{FF2B5EF4-FFF2-40B4-BE49-F238E27FC236}">
                <a16:creationId xmlns:a16="http://schemas.microsoft.com/office/drawing/2014/main" id="{F927F2FF-BE33-FCC4-6057-1B98E84AA7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8CE831-7B84-B66F-1A97-3C562505E5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29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8134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DC93-0C89-57D1-BDF8-C8D8F3E1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3C8EE27-0715-D5D1-14C7-6F140E4C6CC1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55AAE9C9-8874-78AB-CA83-AE1821F97C62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70EDD71-4B9D-7866-06AE-5C6B0A411A46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5ADDBF2-96B1-BC7B-C05E-6D4838B53AAC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B463368E-B56E-E152-6F63-5D5A492E8A6B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CC241136-9261-0D27-087A-44B3796D44F8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4187EF24-83C9-8495-94DD-CFEAE96B9FD4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2694F555-B090-2ED7-F69A-736F5F2430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FA6074B8-FED7-B75F-7888-2C4E69B916A7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3D51650-42EB-C8AC-3D1D-8ECB2C4653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30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327806-A663-F42C-2020-97AAF5A24320}"/>
              </a:ext>
            </a:extLst>
          </p:cNvPr>
          <p:cNvSpPr txBox="1"/>
          <p:nvPr/>
        </p:nvSpPr>
        <p:spPr>
          <a:xfrm>
            <a:off x="2819400" y="2133600"/>
            <a:ext cx="72866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此部分结合公式讲解</a:t>
            </a:r>
            <a:r>
              <a:rPr lang="en-US" altLang="zh-CN" sz="2000" dirty="0"/>
              <a:t>SVM</a:t>
            </a:r>
            <a:r>
              <a:rPr lang="zh-CN" altLang="en-US" sz="2000" dirty="0"/>
              <a:t>原理，重点回答以下两个问题：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SVM</a:t>
            </a:r>
            <a:r>
              <a:rPr lang="zh-CN" altLang="en-US" sz="2400" dirty="0"/>
              <a:t>为什么能处理小样本数据集？</a:t>
            </a: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核函数为什么能升维，怎么升维的？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18404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77D7-5147-A6B4-3CD0-53653B79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9998B65-FC77-0EDA-D484-B9A74FA7B7C1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43253A84-F305-DC5F-C02C-912E15D6AA4F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2A428F3-F8C1-F511-7B99-16C99BBB10EC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47AC035-B3F0-41DD-B64A-B0E06EF1C7B4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2E47E4A5-D845-F722-C28C-6829627407E8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19899D27-4AD8-E878-1A75-E2A943912E4D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ED7A1DD7-2FCD-561C-9CAA-0C33BDD7563E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3EA63044-BD7F-D18A-04A8-5AA9C40BA8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8926317B-F0FF-B4E0-DECE-3DDA10A8BBAD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0B8432-E06B-AC12-CB53-09FACF6CFA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31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2F5EFB9-D309-1903-8D4F-71A966367E5E}"/>
                  </a:ext>
                </a:extLst>
              </p:cNvPr>
              <p:cNvSpPr txBox="1"/>
              <p:nvPr/>
            </p:nvSpPr>
            <p:spPr>
              <a:xfrm>
                <a:off x="381000" y="1858858"/>
                <a:ext cx="6553200" cy="4023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假设每个样本有两个特征：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我们想找一条直线将两类样本分开：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l-PL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l-PL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l-PL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l-PL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l-PL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这条直线就是分类超平面（在二维中是直线）。</a:t>
                </a:r>
              </a:p>
              <a:p>
                <a:r>
                  <a:rPr lang="zh-CN" altLang="en-US" dirty="0"/>
                  <a:t>对于正类样本（标签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），我们希望它落在直线“上方”；</a:t>
                </a:r>
              </a:p>
              <a:p>
                <a:r>
                  <a:rPr lang="zh-CN" altLang="en-US" dirty="0"/>
                  <a:t>对于负类样本（标签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），希望落在“下方”。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那么</a:t>
                </a:r>
                <a:r>
                  <a:rPr lang="en-US" altLang="zh-CN" dirty="0"/>
                  <a:t>SVM</a:t>
                </a:r>
                <a:r>
                  <a:rPr lang="zh-CN" altLang="en-US" dirty="0"/>
                  <a:t>的模型就可以写为：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l-PL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dirty="0"/>
                  <a:t>为符号函数，定义为：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−1,  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2F5EFB9-D309-1903-8D4F-71A966367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58858"/>
                <a:ext cx="6553200" cy="4023602"/>
              </a:xfrm>
              <a:prstGeom prst="rect">
                <a:avLst/>
              </a:prstGeom>
              <a:blipFill>
                <a:blip r:embed="rId4"/>
                <a:stretch>
                  <a:fillRect l="-837" t="-909" r="-4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107A4012-FE8E-6055-4CA1-42F0CCCFF1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176064"/>
            <a:ext cx="4229100" cy="28194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1EE41DA-9B89-AC76-A5DC-5A2293DE585E}"/>
              </a:ext>
            </a:extLst>
          </p:cNvPr>
          <p:cNvSpPr txBox="1"/>
          <p:nvPr/>
        </p:nvSpPr>
        <p:spPr>
          <a:xfrm>
            <a:off x="990600" y="744707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决策函数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9830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E8913-30D0-4627-F368-59080640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DDFF46F-BDCF-E5EF-D082-F52AB6086FCF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4AD70160-2FBE-B834-A898-E0AF0C9B2B7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D412E5F-9EE7-1D6E-AFFF-2FA1FD076082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3A631D3-1E0B-951F-28C7-D50C87D17258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AFE97D68-9ECF-4C53-4273-A7EEB943B633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F5BBE48C-D5AE-FB03-42D3-977F6E44F998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753606D9-81B9-1C5D-E0FC-55BA50730AA1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5746E0D2-4A4C-2725-EE18-7E35785E18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409D5E87-39A5-DCBA-00F9-02F90433F953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C7944F-D2D1-2A0A-A368-438CD6B7C8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32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B17A871-A9BA-85D6-63C0-BC8E27AF1F1C}"/>
              </a:ext>
            </a:extLst>
          </p:cNvPr>
          <p:cNvSpPr txBox="1"/>
          <p:nvPr/>
        </p:nvSpPr>
        <p:spPr>
          <a:xfrm>
            <a:off x="990600" y="744707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限制条件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48EF56F-A0B1-4626-E630-52140A0C7EE6}"/>
                  </a:ext>
                </a:extLst>
              </p:cNvPr>
              <p:cNvSpPr txBox="1"/>
              <p:nvPr/>
            </p:nvSpPr>
            <p:spPr>
              <a:xfrm>
                <a:off x="2862263" y="2590800"/>
                <a:ext cx="6467474" cy="1405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为保证所有训练样本分类正确，需满足：</a:t>
                </a: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1800" b="0" i="0" smtClean="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 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,…,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zh-CN" altLang="zh-CN" sz="18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∈{+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是真实标签。</a:t>
                </a:r>
                <a:endParaRPr lang="en-US" altLang="zh-CN" sz="18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48EF56F-A0B1-4626-E630-52140A0C7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263" y="2590800"/>
                <a:ext cx="6467474" cy="1405321"/>
              </a:xfrm>
              <a:prstGeom prst="rect">
                <a:avLst/>
              </a:prstGeom>
              <a:blipFill>
                <a:blip r:embed="rId4"/>
                <a:stretch>
                  <a:fillRect l="-849" b="-5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51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A166-2F4B-3FD0-F322-AD60A63D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D2BF5F41-2140-6569-D99D-6E3948676242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8239AD91-63FE-F0E2-E9B7-516712B26054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1858809-AB5D-20F9-D37B-DF21F7F7097A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344C0E-D5A8-8E77-4D3F-327C9F254CC3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9F75B615-1F69-4925-26E8-465D2A73748A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5AFD3C30-D4B3-E663-1E11-E187D831B0D8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BCD57303-ED2D-B5C6-24FC-7B596FE9178B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6593426-9DBC-EEFB-8365-C3D71A9567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269E6D6-5765-2B71-7CF4-E7DDA83126F1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E3CC79-0934-4057-B058-A609F6EE5C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33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B9F161-5525-2943-01AF-87B26B86B8E2}"/>
              </a:ext>
            </a:extLst>
          </p:cNvPr>
          <p:cNvSpPr txBox="1"/>
          <p:nvPr/>
        </p:nvSpPr>
        <p:spPr>
          <a:xfrm>
            <a:off x="990600" y="744707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间隔表达式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A3CDD94-25D2-237D-0D34-F51B724F22CE}"/>
                  </a:ext>
                </a:extLst>
              </p:cNvPr>
              <p:cNvSpPr txBox="1"/>
              <p:nvPr/>
            </p:nvSpPr>
            <p:spPr>
              <a:xfrm>
                <a:off x="387368" y="1618208"/>
                <a:ext cx="6467340" cy="1011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点 </a:t>
                </a:r>
                <a14:m>
                  <m:oMath xmlns:m="http://schemas.openxmlformats.org/officeDocument/2006/math"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到直线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的垂直距离为：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zh-CN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距离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zh-CN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A3CDD94-25D2-237D-0D34-F51B724F2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68" y="1618208"/>
                <a:ext cx="6467340" cy="1011624"/>
              </a:xfrm>
              <a:prstGeom prst="rect">
                <a:avLst/>
              </a:prstGeom>
              <a:blipFill>
                <a:blip r:embed="rId4"/>
                <a:stretch>
                  <a:fillRect l="-849" t="-3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47D769-FFCE-72FA-5940-39002001D86A}"/>
                  </a:ext>
                </a:extLst>
              </p:cNvPr>
              <p:cNvSpPr txBox="1"/>
              <p:nvPr/>
            </p:nvSpPr>
            <p:spPr>
              <a:xfrm>
                <a:off x="392130" y="3200400"/>
                <a:ext cx="7559728" cy="26321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间隔为</a:t>
                </a:r>
                <a:r>
                  <a:rPr lang="zh-CN" altLang="en-US" dirty="0">
                    <a:latin typeface="+mn-ea"/>
                  </a:rPr>
                  <a:t>两倍各类训练样本点到分类超平面（决策边界）之间的最小垂直距离，因此：</a:t>
                </a:r>
                <a:endParaRPr lang="zh-CN" altLang="en-US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zh-CN" sz="1800" smtClean="0">
                          <a:effectLst/>
                          <a:latin typeface="+mn-ea"/>
                          <a:cs typeface="Times New Roman" panose="02020603050405020304" pitchFamily="18" charset="0"/>
                        </a:rPr>
                        <m:t>间隔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=+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lim>
                      </m:limLow>
                      <m:d>
                        <m:d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sz="18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lim>
                      </m:limLow>
                      <m:d>
                        <m:d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sz="18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R="63500">
                  <a:buNone/>
                </a:pPr>
                <a:endParaRPr lang="en-US" altLang="zh-CN" sz="18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R="63500">
                  <a:buNone/>
                </a:pP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等价地，可统一写为：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zh-CN" sz="1800">
                          <a:effectLst/>
                          <a:latin typeface="+mn-ea"/>
                          <a:cs typeface="Times New Roman" panose="02020603050405020304" pitchFamily="18" charset="0"/>
                        </a:rPr>
                        <m:t>间隔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lim>
                      </m:limLow>
                      <m:d>
                        <m:d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sz="180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47D769-FFCE-72FA-5940-39002001D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30" y="3200400"/>
                <a:ext cx="7559728" cy="2632131"/>
              </a:xfrm>
              <a:prstGeom prst="rect">
                <a:avLst/>
              </a:prstGeom>
              <a:blipFill>
                <a:blip r:embed="rId5"/>
                <a:stretch>
                  <a:fillRect l="-645" t="-1157" r="-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99D105CA-EEB1-082B-2D9A-039A79E1D2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213" y="2238154"/>
            <a:ext cx="3965557" cy="2643704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6368DC5-6ED5-262D-061D-2F581E797ED0}"/>
              </a:ext>
            </a:extLst>
          </p:cNvPr>
          <p:cNvCxnSpPr>
            <a:cxnSpLocks/>
          </p:cNvCxnSpPr>
          <p:nvPr/>
        </p:nvCxnSpPr>
        <p:spPr>
          <a:xfrm>
            <a:off x="9334500" y="3640411"/>
            <a:ext cx="228600" cy="3048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695F374-E217-0718-E0B3-2AD4EBC5F78D}"/>
              </a:ext>
            </a:extLst>
          </p:cNvPr>
          <p:cNvCxnSpPr>
            <a:cxnSpLocks/>
          </p:cNvCxnSpPr>
          <p:nvPr/>
        </p:nvCxnSpPr>
        <p:spPr>
          <a:xfrm>
            <a:off x="9563100" y="2550398"/>
            <a:ext cx="685800" cy="93761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9421504-2210-F925-371E-17CFFBDB57FB}"/>
              </a:ext>
            </a:extLst>
          </p:cNvPr>
          <p:cNvCxnSpPr>
            <a:cxnSpLocks/>
          </p:cNvCxnSpPr>
          <p:nvPr/>
        </p:nvCxnSpPr>
        <p:spPr>
          <a:xfrm>
            <a:off x="9906000" y="3733800"/>
            <a:ext cx="266700" cy="36381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1863F36-B793-28CB-C34B-76CAF562DB2D}"/>
              </a:ext>
            </a:extLst>
          </p:cNvPr>
          <p:cNvCxnSpPr>
            <a:cxnSpLocks/>
          </p:cNvCxnSpPr>
          <p:nvPr/>
        </p:nvCxnSpPr>
        <p:spPr>
          <a:xfrm>
            <a:off x="10672901" y="3210183"/>
            <a:ext cx="266700" cy="36381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146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CA5A-0638-C476-CE48-1C11A426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E8FD43BF-DE03-374E-EFEE-A5F725CE6454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4577FF66-B5A6-E1D8-56A6-519D6D02D3BF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DBB6A26-6A81-3471-2775-8EEF65D44DDB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0A325B0-7C45-ED02-658C-6CD47AE2213B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57BDDFC4-7229-D476-E2FA-371C30A7E209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278C3C85-87AC-BFD3-5BB6-EB53CEAD90AA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A1CCE12B-5B0C-9165-E9C7-B36D204DE158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E3776523-E5D0-A8E5-076B-BD1EBD65F3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B7309399-5940-7C41-11AC-B525C8E98058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F11F5B-75F9-4D78-1702-F8D56EA28B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34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8068A7-E61A-0257-E599-EF5ECAA58256}"/>
              </a:ext>
            </a:extLst>
          </p:cNvPr>
          <p:cNvSpPr txBox="1"/>
          <p:nvPr/>
        </p:nvSpPr>
        <p:spPr>
          <a:xfrm>
            <a:off x="990600" y="744707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最大化间隔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6798306-16ED-AD2F-0CEE-0B2DBEEC501A}"/>
                  </a:ext>
                </a:extLst>
              </p:cNvPr>
              <p:cNvSpPr txBox="1"/>
              <p:nvPr/>
            </p:nvSpPr>
            <p:spPr>
              <a:xfrm>
                <a:off x="1600200" y="1320217"/>
                <a:ext cx="8991600" cy="4217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63500">
                  <a:buNone/>
                </a:pPr>
                <a:r>
                  <a:rPr lang="zh-CN" altLang="zh-CN" dirty="0">
                    <a:latin typeface="+mn-ea"/>
                    <a:cs typeface="Times New Roman" panose="02020603050405020304" pitchFamily="18" charset="0"/>
                  </a:rPr>
                  <a:t>因此，</a:t>
                </a:r>
                <a:r>
                  <a:rPr lang="en-US" altLang="zh-CN" dirty="0">
                    <a:latin typeface="+mn-ea"/>
                    <a:cs typeface="Times New Roman" panose="02020603050405020304" pitchFamily="18" charset="0"/>
                  </a:rPr>
                  <a:t>SVM </a:t>
                </a:r>
                <a:r>
                  <a:rPr lang="zh-CN" altLang="zh-CN" dirty="0">
                    <a:latin typeface="+mn-ea"/>
                    <a:cs typeface="Times New Roman" panose="02020603050405020304" pitchFamily="18" charset="0"/>
                  </a:rPr>
                  <a:t>的目标是最大化间隔：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2⋅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lim>
                      </m:limLow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i="1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CN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900"/>
                  </a:spcAft>
                  <a:buNone/>
                </a:pPr>
                <a:r>
                  <a:rPr lang="zh-CN" alt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常数与最大化无关，提出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，得：</a:t>
                </a:r>
                <a:endPara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lim>
                      </m:limLow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lim>
                      </m:limLow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CN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zh-CN" alt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限制条件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  </m:t>
                    </m:r>
                    <m:r>
                      <a:rPr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等价于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，因此：</a:t>
                </a:r>
                <a:endParaRPr lang="en-US" altLang="zh-CN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lim>
                      </m:limLow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zh-CN" alt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常数与最大化无关，因此最终最大化间隔可以转换为如下求最值问题：</a:t>
                </a:r>
                <a:endParaRPr lang="en-US" altLang="zh-CN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6798306-16ED-AD2F-0CEE-0B2DBEEC5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1320217"/>
                <a:ext cx="8991600" cy="4217565"/>
              </a:xfrm>
              <a:prstGeom prst="rect">
                <a:avLst/>
              </a:prstGeom>
              <a:blipFill>
                <a:blip r:embed="rId4"/>
                <a:stretch>
                  <a:fillRect l="-610" t="-8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F4E6C97-437F-7C81-289A-AC1618553181}"/>
                  </a:ext>
                </a:extLst>
              </p:cNvPr>
              <p:cNvSpPr txBox="1"/>
              <p:nvPr/>
            </p:nvSpPr>
            <p:spPr>
              <a:xfrm>
                <a:off x="1371600" y="5446919"/>
                <a:ext cx="3886200" cy="1006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  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, ∀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</m:oMath>
                  </m:oMathPara>
                </a14:m>
                <a:endParaRPr lang="zh-CN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F4E6C97-437F-7C81-289A-AC1618553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446919"/>
                <a:ext cx="3886200" cy="1006045"/>
              </a:xfrm>
              <a:prstGeom prst="rect">
                <a:avLst/>
              </a:prstGeom>
              <a:blipFill>
                <a:blip r:embed="rId5"/>
                <a:stretch>
                  <a:fillRect b="-4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762607A-848E-9E98-119A-18042D0F4F31}"/>
                  </a:ext>
                </a:extLst>
              </p:cNvPr>
              <p:cNvSpPr txBox="1"/>
              <p:nvPr/>
            </p:nvSpPr>
            <p:spPr>
              <a:xfrm>
                <a:off x="6477000" y="5446919"/>
                <a:ext cx="3886200" cy="907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  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)≥1, ∀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</m:oMath>
                  </m:oMathPara>
                </a14:m>
                <a:endParaRPr lang="zh-CN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762607A-848E-9E98-119A-18042D0F4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5446919"/>
                <a:ext cx="3886200" cy="907621"/>
              </a:xfrm>
              <a:prstGeom prst="rect">
                <a:avLst/>
              </a:prstGeom>
              <a:blipFill>
                <a:blip r:embed="rId6"/>
                <a:stretch>
                  <a:fillRect b="-6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501C6BE-1DE1-D91A-D7B3-D4214599685A}"/>
                  </a:ext>
                </a:extLst>
              </p:cNvPr>
              <p:cNvSpPr txBox="1"/>
              <p:nvPr/>
            </p:nvSpPr>
            <p:spPr>
              <a:xfrm>
                <a:off x="5029200" y="5742999"/>
                <a:ext cx="1578054" cy="37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等价于</m:t>
                      </m:r>
                    </m:oMath>
                  </m:oMathPara>
                </a14:m>
                <a:endParaRPr lang="zh-CN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501C6BE-1DE1-D91A-D7B3-D42145996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742999"/>
                <a:ext cx="1578054" cy="370294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BF904F3-3629-26D2-4B37-EEFE0A5A33CF}"/>
              </a:ext>
            </a:extLst>
          </p:cNvPr>
          <p:cNvSpPr/>
          <p:nvPr/>
        </p:nvSpPr>
        <p:spPr>
          <a:xfrm>
            <a:off x="6400800" y="5334000"/>
            <a:ext cx="4332856" cy="12192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277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2763-E230-249F-07E0-C7C0A54A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2D7E219-3222-EB2F-DBAE-CE88015A55EB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C71D607A-0DAB-7583-D830-57EEBBD62BD3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83B6FEE-BD0D-BA1A-94B3-1DFBE8AEF581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EA84590-D924-0687-EE80-569CB3B25083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E59D40B3-CED4-332B-F34D-2675C78051B5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E2650A2C-0638-51A0-A130-9E8AF25842C4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B094A949-4E6A-3871-A372-6CB131C1AA2B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0BC14A8F-680C-7432-EC7F-28AD02AEA7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9231105D-CB25-F96E-96FA-3FCE3BB195FE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FD90F3-4FB0-0D75-E8E7-FE0F1713AF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35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D7F47D-F73F-D0B1-4223-9B019A1E6FB4}"/>
              </a:ext>
            </a:extLst>
          </p:cNvPr>
          <p:cNvSpPr txBox="1"/>
          <p:nvPr/>
        </p:nvSpPr>
        <p:spPr>
          <a:xfrm>
            <a:off x="990600" y="744707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软间隔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D4EC3B4-3762-C854-AB55-E1EEB9348EAC}"/>
                  </a:ext>
                </a:extLst>
              </p:cNvPr>
              <p:cNvSpPr txBox="1"/>
              <p:nvPr/>
            </p:nvSpPr>
            <p:spPr>
              <a:xfrm>
                <a:off x="1600200" y="1524000"/>
                <a:ext cx="8991600" cy="4445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dirty="0"/>
                  <a:t>现实中，数据可能有噪声或重叠，无法满足所有约束。于是我们对每个样本引入一个松弛变量</a:t>
                </a:r>
                <a:r>
                  <a:rPr lang="zh-CN" altLang="zh-C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dirty="0"/>
                  <a:t>，允许它“违规”：</a:t>
                </a:r>
                <a:endParaRPr lang="en-US" altLang="zh-CN" dirty="0"/>
              </a:p>
              <a:p>
                <a:endParaRPr lang="zh-CN" altLang="zh-CN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zh-CN" altLang="zh-CN" dirty="0"/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dirty="0"/>
                  <a:t>：样本在正确一侧，且距离</a:t>
                </a:r>
                <a:r>
                  <a:rPr lang="en-US" altLang="zh-CN" dirty="0"/>
                  <a:t> ≥ 1</a:t>
                </a:r>
                <a:r>
                  <a:rPr lang="zh-CN" altLang="zh-CN" dirty="0"/>
                  <a:t>（完全满足）；</a:t>
                </a:r>
                <a:endParaRPr lang="en-US" altLang="zh-CN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zh-CN" altLang="zh-CN" dirty="0"/>
                  <a:t>如果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/>
                  <a:t>：样本在正确一侧，但距离</a:t>
                </a:r>
                <a:r>
                  <a:rPr lang="en-US" altLang="zh-CN" dirty="0"/>
                  <a:t> &lt; 1</a:t>
                </a:r>
                <a:r>
                  <a:rPr lang="zh-CN" altLang="zh-CN" dirty="0"/>
                  <a:t>（在间隔内）；</a:t>
                </a:r>
                <a:endParaRPr lang="en-US" altLang="zh-CN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zh-CN" altLang="zh-CN" dirty="0"/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/>
                  <a:t>：样本被错误分类。</a:t>
                </a:r>
                <a:endParaRPr lang="en-US" altLang="zh-CN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zh-CN" altLang="zh-CN" dirty="0"/>
              </a:p>
              <a:p>
                <a:r>
                  <a:rPr lang="zh-CN" altLang="zh-CN" dirty="0"/>
                  <a:t>新的约束变为：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 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 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同时，我们在目标函数中加入对违规的惩罚：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其中：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 是</a:t>
                </a:r>
                <a:r>
                  <a:rPr lang="zh-CN" altLang="en-US" dirty="0"/>
                  <a:t>超参数，代表对错误的容忍程度</a:t>
                </a:r>
                <a:r>
                  <a:rPr lang="en-US" altLang="zh-CN" dirty="0"/>
                  <a:t>： </a:t>
                </a:r>
                <a:endParaRPr lang="zh-CN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很大</a:t>
                </a:r>
                <a:r>
                  <a:rPr lang="en-US" altLang="zh-CN" dirty="0"/>
                  <a:t> → </a:t>
                </a:r>
                <a:r>
                  <a:rPr lang="zh-CN" altLang="zh-CN" dirty="0"/>
                  <a:t>几乎不允许犯错（接近硬间隔）；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很小</a:t>
                </a:r>
                <a:r>
                  <a:rPr lang="en-US" altLang="zh-CN" dirty="0"/>
                  <a:t> → </a:t>
                </a:r>
                <a:r>
                  <a:rPr lang="zh-CN" altLang="zh-CN" dirty="0"/>
                  <a:t>允许较多错误，换取更简单的边界。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D4EC3B4-3762-C854-AB55-E1EEB9348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1524000"/>
                <a:ext cx="8991600" cy="4445384"/>
              </a:xfrm>
              <a:prstGeom prst="rect">
                <a:avLst/>
              </a:prstGeom>
              <a:blipFill>
                <a:blip r:embed="rId4"/>
                <a:stretch>
                  <a:fillRect l="-610" t="-686" b="-1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4710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44C3-AFA9-5FDC-4C33-329BF982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DD922B9-E0B7-53D6-EBA7-22A10F766A6D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890357FA-2FB6-453A-C008-3E6CCBAAA53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04CBBEA-5F6A-A33F-B3AF-0B6B271C0E19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B1A9C68-ED14-4A4F-A1B2-A82B7F287608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FF83ABB6-6BBD-5C79-0CB9-BB0C99C2F7A6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4CCAD31C-DD82-3620-9375-74884115EF7B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2E87D62E-E979-E73C-3FAF-9E5AFFCB0CD5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2A0C43A9-19F6-485E-CA86-9A68A35DE0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49E3072A-AFF8-3575-5A1C-DE9266A924FC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C1F1A2-93FE-78D0-9579-5BF419E1BB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36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85256F-E3F2-CE57-A947-16FCF418F606}"/>
              </a:ext>
            </a:extLst>
          </p:cNvPr>
          <p:cNvSpPr txBox="1"/>
          <p:nvPr/>
        </p:nvSpPr>
        <p:spPr>
          <a:xfrm>
            <a:off x="990600" y="744707"/>
            <a:ext cx="41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求解结果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D963ECF-A5B3-2E72-90C2-2E8749B6F10E}"/>
                  </a:ext>
                </a:extLst>
              </p:cNvPr>
              <p:cNvSpPr txBox="1"/>
              <p:nvPr/>
            </p:nvSpPr>
            <p:spPr>
              <a:xfrm>
                <a:off x="1600200" y="2133600"/>
                <a:ext cx="8991600" cy="2787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该优化问题带有不等式约束，不易求解</a:t>
                </a:r>
                <a:r>
                  <a:rPr lang="zh-CN" altLang="zh-CN" dirty="0"/>
                  <a:t>，但通过数学技巧，我们可以得到最终的分类函数：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其中：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是每个样本对应的“重要性权重”</a:t>
                </a:r>
                <a:r>
                  <a:rPr lang="zh-CN" altLang="en-US" dirty="0"/>
                  <a:t>，求解参数由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转换为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，通过</a:t>
                </a:r>
                <a:r>
                  <a:rPr lang="en-US" altLang="zh-CN" dirty="0"/>
                  <a:t>SMO</a:t>
                </a:r>
                <a:r>
                  <a:rPr lang="zh-CN" altLang="en-US" dirty="0"/>
                  <a:t>算法求解</a:t>
                </a:r>
                <a:r>
                  <a:rPr lang="zh-CN" altLang="zh-CN" dirty="0"/>
                  <a:t>；</a:t>
                </a:r>
                <a:endParaRPr lang="en-US" altLang="zh-CN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 err="1"/>
                  <a:t>是新样本</a:t>
                </a:r>
                <a:r>
                  <a:rPr lang="zh-CN" altLang="en-US" dirty="0"/>
                  <a:t>；</a:t>
                </a:r>
                <a:endParaRPr lang="en-US" altLang="zh-CN" i="1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是两个二维向量的点乘</a:t>
                </a:r>
                <a:r>
                  <a:rPr lang="zh-CN" altLang="en-US" dirty="0"/>
                  <a:t>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D963ECF-A5B3-2E72-90C2-2E8749B6F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133600"/>
                <a:ext cx="8991600" cy="2787558"/>
              </a:xfrm>
              <a:prstGeom prst="rect">
                <a:avLst/>
              </a:prstGeom>
              <a:blipFill>
                <a:blip r:embed="rId4"/>
                <a:stretch>
                  <a:fillRect l="-610" t="-1094" r="-271" b="-2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286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B16A-F87B-410E-C3B2-9557727C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ABBE59D-A2CE-9D24-0791-9740B4DA3D3F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88C9FB7F-9827-A51C-9AF5-B76D68D6C81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5708161-4E1E-AC24-41F1-4F09D1C46756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5DAEBFB-5AB8-05C3-C724-05C371A1BD8C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F467995-A1B9-FAD1-657E-181AA68B0543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52879955-34B4-68EE-FD72-F79688F66183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DEA64449-06F5-E992-905A-65E3623C1C24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4A32B13E-2B9E-3554-AC5F-F39883D5D0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856599A3-500F-64AB-1086-3FC84F1BBFD7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44ECD7-57D9-1418-A27D-775AE0F459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37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A926D7-AB01-B2AB-AB6D-E40FE7A3F549}"/>
              </a:ext>
            </a:extLst>
          </p:cNvPr>
          <p:cNvSpPr txBox="1"/>
          <p:nvPr/>
        </p:nvSpPr>
        <p:spPr>
          <a:xfrm>
            <a:off x="914400" y="902642"/>
            <a:ext cx="487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为什么能处理小样本数据集？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46D775A-6556-646B-5394-BC1DBF170B7C}"/>
                  </a:ext>
                </a:extLst>
              </p:cNvPr>
              <p:cNvSpPr txBox="1"/>
              <p:nvPr/>
            </p:nvSpPr>
            <p:spPr>
              <a:xfrm>
                <a:off x="1159738" y="1447800"/>
                <a:ext cx="9896475" cy="2309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zh-CN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zh-CN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）模型只依赖“支持向量”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j-ea"/>
                    <a:ea typeface="+mj-ea"/>
                    <a:cs typeface="Times New Roman" panose="02020603050405020304" pitchFamily="18" charset="0"/>
                  </a:rPr>
                  <a:t>上节课直观理解了</a:t>
                </a:r>
                <a:r>
                  <a:rPr lang="zh-CN" altLang="zh-CN" dirty="0">
                    <a:latin typeface="+mj-ea"/>
                    <a:cs typeface="Times New Roman" panose="02020603050405020304" pitchFamily="18" charset="0"/>
                  </a:rPr>
                  <a:t>最终的直线完全由支持向量确定</a:t>
                </a:r>
                <a:r>
                  <a:rPr lang="zh-CN" altLang="en-US" dirty="0">
                    <a:latin typeface="+mj-ea"/>
                    <a:cs typeface="Times New Roman" panose="02020603050405020304" pitchFamily="18" charset="0"/>
                  </a:rPr>
                  <a:t>；</a:t>
                </a:r>
                <a:endParaRPr lang="en-US" altLang="zh-CN" dirty="0">
                  <a:latin typeface="+mj-ea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最终表达式中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，非支持向量的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18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zh-CN" altLang="zh-CN" sz="18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对小样本的意义： </a:t>
                </a:r>
              </a:p>
              <a:p>
                <a:pPr marL="285750" lvl="0" indent="-285750">
                  <a:buSzPts val="1400"/>
                  <a:buFont typeface="Wingdings" panose="05000000000000000000" pitchFamily="2" charset="2"/>
                  <a:buChar char="Ø"/>
                </a:pP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假设你只有</a:t>
                </a:r>
                <a:r>
                  <a:rPr lang="en-US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 30 </a:t>
                </a: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个样本，其中</a:t>
                </a:r>
                <a:r>
                  <a:rPr lang="en-US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 6 </a:t>
                </a: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个是支持向量；</a:t>
                </a:r>
                <a:endParaRPr lang="en-US" altLang="zh-CN" sz="18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285750" lvl="0" indent="-285750">
                  <a:buSzPts val="1400"/>
                  <a:buFont typeface="Wingdings" panose="05000000000000000000" pitchFamily="2" charset="2"/>
                  <a:buChar char="Ø"/>
                </a:pP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那么模型的有效复杂度</a:t>
                </a:r>
                <a:r>
                  <a:rPr lang="en-US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 ≈ 6</a:t>
                </a: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，而不是 </a:t>
                </a:r>
                <a:r>
                  <a:rPr lang="en-US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30</a:t>
                </a: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；</a:t>
                </a:r>
                <a:endParaRPr lang="en-US" altLang="zh-CN" sz="18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285750" lvl="0" indent="-285750">
                  <a:buSzPts val="1400"/>
                  <a:buFont typeface="Wingdings" panose="05000000000000000000" pitchFamily="2" charset="2"/>
                  <a:buChar char="Ø"/>
                </a:pP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避免了“用大量参数拟合少量数据”的过拟合陷阱。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46D775A-6556-646B-5394-BC1DBF170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738" y="1447800"/>
                <a:ext cx="9896475" cy="2309350"/>
              </a:xfrm>
              <a:prstGeom prst="rect">
                <a:avLst/>
              </a:prstGeom>
              <a:blipFill>
                <a:blip r:embed="rId4"/>
                <a:stretch>
                  <a:fillRect l="-493" t="-1587"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F5E157B-A985-2658-8BAF-089C269F56A9}"/>
                  </a:ext>
                </a:extLst>
              </p:cNvPr>
              <p:cNvSpPr txBox="1"/>
              <p:nvPr/>
            </p:nvSpPr>
            <p:spPr>
              <a:xfrm>
                <a:off x="1112113" y="4060421"/>
                <a:ext cx="9896475" cy="2153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zh-CN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zh-CN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自带 </a:t>
                </a:r>
                <a:r>
                  <a:rPr lang="en-US" altLang="zh-CN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L2 </a:t>
                </a:r>
                <a:r>
                  <a:rPr lang="zh-CN" altLang="en-US" sz="18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正则化</a:t>
                </a:r>
                <a:endParaRPr lang="zh-CN" altLang="zh-CN" sz="1800" dirty="0">
                  <a:solidFill>
                    <a:srgbClr val="FF0000"/>
                  </a:solidFill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r>
                  <a:rPr lang="en-US" altLang="zh-CN" dirty="0"/>
                  <a:t>     </a:t>
                </a:r>
                <a:r>
                  <a:rPr lang="zh-CN" altLang="zh-CN" dirty="0"/>
                  <a:t>目标函数中的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是典型的 </a:t>
                </a:r>
                <a:r>
                  <a:rPr lang="en-US" altLang="zh-CN" dirty="0"/>
                  <a:t>L2 </a:t>
                </a:r>
                <a:r>
                  <a:rPr lang="zh-CN" altLang="zh-CN" dirty="0"/>
                  <a:t>正则项。</a:t>
                </a:r>
              </a:p>
              <a:p>
                <a:endParaRPr lang="zh-CN" altLang="zh-CN" sz="1800" dirty="0">
                  <a:effectLst/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zh-CN" altLang="zh-CN" sz="18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对小样本的意义：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 err="1"/>
                  <a:t>它限制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 err="1"/>
                  <a:t>不能太大</a:t>
                </a:r>
                <a:r>
                  <a:rPr lang="en-US" altLang="zh-CN" dirty="0"/>
                  <a:t>；</a:t>
                </a:r>
                <a:endParaRPr lang="zh-CN" altLang="zh-CN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zh-CN" altLang="zh-CN" dirty="0"/>
                  <a:t>防止模型对个别样本过度敏感（比如为了拟合一个噪声点而剧烈扭曲边界）；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zh-CN" altLang="zh-CN" dirty="0"/>
                  <a:t>在小样本下，这种</a:t>
                </a:r>
                <a:r>
                  <a:rPr lang="zh-CN" altLang="en-US" dirty="0"/>
                  <a:t>正则化</a:t>
                </a:r>
                <a:r>
                  <a:rPr lang="zh-CN" altLang="zh-CN" dirty="0"/>
                  <a:t>极大提升泛化能力。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F5E157B-A985-2658-8BAF-089C269F5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113" y="4060421"/>
                <a:ext cx="9896475" cy="2153090"/>
              </a:xfrm>
              <a:prstGeom prst="rect">
                <a:avLst/>
              </a:prstGeom>
              <a:blipFill>
                <a:blip r:embed="rId5"/>
                <a:stretch>
                  <a:fillRect l="-493" t="-1416" b="-3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538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86CE-B241-139A-FB16-3C41B3F9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83C0AD0-95DB-1B12-F320-D6B8063AD6F0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86CA5EC0-D618-DCA2-667D-287444FE11C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3E0031B-9125-2140-394D-F6ED04183CDB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3895D8F-FCFF-B4CA-BD9F-186DB421927D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6E88A3DE-B445-D80F-B47A-2D8E2A0908A5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DAD4FFB9-CF02-A47E-DAB4-2B7CC20AA111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02305852-44BE-0D80-1DB2-3E71AE997ECA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796092B6-CA51-AB44-C51D-9F31C7CFA2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ED691BAC-B155-2230-4ACA-F93A0DB4773E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265F5D-F738-A03B-4F7A-7C378C7D8C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38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EC551C-0C49-B7D2-E201-FD99BCC7DBDF}"/>
              </a:ext>
            </a:extLst>
          </p:cNvPr>
          <p:cNvSpPr txBox="1"/>
          <p:nvPr/>
        </p:nvSpPr>
        <p:spPr>
          <a:xfrm>
            <a:off x="914400" y="812931"/>
            <a:ext cx="487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核函数升维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72B2ED4-DB9A-7A33-7251-D38D6EBB5802}"/>
                  </a:ext>
                </a:extLst>
              </p:cNvPr>
              <p:cNvSpPr txBox="1"/>
              <p:nvPr/>
            </p:nvSpPr>
            <p:spPr>
              <a:xfrm>
                <a:off x="2100262" y="1828800"/>
                <a:ext cx="7991475" cy="3928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上节课提到，</a:t>
                </a:r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我们可以通过升维让非线性分类问题转换为线性可分问题。</a:t>
                </a:r>
                <a:endParaRPr lang="en-US" altLang="zh-CN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CN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如果我们把每个点 </a:t>
                </a:r>
                <a14:m>
                  <m:oMath xmlns:m="http://schemas.openxmlformats.org/officeDocument/2006/math"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映射到三维空间</a:t>
                </a:r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，那么问题变得线性可分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)=(</m:t>
                      </m:r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CN" sz="18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800" dirty="0">
                    <a:effectLst/>
                    <a:cs typeface="Times New Roman" panose="02020603050405020304" pitchFamily="18" charset="0"/>
                  </a:rPr>
                  <a:t>此时分类函数表达式为：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zh-CN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是新三维空间的权重。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dirty="0"/>
                  <a:t>但问题来了：</a:t>
                </a:r>
                <a:r>
                  <a:rPr lang="zh-CN" altLang="en-US" dirty="0"/>
                  <a:t>这样计算量会爆炸性地增多，而且升维函数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zh-CN" altLang="en-US" dirty="0"/>
                  <a:t>的表达式很多时候根本写不出来，如何解决这些问题呢？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72B2ED4-DB9A-7A33-7251-D38D6EBB5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262" y="1828800"/>
                <a:ext cx="7991475" cy="3928383"/>
              </a:xfrm>
              <a:prstGeom prst="rect">
                <a:avLst/>
              </a:prstGeom>
              <a:blipFill>
                <a:blip r:embed="rId4"/>
                <a:stretch>
                  <a:fillRect l="-687" t="-776" b="-1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817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0345-6CB6-A236-7A06-1FB0180D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C81B442-5E89-9AD0-F8D8-35A4B7DE5F17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F7B0CB3C-B248-F205-ECA0-D82EE10E203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22A06B5-C6EA-ED1F-2C19-30C228E0B777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BD71675-F36C-395D-9CBE-54EF1B72045B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8A058FF4-E455-CDD7-F55A-B7FF26FE03E9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6595A9F3-1E50-3327-4489-8BD4079F0EF5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FDD8CE59-FA65-C267-7CA2-5A3CE9BE5CC8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8F68A280-BC3E-DC08-54A3-2DBEA76632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D1019F41-B8DC-22B0-1217-D5C1E4A8FA68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62A7E7-218E-1F88-4576-7502810394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39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199628-8800-36D6-BF5B-E9FE9BF5E31B}"/>
              </a:ext>
            </a:extLst>
          </p:cNvPr>
          <p:cNvSpPr txBox="1"/>
          <p:nvPr/>
        </p:nvSpPr>
        <p:spPr>
          <a:xfrm>
            <a:off x="914400" y="812931"/>
            <a:ext cx="487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核函数升维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994C91F-D0BF-747F-F7ED-40422BC1F7E6}"/>
                  </a:ext>
                </a:extLst>
              </p:cNvPr>
              <p:cNvSpPr txBox="1"/>
              <p:nvPr/>
            </p:nvSpPr>
            <p:spPr>
              <a:xfrm>
                <a:off x="1833493" y="2100295"/>
                <a:ext cx="8525014" cy="2620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观察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最终的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表达式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实际上我们需要的只是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，如果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能直接计算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zh-CN" altLang="en-US" b="1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而不是先计算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dirty="0"/>
                  <a:t>再计算它们的点乘，那么上述问题都能够得到解决。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dirty="0"/>
                  <a:t>我们定义一个函数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，使得：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这个函数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就叫做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核函数（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Kernel Function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zh-CN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它的作用是：在原始空间中直接计算高维空间的内积，而无需知道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的具体形式。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994C91F-D0BF-747F-F7ED-40422BC1F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493" y="2100295"/>
                <a:ext cx="8525014" cy="2620974"/>
              </a:xfrm>
              <a:prstGeom prst="rect">
                <a:avLst/>
              </a:prstGeom>
              <a:blipFill>
                <a:blip r:embed="rId4"/>
                <a:stretch>
                  <a:fillRect l="-644" t="-16084" r="-358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154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64D3-98D4-5060-966C-7D711C83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C3EC4A2-04FB-99E2-03CF-412FD0ECF0A4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1D1BDED8-D541-5526-80B2-3B601F61313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7DC561D-C3DD-537C-0983-48D25E0CC7DB}"/>
                </a:ext>
              </a:extLst>
            </p:cNvPr>
            <p:cNvSpPr txBox="1"/>
            <p:nvPr/>
          </p:nvSpPr>
          <p:spPr>
            <a:xfrm>
              <a:off x="777367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SVM</a:t>
              </a:r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原理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03BBFFC-4C1C-42A9-21B6-DF68D3C04C25}"/>
                </a:ext>
              </a:extLst>
            </p:cNvPr>
            <p:cNvGrpSpPr/>
            <p:nvPr/>
          </p:nvGrpSpPr>
          <p:grpSpPr>
            <a:xfrm>
              <a:off x="2895600" y="176254"/>
              <a:ext cx="9785297" cy="490495"/>
              <a:chOff x="2895600" y="176254"/>
              <a:chExt cx="9785297" cy="49049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FE1EBA42-0CEE-17C0-526E-A10293D02A24}"/>
                  </a:ext>
                </a:extLst>
              </p:cNvPr>
              <p:cNvGrpSpPr/>
              <p:nvPr/>
            </p:nvGrpSpPr>
            <p:grpSpPr>
              <a:xfrm>
                <a:off x="2895600" y="217491"/>
                <a:ext cx="9785297" cy="449258"/>
                <a:chOff x="2814882" y="217491"/>
                <a:chExt cx="9866015" cy="449258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AB27281E-934D-9522-A483-24A27BF3A61A}"/>
                    </a:ext>
                  </a:extLst>
                </p:cNvPr>
                <p:cNvSpPr/>
                <p:nvPr/>
              </p:nvSpPr>
              <p:spPr>
                <a:xfrm>
                  <a:off x="2814882" y="217491"/>
                  <a:ext cx="9853315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F1922A9D-D65F-6651-3281-B067E55F4724}"/>
                    </a:ext>
                  </a:extLst>
                </p:cNvPr>
                <p:cNvSpPr/>
                <p:nvPr/>
              </p:nvSpPr>
              <p:spPr>
                <a:xfrm flipV="1">
                  <a:off x="2827582" y="621030"/>
                  <a:ext cx="9853315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28A24600-B998-3C8E-5B3F-631B6482E0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63CB28F-1F06-EE9C-9E71-89A556A99D54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CB0A86-FBDD-B91D-1994-A2BD1C2D68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40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C31D23-552B-0693-8550-204790A730F7}"/>
              </a:ext>
            </a:extLst>
          </p:cNvPr>
          <p:cNvSpPr txBox="1"/>
          <p:nvPr/>
        </p:nvSpPr>
        <p:spPr>
          <a:xfrm>
            <a:off x="914400" y="812931"/>
            <a:ext cx="487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核函数升维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2CCE24C-17A0-3B37-0B93-713651FB2D95}"/>
                  </a:ext>
                </a:extLst>
              </p:cNvPr>
              <p:cNvSpPr txBox="1"/>
              <p:nvPr/>
            </p:nvSpPr>
            <p:spPr>
              <a:xfrm>
                <a:off x="1905000" y="2057400"/>
                <a:ext cx="8525014" cy="2093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例如，</a:t>
                </a:r>
                <a:r>
                  <a:rPr lang="zh-CN" altLang="zh-CN" dirty="0"/>
                  <a:t>设原始特征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，定义映射：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)=(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则：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所以我们可以直接定义：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这就是多项式核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它隐式对应一个三维空间，但我们只在二维空间计算</a:t>
                </a:r>
                <a:r>
                  <a:rPr lang="zh-CN" altLang="en-US" dirty="0"/>
                  <a:t>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2CCE24C-17A0-3B37-0B93-713651FB2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057400"/>
                <a:ext cx="8525014" cy="2093009"/>
              </a:xfrm>
              <a:prstGeom prst="rect">
                <a:avLst/>
              </a:prstGeom>
              <a:blipFill>
                <a:blip r:embed="rId4"/>
                <a:stretch>
                  <a:fillRect l="-644" t="-1749" b="-3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5623940-05C3-61BE-A226-C977AA283959}"/>
              </a:ext>
            </a:extLst>
          </p:cNvPr>
          <p:cNvSpPr txBox="1"/>
          <p:nvPr/>
        </p:nvSpPr>
        <p:spPr>
          <a:xfrm>
            <a:off x="1750218" y="4933213"/>
            <a:ext cx="8691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核函数通过设计一个函数，实现了“隐式升维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18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b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1800" dirty="0" err="1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我们不需要知道高维坐标，只需计算原始空间的点乘，就能在高维空间做线性分类</a:t>
            </a:r>
            <a:r>
              <a:rPr lang="zh-CN" altLang="en-US" sz="18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070EE5D-82B1-AC7B-4062-709D6ECAF26F}"/>
              </a:ext>
            </a:extLst>
          </p:cNvPr>
          <p:cNvSpPr/>
          <p:nvPr/>
        </p:nvSpPr>
        <p:spPr>
          <a:xfrm>
            <a:off x="1676400" y="4800600"/>
            <a:ext cx="9057118" cy="9144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26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84BE-D70E-C571-5F01-4DF73EC1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C8B488F-1C88-8D6A-BE01-0C739A97435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1882E27-D8E6-4306-CE5A-358098E0555D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2DD2265-DDAD-3442-F7B5-C6632C957ACB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B072B7C-421A-5159-A24B-722921B74DC8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C952B04-A1F7-4FB6-D32B-18DDB9C2E8B0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5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C84F2EF-3726-83A0-F2E7-40F97BC32BB3}"/>
              </a:ext>
            </a:extLst>
          </p:cNvPr>
          <p:cNvSpPr txBox="1"/>
          <p:nvPr/>
        </p:nvSpPr>
        <p:spPr>
          <a:xfrm>
            <a:off x="2950335" y="3042076"/>
            <a:ext cx="2031317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核方法</a:t>
            </a:r>
          </a:p>
        </p:txBody>
      </p:sp>
      <p:pic>
        <p:nvPicPr>
          <p:cNvPr id="12" name="图片 11" descr="图片包含 游戏机, 画, 食物, 标志&#10;&#10;描述已自动生成">
            <a:extLst>
              <a:ext uri="{FF2B5EF4-FFF2-40B4-BE49-F238E27FC236}">
                <a16:creationId xmlns:a16="http://schemas.microsoft.com/office/drawing/2014/main" id="{0A04E341-161F-C973-C10A-6B8CB4AE59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6CCE91D-81AC-3C35-FE19-D1DFD2E230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41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65038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7E68E-00E3-132A-FB7D-9D5A0920F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6FB978B9-80CE-047D-0229-1C569DF1C5FD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2E437BE7-7750-BAEF-6508-8563C61B675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8E62C0A-F663-D460-F68E-3DF4DF39ACB2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核方法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51DE4DF-7302-2F0A-4B68-E15A20E9C386}"/>
                </a:ext>
              </a:extLst>
            </p:cNvPr>
            <p:cNvGrpSpPr/>
            <p:nvPr/>
          </p:nvGrpSpPr>
          <p:grpSpPr>
            <a:xfrm>
              <a:off x="2514600" y="176254"/>
              <a:ext cx="10166297" cy="490494"/>
              <a:chOff x="2514600" y="176254"/>
              <a:chExt cx="10166297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785EFC53-5182-6D1D-8439-CBD6FD051927}"/>
                  </a:ext>
                </a:extLst>
              </p:cNvPr>
              <p:cNvGrpSpPr/>
              <p:nvPr/>
            </p:nvGrpSpPr>
            <p:grpSpPr>
              <a:xfrm>
                <a:off x="2514600" y="217491"/>
                <a:ext cx="10166297" cy="449257"/>
                <a:chOff x="2430739" y="217491"/>
                <a:chExt cx="10250158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FD70E9ED-2D7A-A300-3B98-1EC717698E9C}"/>
                    </a:ext>
                  </a:extLst>
                </p:cNvPr>
                <p:cNvSpPr/>
                <p:nvPr/>
              </p:nvSpPr>
              <p:spPr>
                <a:xfrm>
                  <a:off x="2430739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671D6F5B-9DAC-1410-08EF-290FA9E36BB8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8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9517A521-67EF-8FAE-F6BC-70A9211560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591290F-DFE8-4A77-54FA-1C07D68DEB2B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6A0DC7E-B212-7A26-9545-78D90B16F4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42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AD8C625-A3A6-487B-C175-D52C6FBFAB2F}"/>
                  </a:ext>
                </a:extLst>
              </p:cNvPr>
              <p:cNvSpPr txBox="1"/>
              <p:nvPr/>
            </p:nvSpPr>
            <p:spPr>
              <a:xfrm>
                <a:off x="2362200" y="2682843"/>
                <a:ext cx="9144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核方法（</a:t>
                </a:r>
                <a:r>
                  <a:rPr lang="en-US" altLang="zh-CN" dirty="0"/>
                  <a:t>Kernel Methods</a:t>
                </a:r>
                <a:r>
                  <a:rPr lang="zh-CN" altLang="en-US" dirty="0"/>
                  <a:t>） 是一类机器学习技术，其核心思想是： </a:t>
                </a:r>
              </a:p>
              <a:p>
                <a:endParaRPr lang="zh-CN" altLang="en-US" dirty="0"/>
              </a:p>
              <a:p>
                <a:r>
                  <a:rPr lang="zh-CN" altLang="en-US" dirty="0"/>
                  <a:t>将算法中的原始内积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zh-CN" altLang="en-US" dirty="0"/>
                  <a:t> 替换为核函数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</a:p>
              <a:p>
                <a:r>
                  <a:rPr lang="zh-CN" altLang="en-US" dirty="0"/>
                  <a:t>从而在隐式高维特征空间中执行原本在线性空间中的操作。 </a:t>
                </a:r>
              </a:p>
              <a:p>
                <a:endParaRPr lang="zh-CN" altLang="en-US" dirty="0"/>
              </a:p>
              <a:p>
                <a:r>
                  <a:rPr lang="zh-CN" altLang="en-US" dirty="0"/>
                  <a:t>只要一个算法的计算过程只涉及样本之间的内积，它就可以被“核化”。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AD8C625-A3A6-487B-C175-D52C6FBFA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682843"/>
                <a:ext cx="9144000" cy="1754326"/>
              </a:xfrm>
              <a:prstGeom prst="rect">
                <a:avLst/>
              </a:prstGeom>
              <a:blipFill>
                <a:blip r:embed="rId4"/>
                <a:stretch>
                  <a:fillRect l="-600" t="-1736" b="-4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0B10C821-FA6A-1182-11BF-626A7EAFFEFD}"/>
              </a:ext>
            </a:extLst>
          </p:cNvPr>
          <p:cNvSpPr txBox="1"/>
          <p:nvPr/>
        </p:nvSpPr>
        <p:spPr>
          <a:xfrm>
            <a:off x="914400" y="812931"/>
            <a:ext cx="487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什么是核方法？</a:t>
            </a:r>
          </a:p>
        </p:txBody>
      </p:sp>
    </p:spTree>
    <p:extLst>
      <p:ext uri="{BB962C8B-B14F-4D97-AF65-F5344CB8AC3E}">
        <p14:creationId xmlns:p14="http://schemas.microsoft.com/office/powerpoint/2010/main" val="1665551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B11A-2AE2-4721-04D1-89C195A7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5A83001-47C5-B352-0747-15308A7E675F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31B329F-4BBB-4D81-DB01-1C38395D671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755EEB3-4CB5-4E15-E1F4-C0404794839E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核方法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5877FA8-A399-BF4F-2D95-12D19C494E54}"/>
                </a:ext>
              </a:extLst>
            </p:cNvPr>
            <p:cNvGrpSpPr/>
            <p:nvPr/>
          </p:nvGrpSpPr>
          <p:grpSpPr>
            <a:xfrm>
              <a:off x="2514600" y="176254"/>
              <a:ext cx="10166297" cy="490494"/>
              <a:chOff x="2514600" y="176254"/>
              <a:chExt cx="10166297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98248C6A-41E4-1734-828D-B46A0F54B537}"/>
                  </a:ext>
                </a:extLst>
              </p:cNvPr>
              <p:cNvGrpSpPr/>
              <p:nvPr/>
            </p:nvGrpSpPr>
            <p:grpSpPr>
              <a:xfrm>
                <a:off x="2514600" y="217491"/>
                <a:ext cx="10166297" cy="449257"/>
                <a:chOff x="2430739" y="217491"/>
                <a:chExt cx="10250158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3BD7BFA9-4D37-608E-CA85-2BCA2E2D883F}"/>
                    </a:ext>
                  </a:extLst>
                </p:cNvPr>
                <p:cNvSpPr/>
                <p:nvPr/>
              </p:nvSpPr>
              <p:spPr>
                <a:xfrm>
                  <a:off x="2430739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6A94C7F5-3A86-CD4F-0357-5FCF3C9878AD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8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D59D1223-424E-804C-EDE2-3DF662BE39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5DA389AC-E573-9BE4-0424-A97CFC85284E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4D57700-0390-FF9C-CA31-A06FA6B607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43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7B4BFF-6260-EBF7-9844-8BAAF4C3B8C2}"/>
              </a:ext>
            </a:extLst>
          </p:cNvPr>
          <p:cNvSpPr txBox="1"/>
          <p:nvPr/>
        </p:nvSpPr>
        <p:spPr>
          <a:xfrm>
            <a:off x="914400" y="812931"/>
            <a:ext cx="487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常见核函数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CF4F63B5-2505-8825-7E7F-C3E3857FE2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3030444"/>
                  </p:ext>
                </p:extLst>
              </p:nvPr>
            </p:nvGraphicFramePr>
            <p:xfrm>
              <a:off x="1524000" y="2440153"/>
              <a:ext cx="9144000" cy="2303258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1636075836"/>
                        </a:ext>
                      </a:extLst>
                    </a:gridCol>
                    <a:gridCol w="3581400">
                      <a:extLst>
                        <a:ext uri="{9D8B030D-6E8A-4147-A177-3AD203B41FA5}">
                          <a16:colId xmlns:a16="http://schemas.microsoft.com/office/drawing/2014/main" val="2131295522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98640769"/>
                        </a:ext>
                      </a:extLst>
                    </a:gridCol>
                  </a:tblGrid>
                  <a:tr h="368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b="1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核函数名称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b="1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表达式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b="1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隐式升维空间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7206881"/>
                      </a:ext>
                    </a:extLst>
                  </a:tr>
                  <a:tr h="36673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线性核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800" b="1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sz="1800" b="1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原始二维空间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11171933"/>
                      </a:ext>
                    </a:extLst>
                  </a:tr>
                  <a:tr h="4677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多项式核（</a:t>
                          </a:r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d=2</a:t>
                          </a: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800" b="1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)=(</m:t>
                                </m:r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sz="1800" b="1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sSup>
                                  <m:sSup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包含所有二次项（如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）的空间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4397829"/>
                      </a:ext>
                    </a:extLst>
                  </a:tr>
                  <a:tr h="66918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RBF</a:t>
                          </a:r>
                          <a:r>
                            <a:rPr lang="zh-CN" sz="180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核（高斯核）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800" b="1" i="1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  <a:cs typeface="Times New Roman" panose="02020603050405020304" pitchFamily="18" charset="0"/>
                                  </a:rPr>
                                  <m:t>exp</m:t>
                                </m:r>
                                <m:d>
                                  <m:d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𝛾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∥</m:t>
                                    </m:r>
                                    <m:sSub>
                                      <m:sSubPr>
                                        <m:ctrlPr>
                                          <a:rPr 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  <a:cs typeface="Times New Roman" panose="020206030504050203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b="1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  <m:sSup>
                                      <m:sSupPr>
                                        <m:ctrlPr>
                                          <a:rPr 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  <a:cs typeface="Times New Roman" panose="02020603050405020304" pitchFamily="18" charset="0"/>
                                          </a:rPr>
                                          <m:t>∥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+mj-ea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b="1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无限维空间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5386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CF4F63B5-2505-8825-7E7F-C3E3857FE2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3030444"/>
                  </p:ext>
                </p:extLst>
              </p:nvPr>
            </p:nvGraphicFramePr>
            <p:xfrm>
              <a:off x="1524000" y="2440153"/>
              <a:ext cx="9144000" cy="2319641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1636075836"/>
                        </a:ext>
                      </a:extLst>
                    </a:gridCol>
                    <a:gridCol w="3581400">
                      <a:extLst>
                        <a:ext uri="{9D8B030D-6E8A-4147-A177-3AD203B41FA5}">
                          <a16:colId xmlns:a16="http://schemas.microsoft.com/office/drawing/2014/main" val="2131295522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98640769"/>
                        </a:ext>
                      </a:extLst>
                    </a:gridCol>
                  </a:tblGrid>
                  <a:tr h="3683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b="1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核函数名称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b="1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表达式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b="1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隐式升维空间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7206881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线性核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358" t="-76543" r="-85520" b="-298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原始二维空间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11171933"/>
                      </a:ext>
                    </a:extLst>
                  </a:tr>
                  <a:tr h="7944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多项式核（</a:t>
                          </a:r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d=2</a:t>
                          </a:r>
                          <a:r>
                            <a:rPr lang="zh-CN" sz="1800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70358" t="-110000" r="-85520" b="-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200000" t="-110000" r="-400" b="-8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397829"/>
                      </a:ext>
                    </a:extLst>
                  </a:tr>
                  <a:tr h="66918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RBF</a:t>
                          </a:r>
                          <a:r>
                            <a:rPr lang="zh-CN" sz="180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核（高斯核）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358" t="-248182" r="-85520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zh-CN" sz="1800" b="1" dirty="0">
                              <a:effectLst/>
                              <a:latin typeface="+mj-ea"/>
                              <a:ea typeface="+mj-ea"/>
                              <a:cs typeface="Times New Roman" panose="02020603050405020304" pitchFamily="18" charset="0"/>
                            </a:rPr>
                            <a:t>无限维空间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53865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2">
            <a:extLst>
              <a:ext uri="{FF2B5EF4-FFF2-40B4-BE49-F238E27FC236}">
                <a16:creationId xmlns:a16="http://schemas.microsoft.com/office/drawing/2014/main" id="{48725F2D-F001-41AE-8EC8-7D34AB572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797198"/>
            <a:ext cx="3200400" cy="79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9044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常见核函数与升维能力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5A79432-F109-F494-E9C5-849D4330BB52}"/>
                  </a:ext>
                </a:extLst>
              </p:cNvPr>
              <p:cNvSpPr txBox="1"/>
              <p:nvPr/>
            </p:nvSpPr>
            <p:spPr>
              <a:xfrm>
                <a:off x="1524000" y="5060802"/>
                <a:ext cx="5943600" cy="1091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smtClean="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∥</m:t>
                      </m:r>
                      <m:r>
                        <a:rPr lang="en-US" altLang="zh-CN" sz="1800" b="1" i="1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𝐱</m:t>
                      </m:r>
                      <m:sSup>
                        <m:s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b="0" i="1" smtClean="0">
                          <a:effectLst/>
                          <a:latin typeface="Cambria Math" panose="02040503050406030204" pitchFamily="18" charset="0"/>
                          <a:ea typeface="+mj-ea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无线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维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原因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：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+⋯+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5A79432-F109-F494-E9C5-849D4330B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060802"/>
                <a:ext cx="5943600" cy="1091453"/>
              </a:xfrm>
              <a:prstGeom prst="rect">
                <a:avLst/>
              </a:prstGeom>
              <a:blipFill>
                <a:blip r:embed="rId5"/>
                <a:stretch>
                  <a:fillRect l="-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5241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B01A-BBF0-E5B8-3863-B39876F5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EC6F6B8-8810-6C1E-0107-E169D7BC20A1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8D7A9B84-11A1-25EE-7126-F26365D6CBB7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F0111E7-8C6C-8249-9BAC-C25281FEC0AF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核方法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1F74256-827E-5CF0-F51F-41D7AD56B6C3}"/>
                </a:ext>
              </a:extLst>
            </p:cNvPr>
            <p:cNvGrpSpPr/>
            <p:nvPr/>
          </p:nvGrpSpPr>
          <p:grpSpPr>
            <a:xfrm>
              <a:off x="2514600" y="176254"/>
              <a:ext cx="10166297" cy="490494"/>
              <a:chOff x="2514600" y="176254"/>
              <a:chExt cx="10166297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D479D3D-7FD0-753D-1F25-5D549F2A0C80}"/>
                  </a:ext>
                </a:extLst>
              </p:cNvPr>
              <p:cNvGrpSpPr/>
              <p:nvPr/>
            </p:nvGrpSpPr>
            <p:grpSpPr>
              <a:xfrm>
                <a:off x="2514600" y="217491"/>
                <a:ext cx="10166297" cy="449257"/>
                <a:chOff x="2430739" y="217491"/>
                <a:chExt cx="10250158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34DB7E13-51A9-3B96-3B92-DA14715C16F7}"/>
                    </a:ext>
                  </a:extLst>
                </p:cNvPr>
                <p:cNvSpPr/>
                <p:nvPr/>
              </p:nvSpPr>
              <p:spPr>
                <a:xfrm>
                  <a:off x="2430739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B537B580-3535-EE3E-CE18-FA08A8C7A02D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8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ED9B3A08-D368-9E1C-71D9-2B78DCDF2A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E1201E4E-3A3D-22A6-FFF1-677103030AAE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A1DEF4-3D89-F7A2-67A7-6992939F88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44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D73C04-4D2A-B753-73EA-1D9A75B8ECEA}"/>
              </a:ext>
            </a:extLst>
          </p:cNvPr>
          <p:cNvSpPr txBox="1"/>
          <p:nvPr/>
        </p:nvSpPr>
        <p:spPr>
          <a:xfrm>
            <a:off x="644070" y="812930"/>
            <a:ext cx="487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核函数在其他方法上的应用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C41FB88B-151F-50D8-33B5-578457A68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4188" y="1600200"/>
                <a:ext cx="8534400" cy="45167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19044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b="1" dirty="0" err="1"/>
                  <a:t>核岭回归</a:t>
                </a:r>
                <a:endParaRPr lang="en-US" altLang="zh-CN" b="1" dirty="0"/>
              </a:p>
              <a:p>
                <a:r>
                  <a:rPr lang="zh-CN" altLang="zh-CN" dirty="0"/>
                  <a:t>标准岭回归（</a:t>
                </a:r>
                <a:r>
                  <a:rPr lang="zh-CN" altLang="en-US" dirty="0"/>
                  <a:t>带有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正则化的线性回归</a:t>
                </a:r>
                <a:r>
                  <a:rPr lang="zh-CN" altLang="zh-CN" dirty="0"/>
                  <a:t>）预测函数为：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zh-CN" dirty="0"/>
              </a:p>
              <a:p>
                <a:r>
                  <a:rPr lang="zh-CN" altLang="zh-CN" dirty="0"/>
                  <a:t>通过求解，可等价写成样本加权和形式：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将内积替换为核函数：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zh-CN" i="1" dirty="0"/>
              </a:p>
              <a:p>
                <a:pPr lvl="0"/>
                <a:r>
                  <a:rPr lang="zh-CN" altLang="zh-CN" dirty="0"/>
                  <a:t>仍保留岭回归的正则化性质，模型变为</a:t>
                </a:r>
                <a:r>
                  <a:rPr lang="zh-CN" altLang="zh-CN" b="1" dirty="0"/>
                  <a:t>非线性回归</a:t>
                </a:r>
                <a:r>
                  <a:rPr lang="zh-CN" altLang="en-US" b="1" dirty="0"/>
                  <a:t>，</a:t>
                </a:r>
                <a:r>
                  <a:rPr lang="zh-CN" altLang="zh-CN" dirty="0"/>
                  <a:t>能拟合曲线关系。</a:t>
                </a:r>
              </a:p>
              <a:p>
                <a:br>
                  <a:rPr lang="en-US" altLang="zh-CN" dirty="0"/>
                </a:br>
                <a:endParaRPr lang="zh-CN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C41FB88B-151F-50D8-33B5-578457A68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4188" y="1600200"/>
                <a:ext cx="8534400" cy="4516753"/>
              </a:xfrm>
              <a:prstGeom prst="rect">
                <a:avLst/>
              </a:prstGeom>
              <a:blipFill>
                <a:blip r:embed="rId4"/>
                <a:stretch>
                  <a:fillRect l="-6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014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34BC-A754-0892-B279-B440FE9E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6FF44C4-5826-AD12-46F0-1725DE87F33B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D291FC09-E762-736F-63DD-3A7A2D3CB457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39D8DB5-D766-BE7A-1217-64FE5E4CE08E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核方法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59DED49-1041-1FB3-728F-E9BB117E56E2}"/>
                </a:ext>
              </a:extLst>
            </p:cNvPr>
            <p:cNvGrpSpPr/>
            <p:nvPr/>
          </p:nvGrpSpPr>
          <p:grpSpPr>
            <a:xfrm>
              <a:off x="2514600" y="176254"/>
              <a:ext cx="10166297" cy="490494"/>
              <a:chOff x="2514600" y="176254"/>
              <a:chExt cx="10166297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5FDA88CC-3641-F9E1-BE82-CCA2497A15EA}"/>
                  </a:ext>
                </a:extLst>
              </p:cNvPr>
              <p:cNvGrpSpPr/>
              <p:nvPr/>
            </p:nvGrpSpPr>
            <p:grpSpPr>
              <a:xfrm>
                <a:off x="2514600" y="217491"/>
                <a:ext cx="10166297" cy="449257"/>
                <a:chOff x="2430739" y="217491"/>
                <a:chExt cx="10250158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5D778F74-D669-BDB8-D40E-D92385617AF3}"/>
                    </a:ext>
                  </a:extLst>
                </p:cNvPr>
                <p:cNvSpPr/>
                <p:nvPr/>
              </p:nvSpPr>
              <p:spPr>
                <a:xfrm>
                  <a:off x="2430739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3CADC483-91A0-FCB8-E010-5316A77E9938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8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A2883D1F-1096-247A-EBF4-9A592E297F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2A7514C9-5E2D-72BD-B62A-D3D4AC932383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FEA83B-D36D-ADC3-780D-7053C562EE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45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561349-1BB4-EDFE-2DED-3236524A702E}"/>
              </a:ext>
            </a:extLst>
          </p:cNvPr>
          <p:cNvSpPr txBox="1"/>
          <p:nvPr/>
        </p:nvSpPr>
        <p:spPr>
          <a:xfrm>
            <a:off x="644070" y="812930"/>
            <a:ext cx="487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核函数在其他方法上的应用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61F6C05-F197-5846-A4ED-0603664A267C}"/>
                  </a:ext>
                </a:extLst>
              </p:cNvPr>
              <p:cNvSpPr txBox="1"/>
              <p:nvPr/>
            </p:nvSpPr>
            <p:spPr>
              <a:xfrm>
                <a:off x="2971800" y="1828800"/>
                <a:ext cx="6467474" cy="4097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algn="l" rtl="0" eaLnBrk="1" latinLnBrk="0" hangingPunct="1">
                  <a:buNone/>
                </a:pPr>
                <a:r>
                  <a:rPr lang="en-US" altLang="zh-CN" sz="1800" b="1" kern="1200" dirty="0" err="1">
                    <a:solidFill>
                      <a:srgbClr val="0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核</a:t>
                </a:r>
                <a:r>
                  <a:rPr lang="en-US" altLang="zh-CN" sz="1800" b="1" kern="12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Logistic回归</a:t>
                </a:r>
                <a:endParaRPr lang="zh-CN" altLang="zh-CN" dirty="0">
                  <a:effectLst/>
                </a:endParaRPr>
              </a:p>
              <a:p>
                <a:pPr marL="0" algn="l" rtl="0" eaLnBrk="1" latinLnBrk="0" hangingPunct="1">
                  <a:buNone/>
                </a:pPr>
                <a:r>
                  <a:rPr lang="zh-CN" altLang="zh-CN" sz="1800" kern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标准</a:t>
                </a:r>
                <a:r>
                  <a:rPr lang="en-US" altLang="zh-CN" sz="1800" kern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 Logistic </a:t>
                </a:r>
                <a:r>
                  <a:rPr lang="zh-CN" altLang="zh-CN" sz="1800" kern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回归的线性预测器为：</a:t>
                </a:r>
                <a:endParaRPr lang="zh-CN" altLang="zh-CN" dirty="0">
                  <a:effectLst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𝜂</m:t>
                      </m:r>
                      <m:r>
                        <a:rPr lang="en-US" altLang="zh-CN" sz="18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r>
                        <a:rPr lang="en-US" altLang="zh-CN" sz="18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𝐰</m:t>
                      </m:r>
                      <m:r>
                        <a:rPr lang="en-US" altLang="zh-CN" sz="18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⋅</m:t>
                      </m:r>
                      <m:r>
                        <a:rPr lang="en-US" altLang="zh-CN" sz="18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𝐱</m:t>
                      </m:r>
                      <m:r>
                        <a:rPr lang="en-US" altLang="zh-CN" sz="18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+</m:t>
                      </m:r>
                      <m:r>
                        <a:rPr lang="en-US" altLang="zh-CN" sz="18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，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𝜂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ln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1−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zh-CN" i="1" dirty="0">
                  <a:effectLst/>
                </a:endParaRPr>
              </a:p>
              <a:p>
                <a:pPr marL="0" algn="l" rtl="0" eaLnBrk="1" latinLnBrk="0" hangingPunct="1">
                  <a:buNone/>
                </a:pPr>
                <a:r>
                  <a:rPr lang="zh-CN" altLang="zh-CN" sz="1800" kern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同样，其解可表示为：</a:t>
                </a:r>
                <a:endParaRPr lang="zh-CN" altLang="zh-CN" dirty="0">
                  <a:effectLst/>
                </a:endParaRPr>
              </a:p>
              <a:p>
                <a:pPr marL="0" algn="l" rtl="0" eaLnBrk="1" latinLnBrk="0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𝜂</m:t>
                      </m:r>
                      <m:r>
                        <a:rPr lang="en-US" altLang="zh-CN" sz="18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zh-CN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𝑖</m:t>
                          </m:r>
                          <m:r>
                            <a:rPr lang="en-US" altLang="zh-CN" sz="1800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=</m:t>
                          </m:r>
                          <m:r>
                            <a:rPr lang="en-US" altLang="zh-CN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8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8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lang="zh-CN" altLang="zh-CN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CN" sz="1800" b="1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⋅</m:t>
                      </m:r>
                      <m:r>
                        <a:rPr lang="en-US" altLang="zh-CN" sz="18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𝐱</m:t>
                      </m:r>
                      <m:r>
                        <a:rPr lang="en-US" altLang="zh-CN" sz="18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)+</m:t>
                      </m:r>
                      <m:r>
                        <a:rPr lang="en-US" altLang="zh-CN" sz="18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𝑏</m:t>
                      </m:r>
                    </m:oMath>
                  </m:oMathPara>
                </a14:m>
                <a:endParaRPr lang="zh-CN" altLang="zh-CN" dirty="0">
                  <a:effectLst/>
                </a:endParaRPr>
              </a:p>
              <a:p>
                <a:pPr marL="0" algn="l" rtl="0" eaLnBrk="1" latinLnBrk="0" hangingPunct="1">
                  <a:buNone/>
                </a:pPr>
                <a:r>
                  <a:rPr lang="zh-CN" altLang="zh-CN" sz="1800" kern="1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只需替换内积：</a:t>
                </a:r>
                <a:endParaRPr lang="zh-CN" altLang="zh-CN" dirty="0">
                  <a:effectLst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rial" panose="020B0604020202020204" pitchFamily="34" charset="0"/>
                            </a:rPr>
                          </m:ctrlPr>
                        </m:eqArr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𝜂</m:t>
                          </m:r>
                          <m: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 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  <m: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  <m: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)+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𝑃</m:t>
                          </m:r>
                          <m: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  <m: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r>
                            <a:rPr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  <m: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)=</m:t>
                          </m:r>
                          <m:f>
                            <m:fPr>
                              <m:ctrlPr>
                                <a:rPr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𝜂</m:t>
                                  </m:r>
                                </m:sup>
                              </m:sSup>
                            </m:den>
                          </m:f>
                        </m:e>
                      </m:eqArr>
                    </m:oMath>
                  </m:oMathPara>
                </a14:m>
                <a:endParaRPr lang="en-US" altLang="zh-CN" dirty="0">
                  <a:effectLst/>
                </a:endParaRPr>
              </a:p>
              <a:p>
                <a:pPr lvl="0"/>
                <a:r>
                  <a:rPr lang="en-US" altLang="zh-CN" dirty="0" err="1"/>
                  <a:t>保留概率输出</a:t>
                </a:r>
                <a:r>
                  <a:rPr lang="zh-CN" altLang="en-US" dirty="0"/>
                  <a:t>且</a:t>
                </a:r>
                <a:r>
                  <a:rPr lang="zh-CN" altLang="zh-CN" dirty="0"/>
                  <a:t>能拟合非线性决策边界</a:t>
                </a:r>
                <a:r>
                  <a:rPr lang="zh-CN" altLang="en-US" dirty="0"/>
                  <a:t>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61F6C05-F197-5846-A4ED-0603664A2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828800"/>
                <a:ext cx="6467474" cy="4097084"/>
              </a:xfrm>
              <a:prstGeom prst="rect">
                <a:avLst/>
              </a:prstGeom>
              <a:blipFill>
                <a:blip r:embed="rId4"/>
                <a:stretch>
                  <a:fillRect l="-849" t="-744" b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366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A41B3-5A51-65E4-39EE-4641D86C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D67032C7-3310-3BB2-693B-0E77B68404F6}"/>
              </a:ext>
            </a:extLst>
          </p:cNvPr>
          <p:cNvGrpSpPr/>
          <p:nvPr/>
        </p:nvGrpSpPr>
        <p:grpSpPr>
          <a:xfrm>
            <a:off x="-254000" y="153230"/>
            <a:ext cx="12934897" cy="584771"/>
            <a:chOff x="-254000" y="153230"/>
            <a:chExt cx="12934897" cy="584771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B14659E7-5BCC-5D50-36C5-8A3471D45F6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4233364-C82A-5CF5-C5F7-4228FF842A93}"/>
                </a:ext>
              </a:extLst>
            </p:cNvPr>
            <p:cNvSpPr txBox="1"/>
            <p:nvPr/>
          </p:nvSpPr>
          <p:spPr>
            <a:xfrm>
              <a:off x="823968" y="153230"/>
              <a:ext cx="2727833" cy="584771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核方法</a:t>
              </a: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D1CE307-5042-610D-4E21-F068EADDD6D9}"/>
                </a:ext>
              </a:extLst>
            </p:cNvPr>
            <p:cNvGrpSpPr/>
            <p:nvPr/>
          </p:nvGrpSpPr>
          <p:grpSpPr>
            <a:xfrm>
              <a:off x="2514600" y="176254"/>
              <a:ext cx="10166297" cy="490494"/>
              <a:chOff x="2514600" y="176254"/>
              <a:chExt cx="10166297" cy="49049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0F4893E-B44F-811D-461B-A35F5CE1106C}"/>
                  </a:ext>
                </a:extLst>
              </p:cNvPr>
              <p:cNvGrpSpPr/>
              <p:nvPr/>
            </p:nvGrpSpPr>
            <p:grpSpPr>
              <a:xfrm>
                <a:off x="2514600" y="217491"/>
                <a:ext cx="10166297" cy="449257"/>
                <a:chOff x="2430739" y="217491"/>
                <a:chExt cx="10250158" cy="449257"/>
              </a:xfrm>
              <a:solidFill>
                <a:srgbClr val="C00000"/>
              </a:solidFill>
            </p:grpSpPr>
            <p:sp>
              <p:nvSpPr>
                <p:cNvPr id="16" name="圆角矩形 3">
                  <a:extLst>
                    <a:ext uri="{FF2B5EF4-FFF2-40B4-BE49-F238E27FC236}">
                      <a16:creationId xmlns:a16="http://schemas.microsoft.com/office/drawing/2014/main" id="{980B8B9D-9C54-98D1-A0D5-137C7E97A090}"/>
                    </a:ext>
                  </a:extLst>
                </p:cNvPr>
                <p:cNvSpPr/>
                <p:nvPr/>
              </p:nvSpPr>
              <p:spPr>
                <a:xfrm>
                  <a:off x="2430739" y="217491"/>
                  <a:ext cx="10237458" cy="3286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圆角矩形 7">
                  <a:extLst>
                    <a:ext uri="{FF2B5EF4-FFF2-40B4-BE49-F238E27FC236}">
                      <a16:creationId xmlns:a16="http://schemas.microsoft.com/office/drawing/2014/main" id="{9C955686-E2B3-2F2A-6345-0B8DD00EED6F}"/>
                    </a:ext>
                  </a:extLst>
                </p:cNvPr>
                <p:cNvSpPr/>
                <p:nvPr/>
              </p:nvSpPr>
              <p:spPr>
                <a:xfrm flipV="1">
                  <a:off x="2443439" y="621029"/>
                  <a:ext cx="10237458" cy="457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149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59769A87-9700-76D8-1620-B3D0F0F79C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044"/>
              <a:stretch>
                <a:fillRect/>
              </a:stretch>
            </p:blipFill>
            <p:spPr>
              <a:xfrm>
                <a:off x="10733656" y="176254"/>
                <a:ext cx="1264639" cy="444778"/>
              </a:xfrm>
              <a:prstGeom prst="rect">
                <a:avLst/>
              </a:prstGeom>
            </p:spPr>
          </p:pic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A7A6726-A3C7-8449-1EF4-C1983A1FE8E2}"/>
              </a:ext>
            </a:extLst>
          </p:cNvPr>
          <p:cNvSpPr txBox="1"/>
          <p:nvPr/>
        </p:nvSpPr>
        <p:spPr>
          <a:xfrm>
            <a:off x="-76200" y="125143"/>
            <a:ext cx="637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6AB5E2-179C-BD3F-061E-5931EB4454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46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C79358-2E9E-3E9B-4288-81CB2E6B1CF9}"/>
              </a:ext>
            </a:extLst>
          </p:cNvPr>
          <p:cNvSpPr txBox="1"/>
          <p:nvPr/>
        </p:nvSpPr>
        <p:spPr>
          <a:xfrm>
            <a:off x="1621562" y="1849815"/>
            <a:ext cx="89488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使用核函数后，数据是否一定线性可分？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不一定，即使映射到无限维空间，仍有可能无法线性分离。 但有定理指出：“将低维非线性可分的数据非线性映射到足够高维的空间，线性可分的概率会显著增加。”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961F5DC-AFB5-698E-7FD3-0325334C9998}"/>
              </a:ext>
            </a:extLst>
          </p:cNvPr>
          <p:cNvSpPr txBox="1"/>
          <p:nvPr/>
        </p:nvSpPr>
        <p:spPr>
          <a:xfrm>
            <a:off x="1650137" y="3977292"/>
            <a:ext cx="64674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我怎么知道某个核函数对应的高维转换能适合我的数据呢？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通过调参确定，选择合适的核函数以及核函数超参数。</a:t>
            </a:r>
          </a:p>
        </p:txBody>
      </p:sp>
    </p:spTree>
    <p:extLst>
      <p:ext uri="{BB962C8B-B14F-4D97-AF65-F5344CB8AC3E}">
        <p14:creationId xmlns:p14="http://schemas.microsoft.com/office/powerpoint/2010/main" val="13471192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E157-87A7-13AE-0C2B-B4A1B661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688BBE1-059B-1E24-87C8-71C315D49810}"/>
              </a:ext>
            </a:extLst>
          </p:cNvPr>
          <p:cNvSpPr txBox="1"/>
          <p:nvPr/>
        </p:nvSpPr>
        <p:spPr>
          <a:xfrm>
            <a:off x="2076450" y="2256115"/>
            <a:ext cx="8039100" cy="2345770"/>
          </a:xfrm>
          <a:prstGeom prst="rect">
            <a:avLst/>
          </a:prstGeom>
          <a:noFill/>
          <a:effectLst>
            <a:outerShdw blurRad="12700" sx="1000" sy="1000" algn="tl" rotWithShape="0">
              <a:schemeClr val="accent1">
                <a:lumMod val="60000"/>
                <a:lumOff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机器学习三要素：模型、策略、算法；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直观理解；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代码实现；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原理，解释了为什么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适合小样本以及能实现非线性分类；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核方法以及在其他方法的应用。</a:t>
            </a:r>
            <a:endParaRPr lang="zh-CN" altLang="en-US" sz="2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 descr="图片包含 游戏机, 画, 食物, 标志&#10;&#10;描述已自动生成">
            <a:extLst>
              <a:ext uri="{FF2B5EF4-FFF2-40B4-BE49-F238E27FC236}">
                <a16:creationId xmlns:a16="http://schemas.microsoft.com/office/drawing/2014/main" id="{B8C84448-9D76-DA16-1A95-B70491DAB5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50EC4FD-7FBB-0347-38EA-2EF758E2B0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47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B9C3F5-1F35-8352-F72B-40B4C0C60BC9}"/>
              </a:ext>
            </a:extLst>
          </p:cNvPr>
          <p:cNvSpPr txBox="1"/>
          <p:nvPr/>
        </p:nvSpPr>
        <p:spPr>
          <a:xfrm>
            <a:off x="762000" y="50066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424614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5D0D-9BF1-976B-D707-7E4D00CE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38EAEE9-CC00-6C10-02FE-2F7B13E3CAC6}"/>
              </a:ext>
            </a:extLst>
          </p:cNvPr>
          <p:cNvSpPr txBox="1"/>
          <p:nvPr/>
        </p:nvSpPr>
        <p:spPr>
          <a:xfrm>
            <a:off x="1981200" y="2514600"/>
            <a:ext cx="8552047" cy="523220"/>
          </a:xfrm>
          <a:prstGeom prst="rect">
            <a:avLst/>
          </a:prstGeom>
          <a:noFill/>
          <a:effectLst>
            <a:outerShdw blurRad="12700" sx="1000" sy="1000" algn="tl" rotWithShape="0">
              <a:schemeClr val="accent1">
                <a:lumMod val="60000"/>
                <a:lumOff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ea typeface="微软雅黑" panose="020B0503020204020204" pitchFamily="34" charset="-122"/>
              </a:rPr>
              <a:t>SVM</a:t>
            </a:r>
            <a:r>
              <a:rPr lang="zh-CN" altLang="en-US" sz="2800" dirty="0">
                <a:latin typeface="Arial" panose="020B0604020202020204" pitchFamily="34" charset="0"/>
                <a:ea typeface="微软雅黑" panose="020B0503020204020204" pitchFamily="34" charset="-122"/>
              </a:rPr>
              <a:t>当中的核方法属于机器学习三要素中的哪一个？</a:t>
            </a:r>
          </a:p>
        </p:txBody>
      </p:sp>
      <p:pic>
        <p:nvPicPr>
          <p:cNvPr id="4" name="图片 3" descr="图片包含 游戏机, 画, 食物, 标志&#10;&#10;描述已自动生成">
            <a:extLst>
              <a:ext uri="{FF2B5EF4-FFF2-40B4-BE49-F238E27FC236}">
                <a16:creationId xmlns:a16="http://schemas.microsoft.com/office/drawing/2014/main" id="{7ECF30D8-F13D-1EA5-0B62-6EB9DABB98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B578BF-BCC5-BD84-A447-78264C7181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48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2599F2-036F-2435-8D0A-D54F64DC74DE}"/>
              </a:ext>
            </a:extLst>
          </p:cNvPr>
          <p:cNvSpPr txBox="1"/>
          <p:nvPr/>
        </p:nvSpPr>
        <p:spPr>
          <a:xfrm>
            <a:off x="2227447" y="3733800"/>
            <a:ext cx="830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模型。修改的是决策函数，</a:t>
            </a:r>
            <a:r>
              <a:rPr lang="en-US" altLang="zh-CN" sz="2800" dirty="0">
                <a:solidFill>
                  <a:srgbClr val="FF0000"/>
                </a:solidFill>
              </a:rPr>
              <a:t>x</a:t>
            </a:r>
            <a:r>
              <a:rPr lang="zh-CN" altLang="en-US" sz="2800" dirty="0">
                <a:solidFill>
                  <a:srgbClr val="FF0000"/>
                </a:solidFill>
              </a:rPr>
              <a:t>的内积被核函数替代。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8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0169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3620" y="2345095"/>
            <a:ext cx="10387025" cy="1106805"/>
          </a:xfrm>
          <a:prstGeom prst="rect">
            <a:avLst/>
          </a:prstGeom>
          <a:noFill/>
          <a:effectLst>
            <a:outerShdw blurRad="25400" dist="50800" dir="600000" algn="tl" rotWithShape="0">
              <a:schemeClr val="accent1">
                <a:lumMod val="60000"/>
                <a:lumOff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rgbClr val="11552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谢  谢  ！</a:t>
            </a:r>
          </a:p>
        </p:txBody>
      </p:sp>
      <p:pic>
        <p:nvPicPr>
          <p:cNvPr id="4" name="图片 3" descr="图片包含 游戏机, 画, 食物, 标志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619D1B-D755-473B-B5A6-3D3E6F0CF8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49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252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7AA5-A5EF-77AA-1EB0-E5A6413D9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9F88B4-D053-5320-44D5-AF9EE9FA2BAD}"/>
              </a:ext>
            </a:extLst>
          </p:cNvPr>
          <p:cNvSpPr txBox="1"/>
          <p:nvPr/>
        </p:nvSpPr>
        <p:spPr>
          <a:xfrm>
            <a:off x="1049153" y="2462819"/>
            <a:ext cx="10387025" cy="769441"/>
          </a:xfrm>
          <a:prstGeom prst="rect">
            <a:avLst/>
          </a:prstGeom>
          <a:noFill/>
          <a:effectLst>
            <a:outerShdw blurRad="12700" sx="1000" sy="1000" algn="tl" rotWithShape="0">
              <a:schemeClr val="accent1">
                <a:lumMod val="60000"/>
                <a:lumOff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问题与讨论环节</a:t>
            </a:r>
          </a:p>
        </p:txBody>
      </p:sp>
      <p:pic>
        <p:nvPicPr>
          <p:cNvPr id="4" name="图片 3" descr="图片包含 游戏机, 画, 食物, 标志&#10;&#10;描述已自动生成">
            <a:extLst>
              <a:ext uri="{FF2B5EF4-FFF2-40B4-BE49-F238E27FC236}">
                <a16:creationId xmlns:a16="http://schemas.microsoft.com/office/drawing/2014/main" id="{6986DFAB-9795-D42A-B7F8-C490766BFE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0314B1-59EF-0D34-8360-0756F82E26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Arial" panose="020B0604020202020204" pitchFamily="34" charset="0"/>
                <a:ea typeface="微软雅黑" panose="020B0503020204020204" pitchFamily="34" charset="-122"/>
              </a:rPr>
              <a:pPr marL="38100">
                <a:spcBef>
                  <a:spcPts val="45"/>
                </a:spcBef>
              </a:pPr>
              <a:t>50</a:t>
            </a:fld>
            <a:endParaRPr lang="en-US" altLang="zh-CN" spc="-5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58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10344</TotalTime>
  <Words>3748</Words>
  <Application>Microsoft Office PowerPoint</Application>
  <PresentationFormat>宽屏</PresentationFormat>
  <Paragraphs>519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Inter</vt:lpstr>
      <vt:lpstr>Menlo</vt:lpstr>
      <vt:lpstr>system-ui</vt:lpstr>
      <vt:lpstr>等线</vt:lpstr>
      <vt:lpstr>SimSun</vt:lpstr>
      <vt:lpstr>SimSun</vt:lpstr>
      <vt:lpstr>微软雅黑</vt:lpstr>
      <vt:lpstr>Arial</vt:lpstr>
      <vt:lpstr>Calibri</vt:lpstr>
      <vt:lpstr>Cambria</vt:lpstr>
      <vt:lpstr>Cambria Math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懿 费</cp:lastModifiedBy>
  <cp:revision>432</cp:revision>
  <dcterms:created xsi:type="dcterms:W3CDTF">2021-11-08T11:24:24Z</dcterms:created>
  <dcterms:modified xsi:type="dcterms:W3CDTF">2025-10-23T11:07:00Z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Acrobat PDFMaker 10.1 PowerPoint 版</vt:lpwstr>
  </property>
  <property fmtid="{D5CDD505-2E9C-101B-9397-08002B2CF9AE}" pid="3" name="ICV">
    <vt:lpwstr>FF2BB430853C4DD589440B9E6908D641</vt:lpwstr>
  </property>
  <property fmtid="{D5CDD505-2E9C-101B-9397-08002B2CF9AE}" pid="4" name="KSOProductBuildVer">
    <vt:lpwstr>1033-3.1.6.6275</vt:lpwstr>
  </property>
</Properties>
</file>