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14" r:id="rId2"/>
    <p:sldId id="512" r:id="rId3"/>
    <p:sldId id="516" r:id="rId4"/>
    <p:sldId id="548" r:id="rId5"/>
    <p:sldId id="517" r:id="rId6"/>
    <p:sldId id="518" r:id="rId7"/>
    <p:sldId id="519" r:id="rId8"/>
    <p:sldId id="520" r:id="rId9"/>
    <p:sldId id="526" r:id="rId10"/>
    <p:sldId id="527" r:id="rId11"/>
    <p:sldId id="528" r:id="rId12"/>
    <p:sldId id="539" r:id="rId13"/>
    <p:sldId id="530" r:id="rId14"/>
    <p:sldId id="531" r:id="rId15"/>
    <p:sldId id="545" r:id="rId16"/>
    <p:sldId id="547" r:id="rId17"/>
    <p:sldId id="533" r:id="rId18"/>
    <p:sldId id="541" r:id="rId19"/>
    <p:sldId id="534" r:id="rId20"/>
    <p:sldId id="542" r:id="rId21"/>
    <p:sldId id="536" r:id="rId22"/>
    <p:sldId id="544" r:id="rId23"/>
    <p:sldId id="538" r:id="rId24"/>
    <p:sldId id="445" r:id="rId25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8">
          <p15:clr>
            <a:srgbClr val="A4A3A4"/>
          </p15:clr>
        </p15:guide>
        <p15:guide id="2" pos="21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E451B"/>
    <a:srgbClr val="2027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3" autoAdjust="0"/>
    <p:restoredTop sz="73452" autoAdjust="0"/>
  </p:normalViewPr>
  <p:slideViewPr>
    <p:cSldViewPr>
      <p:cViewPr varScale="1">
        <p:scale>
          <a:sx n="96" d="100"/>
          <a:sy n="96" d="100"/>
        </p:scale>
        <p:origin x="72" y="516"/>
      </p:cViewPr>
      <p:guideLst>
        <p:guide orient="horz" pos="2898"/>
        <p:guide pos="21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552" y="6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E1CF3-1557-4903-AA7A-069E8B896DA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EAE90-66CF-41CD-86CF-AB39C198B2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2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9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有无监督学习的一大区别在于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-apple-system"/>
              </a:rPr>
              <a:t>定性时机先后的不同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。事先无法对样本进行准确的判定，需要建立和总结一定的规则模式后再定性的，属于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-apple-system"/>
              </a:rPr>
              <a:t>无监督学习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。相反，样本一开始就拥有“目标”标签的话，我们所进行的从特征到目标的建模，则是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-apple-system"/>
              </a:rPr>
              <a:t>有监督的学习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910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当时，闵科夫斯基距离即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曼哈顿距离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(Manhattan distance)</a:t>
            </a: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利用闵可夫斯基度量对高维数据进行聚类通常是无效的，因为样本之间的距离随着维数的增加而增加。余弦距离测量两个矢量之间的夹角，而不是两个矢量之间的幅值差。它适用于高维数据聚类时相似度测量。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324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22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444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987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72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四位牧师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（</a:t>
            </a:r>
            <a:r>
              <a:rPr lang="zh-CN" altLang="en-US" b="1" i="0" u="none" strike="noStrike" dirty="0">
                <a:solidFill>
                  <a:srgbClr val="535861"/>
                </a:solidFill>
                <a:effectLst/>
                <a:latin typeface="-apple-system"/>
              </a:rPr>
              <a:t>即</a:t>
            </a:r>
            <a:r>
              <a:rPr lang="en-US" altLang="zh-CN" b="1" i="0" u="none" strike="noStrike" dirty="0">
                <a:solidFill>
                  <a:srgbClr val="535861"/>
                </a:solidFill>
                <a:effectLst/>
                <a:latin typeface="-apple-system"/>
              </a:rPr>
              <a:t>K=4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）</a:t>
            </a: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去郊区布道，一开始牧师们随意选了几个布道点（即初始聚类中心），并且把这几个布道点的情况公告给了郊区所有的居民，于是每个居民到离自己家最近的布道点去听课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（</a:t>
            </a:r>
            <a:r>
              <a:rPr lang="zh-CN" altLang="en-US" b="1" i="0" u="none" strike="noStrike" dirty="0">
                <a:solidFill>
                  <a:srgbClr val="535861"/>
                </a:solidFill>
                <a:effectLst/>
                <a:latin typeface="-apple-system"/>
              </a:rPr>
              <a:t>样本分配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）</a:t>
            </a: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听课之后，大家觉得距离太远了，于是每个牧师统计了一下自己的课上所有的居民的地址，搬到了所有地址的中心地带，并且在海报上更新了自己的布道点的位置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（</a:t>
            </a:r>
            <a:r>
              <a:rPr lang="zh-CN" altLang="en-US" b="1" i="0" u="none" strike="noStrike" dirty="0">
                <a:solidFill>
                  <a:srgbClr val="535861"/>
                </a:solidFill>
                <a:effectLst/>
                <a:latin typeface="-apple-system"/>
              </a:rPr>
              <a:t>聚类中心的迁移和更新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）</a:t>
            </a: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牧师每一次移动不可能离所有人都更近，有的人发现</a:t>
            </a:r>
            <a:r>
              <a:rPr lang="en-US" altLang="zh-CN" b="0" i="0" dirty="0">
                <a:solidFill>
                  <a:srgbClr val="535861"/>
                </a:solidFill>
                <a:effectLst/>
                <a:latin typeface="-apple-system"/>
              </a:rPr>
              <a:t>A</a:t>
            </a: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牧师移动以后自己还不如去</a:t>
            </a:r>
            <a:r>
              <a:rPr lang="en-US" altLang="zh-CN" b="0" i="0" dirty="0">
                <a:solidFill>
                  <a:srgbClr val="535861"/>
                </a:solidFill>
                <a:effectLst/>
                <a:latin typeface="-apple-system"/>
              </a:rPr>
              <a:t>B</a:t>
            </a: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牧师处听课更近，于是每个居民又去了离自己最近的布道点</a:t>
            </a:r>
            <a:r>
              <a:rPr lang="en-US" altLang="zh-CN" b="0" i="0" dirty="0">
                <a:solidFill>
                  <a:srgbClr val="535861"/>
                </a:solidFill>
                <a:effectLst/>
                <a:latin typeface="-apple-system"/>
              </a:rPr>
              <a:t>……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就这样，牧师每个礼拜更新自己的位置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（聚类</a:t>
            </a:r>
            <a:r>
              <a:rPr lang="zh-CN" altLang="en-US" b="1" i="0" u="none" strike="noStrike" dirty="0">
                <a:solidFill>
                  <a:srgbClr val="535861"/>
                </a:solidFill>
                <a:effectLst/>
                <a:latin typeface="-apple-system"/>
              </a:rPr>
              <a:t>迭代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）</a:t>
            </a:r>
            <a:r>
              <a:rPr lang="zh-CN" altLang="en-US" b="0" i="0" dirty="0">
                <a:solidFill>
                  <a:srgbClr val="535861"/>
                </a:solidFill>
                <a:effectLst/>
                <a:latin typeface="-apple-system"/>
              </a:rPr>
              <a:t>，居民根据自己的情况选择布道点，最终稳定了下来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（</a:t>
            </a:r>
            <a:r>
              <a:rPr lang="zh-CN" altLang="en-US" b="1" i="0" u="none" strike="noStrike" dirty="0">
                <a:solidFill>
                  <a:srgbClr val="535861"/>
                </a:solidFill>
                <a:effectLst/>
                <a:latin typeface="-apple-system"/>
              </a:rPr>
              <a:t>聚类完成</a:t>
            </a:r>
            <a:r>
              <a:rPr lang="zh-CN" altLang="en-US" b="1" i="0" dirty="0">
                <a:solidFill>
                  <a:srgbClr val="535861"/>
                </a:solidFill>
                <a:effectLst/>
                <a:latin typeface="-apple-system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391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882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171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可改用</a:t>
            </a:r>
            <a:r>
              <a:rPr lang="en-US" altLang="zh-CN" dirty="0"/>
              <a:t>K-Medoids</a:t>
            </a:r>
            <a:r>
              <a:rPr lang="zh-CN" altLang="en-US" dirty="0"/>
              <a:t>算法 ，它用“中位数”样本点而不是“平均值”样本点作为中心，更稳健</a:t>
            </a:r>
            <a:endParaRPr lang="en-US" altLang="zh-CN" dirty="0"/>
          </a:p>
          <a:p>
            <a:r>
              <a:rPr lang="zh-CN" altLang="en-US" b="1" dirty="0"/>
              <a:t>只能分“圆形”的类：</a:t>
            </a:r>
            <a:r>
              <a:rPr lang="zh-CN" altLang="en-US" dirty="0"/>
              <a:t> </a:t>
            </a:r>
            <a:r>
              <a:rPr lang="en-US" altLang="zh-CN" dirty="0"/>
              <a:t>K-Means</a:t>
            </a:r>
            <a:r>
              <a:rPr lang="zh-CN" altLang="en-US" dirty="0"/>
              <a:t>是基于欧氏距离 的，它倾向于找到大小相似、球状（</a:t>
            </a:r>
            <a:r>
              <a:rPr lang="en-US" altLang="zh-CN" dirty="0"/>
              <a:t>Glove-shaped</a:t>
            </a:r>
            <a:r>
              <a:rPr lang="zh-CN" altLang="en-US" dirty="0"/>
              <a:t>）的簇。如果你的数据天然是“月牙形”或“甜甜圈形”的，</a:t>
            </a:r>
            <a:r>
              <a:rPr lang="en-US" altLang="zh-CN" dirty="0"/>
              <a:t>K-Means</a:t>
            </a:r>
            <a:r>
              <a:rPr lang="zh-CN" altLang="en-US" dirty="0"/>
              <a:t>的效果会很差。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566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911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781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000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118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314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55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311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选择 </a:t>
            </a:r>
            <a:r>
              <a:rPr lang="en-US" altLang="zh-CN" b="1" dirty="0" err="1"/>
              <a:t>diana</a:t>
            </a:r>
            <a:r>
              <a:rPr lang="en-US" altLang="zh-CN" b="1" dirty="0"/>
              <a:t> (</a:t>
            </a:r>
            <a:r>
              <a:rPr lang="zh-CN" altLang="en-US" b="1" dirty="0"/>
              <a:t>分裂聚类</a:t>
            </a:r>
            <a:r>
              <a:rPr lang="en-US" altLang="zh-CN" b="1" dirty="0"/>
              <a:t>)</a:t>
            </a:r>
            <a:r>
              <a:rPr lang="zh-CN" altLang="en-US" b="1" dirty="0"/>
              <a:t>：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当你</a:t>
            </a:r>
            <a:r>
              <a:rPr lang="zh-CN" altLang="en-US" b="1" dirty="0"/>
              <a:t>不关心小的、零散的簇</a:t>
            </a:r>
            <a:r>
              <a:rPr lang="zh-CN" altLang="en-US" dirty="0"/>
              <a:t>，而是想</a:t>
            </a:r>
            <a:r>
              <a:rPr lang="zh-CN" altLang="en-US" b="1" dirty="0"/>
              <a:t>首先识别出数据中最大、最主要的几个分组</a:t>
            </a:r>
            <a:r>
              <a:rPr lang="zh-CN" altLang="en-US" dirty="0"/>
              <a:t>时（比如“健康人群” </a:t>
            </a:r>
            <a:r>
              <a:rPr lang="en-US" altLang="zh-CN" dirty="0"/>
              <a:t>vs “</a:t>
            </a:r>
            <a:r>
              <a:rPr lang="zh-CN" altLang="en-US" dirty="0"/>
              <a:t>疾病人群”）。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当你的数据量不大（如几百或几千个样本），可以承受其更高的计算成本时。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当你怀疑数据中存在一个非常大的主簇和几个小的“卫星”簇时，</a:t>
            </a:r>
            <a:r>
              <a:rPr lang="en-US" altLang="zh-CN" dirty="0"/>
              <a:t>DIANA</a:t>
            </a:r>
            <a:r>
              <a:rPr lang="zh-CN" altLang="en-US" dirty="0"/>
              <a:t>可能会给出比 </a:t>
            </a:r>
            <a:r>
              <a:rPr lang="en-US" altLang="zh-CN" dirty="0"/>
              <a:t>ward.D2 </a:t>
            </a:r>
            <a:r>
              <a:rPr lang="zh-CN" altLang="en-US" dirty="0"/>
              <a:t>更有意义的结果。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805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7617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65E5E-3078-4BFF-ACDF-4DF89B4A01A0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48A4A-F9CD-4C01-946A-2CCCC9F443B2}" type="datetime1">
              <a:rPr lang="en-US" altLang="zh-CN" smtClean="0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C3B23-CF71-4261-9781-986BA6C334DD}" type="datetime1">
              <a:rPr lang="en-US" altLang="zh-CN" smtClean="0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CD487-E2B2-4E8B-8070-0F31549F4F99}" type="datetime1">
              <a:rPr lang="en-US" altLang="zh-CN" smtClean="0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C0987-B437-4014-8445-36DDD162A75C}" type="datetime1">
              <a:rPr lang="en-US" altLang="zh-CN" smtClean="0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85F46-8E67-46B8-AD13-08EBD43727A4}" type="datetime1">
              <a:rPr lang="en-US" altLang="zh-CN" smtClean="0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7E55-CB4D-4E60-A244-EE8B97B13CC8}" type="datetime1">
              <a:rPr lang="en-US" altLang="zh-CN" smtClean="0"/>
              <a:t>10/30/2025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41060A-B4F9-43A1-9C54-EEC2C3C9E745}" type="slidenum">
              <a:rPr lang="zh-CN" altLang="en-US">
                <a:solidFill>
                  <a:srgbClr val="003366"/>
                </a:solidFill>
              </a:rPr>
              <a:t>‹#›</a:t>
            </a:fld>
            <a:endParaRPr lang="en-US" altLang="zh-CN">
              <a:solidFill>
                <a:srgbClr val="003366"/>
              </a:solidFill>
            </a:endParaRPr>
          </a:p>
        </p:txBody>
      </p:sp>
    </p:spTree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4" y="6256020"/>
            <a:ext cx="12188951" cy="1097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96205" y="477205"/>
            <a:ext cx="5999588" cy="1005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bg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1021" y="1224804"/>
            <a:ext cx="6453505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SimSun" panose="02010600030101010101" pitchFamily="2" charset="-122"/>
                <a:cs typeface="SimSun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6EFB-8F6A-4F48-8625-F778D4CB8899}" type="datetime1">
              <a:rPr lang="en-US" altLang="zh-CN" smtClean="0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5276" y="6453264"/>
            <a:ext cx="80472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514A40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‹#›</a:t>
            </a:fld>
            <a:endParaRPr lang="en-US" altLang="zh-CN"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49" b="60669"/>
          <a:stretch>
            <a:fillRect/>
          </a:stretch>
        </p:blipFill>
        <p:spPr>
          <a:xfrm>
            <a:off x="0" y="536121"/>
            <a:ext cx="4401879" cy="2366567"/>
          </a:xfrm>
          <a:prstGeom prst="rect">
            <a:avLst/>
          </a:prstGeom>
        </p:spPr>
      </p:pic>
      <p:pic>
        <p:nvPicPr>
          <p:cNvPr id="6" name="图片 5" descr="图片包含 看着, 女人, 房间, 食物&#10;&#10;描述已自动生成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9" b="28461"/>
          <a:stretch>
            <a:fillRect/>
          </a:stretch>
        </p:blipFill>
        <p:spPr>
          <a:xfrm>
            <a:off x="0" y="1531999"/>
            <a:ext cx="12191999" cy="128740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00099" y="1540143"/>
            <a:ext cx="10591800" cy="106984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8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cs typeface="+mn-ea"/>
                <a:sym typeface="+mn-lt"/>
              </a:rPr>
              <a:t>无监督学习</a:t>
            </a:r>
            <a:endParaRPr lang="en-US" altLang="zh-CN" sz="48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81400" y="3537598"/>
            <a:ext cx="5307331" cy="2324287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cs typeface="+mn-ea"/>
                <a:sym typeface="+mn-lt"/>
              </a:rPr>
              <a:t>中山大学公共卫生学院</a:t>
            </a:r>
            <a:endParaRPr lang="en-US" altLang="zh-CN" sz="3600" dirty="0">
              <a:solidFill>
                <a:schemeClr val="accent6">
                  <a:lumMod val="50000"/>
                </a:schemeClr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3600" b="1" dirty="0">
                <a:solidFill>
                  <a:srgbClr val="115522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cs typeface="+mn-ea"/>
                <a:sym typeface="+mn-lt"/>
              </a:rPr>
              <a:t>王康</a:t>
            </a:r>
            <a:endParaRPr lang="en-US" altLang="zh-CN" sz="3600" b="1" dirty="0">
              <a:solidFill>
                <a:srgbClr val="115522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（2</a:t>
            </a:r>
            <a:r>
              <a:rPr lang="zh-CN" altLang="en-US" sz="2800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02</a:t>
            </a:r>
            <a:r>
              <a:rPr lang="en-US" altLang="zh-CN" sz="2800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dirty="0">
                <a:solidFill>
                  <a:srgbClr val="013718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级流行病与卫生统计学硕）</a:t>
            </a:r>
            <a:endParaRPr lang="zh-CN" altLang="en-US" sz="2800" b="1" dirty="0">
              <a:solidFill>
                <a:srgbClr val="013718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图片包含 游戏机, 画, 食物, 标志&#10;&#10;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625276" y="6453264"/>
            <a:ext cx="804724" cy="276999"/>
          </a:xfrm>
        </p:spPr>
        <p:txBody>
          <a:bodyPr/>
          <a:lstStyle/>
          <a:p>
            <a:fld id="{565CE74E-AB26-4998-AD42-012C4C1AD076}" type="slidenum">
              <a:rPr lang="zh-CN" altLang="en-US" smtClean="0">
                <a:latin typeface="+mn-lt"/>
                <a:ea typeface="+mn-ea"/>
                <a:cs typeface="+mn-ea"/>
                <a:sym typeface="+mn-lt"/>
              </a:rPr>
              <a:t>1</a:t>
            </a:fld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839239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1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无监督学习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CDCB64-109D-0B6C-0AB5-12217DB600AA}"/>
              </a:ext>
            </a:extLst>
          </p:cNvPr>
          <p:cNvSpPr txBox="1"/>
          <p:nvPr/>
        </p:nvSpPr>
        <p:spPr>
          <a:xfrm>
            <a:off x="1219200" y="1447800"/>
            <a:ext cx="952500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尽管当今机器学习的大部分应用都基于监督学习（因此，大部分投资也投向了监督学习），但绝大多数可用数据都是无标签的：我们有输入特征</a:t>
            </a:r>
            <a:r>
              <a:rPr lang="en-US" altLang="zh-CN" b="1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X</a:t>
            </a:r>
            <a:r>
              <a:rPr lang="zh-CN" altLang="en-US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，但没有标签</a:t>
            </a:r>
            <a:r>
              <a:rPr lang="en-US" altLang="zh-CN" b="1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Y</a:t>
            </a:r>
            <a:r>
              <a:rPr lang="zh-CN" altLang="en-US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。</a:t>
            </a:r>
            <a:r>
              <a:rPr lang="en-US" altLang="zh-CN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“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如果智能是一块蛋糕，那么无监督学习就是蛋糕，监督学习就是蛋糕上的糖霜，而强化学习则是蛋糕上的樱桃</a:t>
            </a:r>
            <a:r>
              <a:rPr lang="en-US" altLang="zh-CN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"</a:t>
            </a:r>
            <a:r>
              <a:rPr lang="zh-CN" altLang="en-US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。换句话说，无监督学习有着巨大的潜力，而我们才刚刚开始涉足。</a:t>
            </a:r>
            <a:endParaRPr lang="en-US" altLang="zh-CN" b="0" i="0" dirty="0"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                                         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                                                                                                         </a:t>
            </a:r>
            <a:r>
              <a:rPr lang="zh-CN" altLang="en-US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计算机科学家 </a:t>
            </a:r>
            <a:r>
              <a:rPr lang="en-US" altLang="zh-CN" b="0" i="0" dirty="0">
                <a:solidFill>
                  <a:srgbClr val="000000"/>
                </a:solidFill>
                <a:effectLst/>
                <a:cs typeface="+mn-ea"/>
                <a:sym typeface="+mn-lt"/>
              </a:rPr>
              <a:t>Yann LeCun 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0347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3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5493812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1.1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无监督学习和监督学习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BB262-C79E-9118-05D6-FCEB4DC2C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23701"/>
            <a:ext cx="9552863" cy="5179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监督学习是一种目的明确的训练方式，你知道得到的是什么；而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无监督学习则是没有明确目的的训练方式，你无法提前知道结果是什么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。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监督学习需要给数据打标签；而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无监督学习不需要给数据打标签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。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监督学习由于目标明确，所以可以衡量效果；而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无监督学习几乎无法量化效果如何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+mj-ea"/>
                <a:ea typeface="+mj-ea"/>
              </a:rPr>
              <a:t>。</a:t>
            </a:r>
          </a:p>
          <a:p>
            <a:pPr algn="l"/>
            <a:b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</a:b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聚类：简单说就是一种自动分类的方法，在监督学习中，你很清楚每一个分类是什么，但是聚类则不是，你并不清楚聚类后的几个分类每个代表什么意思。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降维：降维看上去很像压缩。这是为了在尽可能保存相关的结构的同时降低数据的复杂度。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35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4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377574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2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聚类分析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0B8806-62A8-566D-F9C1-7870270B6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355" y="1092829"/>
            <a:ext cx="8307289" cy="518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53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5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377574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2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聚类分析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A38E98-ABCD-BDDE-5FF6-DBB8D971CAFD}"/>
              </a:ext>
            </a:extLst>
          </p:cNvPr>
          <p:cNvSpPr txBox="1"/>
          <p:nvPr/>
        </p:nvSpPr>
        <p:spPr>
          <a:xfrm>
            <a:off x="783534" y="1553971"/>
            <a:ext cx="9554682" cy="3332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聚类分析是无监督学习，相当于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”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物以类聚</a:t>
            </a:r>
            <a:r>
              <a:rPr lang="en-US" altLang="zh-CN" dirty="0">
                <a:solidFill>
                  <a:srgbClr val="23373B"/>
                </a:solidFill>
                <a:latin typeface="+mj-ea"/>
                <a:ea typeface="+mj-ea"/>
                <a:cs typeface="+mn-ea"/>
                <a:sym typeface="+mn-lt"/>
              </a:rPr>
              <a:t>”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，事先并不知道类别的个数与结构，根据对象之间的相似性或相异性（距离度量）对研究对象进行分类。 </a:t>
            </a:r>
            <a:endParaRPr lang="zh-CN" altLang="en-US" dirty="0"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通常所说的聚类分析是指样本聚类（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Q 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型）：将每个观测看作空间中的一个点，计算两两观测之间的距离或相似度（距离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相异度矩阵），将距离或相似度接近的点聚合成一类。 </a:t>
            </a:r>
            <a:endParaRPr lang="zh-CN" altLang="en-US" dirty="0"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常用聚类分析的算法有：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K-means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、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K-Medoids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、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DBSCAN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（基于密度）、 层次聚类、谱聚类、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EM 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聚类等。 </a:t>
            </a:r>
          </a:p>
        </p:txBody>
      </p:sp>
    </p:spTree>
    <p:extLst>
      <p:ext uri="{BB962C8B-B14F-4D97-AF65-F5344CB8AC3E}">
        <p14:creationId xmlns:p14="http://schemas.microsoft.com/office/powerpoint/2010/main" val="413020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6</a:t>
            </a:fld>
            <a:endParaRPr lang="en-US" altLang="zh-CN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6481261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2.1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距离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/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相异度度量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-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有序属性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EDDBA6-04DE-B0C7-BA87-46608DB4541D}"/>
              </a:ext>
            </a:extLst>
          </p:cNvPr>
          <p:cNvSpPr txBox="1"/>
          <p:nvPr/>
        </p:nvSpPr>
        <p:spPr>
          <a:xfrm>
            <a:off x="1371600" y="1447800"/>
            <a:ext cx="9067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聚类分析中，距离</a:t>
            </a: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相异度度量的选择至关重要，因为它会很大程度地影响聚类结果。对两个观测 </a:t>
            </a: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𝑥</a:t>
            </a: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, 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𝑦</a:t>
            </a: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), 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介绍几种常用的距离度量。 </a:t>
            </a:r>
            <a:endParaRPr lang="zh-CN" altLang="en-US" dirty="0">
              <a:cs typeface="+mn-ea"/>
              <a:sym typeface="+mn-lt"/>
            </a:endParaRPr>
          </a:p>
          <a:p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cs typeface="+mn-ea"/>
                <a:sym typeface="+mn-lt"/>
              </a:rPr>
              <a:t>闵可夫斯基距离</a:t>
            </a:r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endParaRPr lang="en-US" altLang="zh-CN" dirty="0">
              <a:solidFill>
                <a:srgbClr val="121212"/>
              </a:solidFill>
              <a:cs typeface="+mn-ea"/>
              <a:sym typeface="+mn-lt"/>
            </a:endParaRP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cs typeface="+mn-ea"/>
                <a:sym typeface="+mn-lt"/>
              </a:rPr>
              <a:t>欧式距离</a:t>
            </a:r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endParaRPr lang="en-US" altLang="zh-CN" dirty="0">
              <a:solidFill>
                <a:srgbClr val="121212"/>
              </a:solidFill>
              <a:cs typeface="+mn-ea"/>
              <a:sym typeface="+mn-lt"/>
            </a:endParaRP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cs typeface="+mn-ea"/>
                <a:sym typeface="+mn-lt"/>
              </a:rPr>
              <a:t>切比雪夫距离</a:t>
            </a:r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endParaRPr lang="en-US" altLang="zh-CN" dirty="0">
              <a:solidFill>
                <a:srgbClr val="121212"/>
              </a:solidFill>
              <a:cs typeface="+mn-ea"/>
              <a:sym typeface="+mn-lt"/>
            </a:endParaRPr>
          </a:p>
          <a:p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cs typeface="+mn-ea"/>
                <a:sym typeface="+mn-lt"/>
              </a:rPr>
              <a:t>曼哈顿距离</a:t>
            </a:r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endParaRPr lang="en-US" altLang="zh-CN" b="0" i="0" dirty="0">
              <a:solidFill>
                <a:srgbClr val="121212"/>
              </a:solidFill>
              <a:effectLst/>
              <a:cs typeface="+mn-ea"/>
              <a:sym typeface="+mn-lt"/>
            </a:endParaRPr>
          </a:p>
          <a:p>
            <a:endParaRPr lang="en-US" altLang="zh-CN" dirty="0">
              <a:solidFill>
                <a:srgbClr val="121212"/>
              </a:solidFill>
              <a:cs typeface="+mn-ea"/>
              <a:sym typeface="+mn-lt"/>
            </a:endParaRPr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cs typeface="+mn-ea"/>
                <a:sym typeface="+mn-lt"/>
              </a:rPr>
              <a:t>余弦距离等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2DAAB29-0AE0-12D4-3A86-C76CA3988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93" y="2208714"/>
            <a:ext cx="5296668" cy="96549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96246660-4A69-E668-16CE-A0A7D2974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870492"/>
            <a:ext cx="3804233" cy="78374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A6E273B-197A-62F8-CAE0-83A5CD071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40052"/>
            <a:ext cx="3974911" cy="91074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F97186FE-532F-986D-C54D-F75412AAB3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5670584"/>
            <a:ext cx="2433893" cy="73623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2AD5EA0-A2F2-0B22-98DA-7DC9FBA540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93" y="4027927"/>
            <a:ext cx="5105400" cy="884720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3A946628-6024-4CB8-80A9-4B881D10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6205" y="477205"/>
            <a:ext cx="5999588" cy="453970"/>
          </a:xfrm>
        </p:spPr>
        <p:txBody>
          <a:bodyPr/>
          <a:lstStyle/>
          <a:p>
            <a:r>
              <a:rPr lang="en-US" altLang="zh-CN" dirty="0"/>
              <a:t>\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705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7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3300904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2.2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数据标准化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21AA64-46C2-AB47-9B85-BB37FA4DD8E2}"/>
              </a:ext>
            </a:extLst>
          </p:cNvPr>
          <p:cNvSpPr txBox="1"/>
          <p:nvPr/>
        </p:nvSpPr>
        <p:spPr>
          <a:xfrm>
            <a:off x="922958" y="1592717"/>
            <a:ext cx="97450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数据不能有缺失值，当变量的量纲不同时，非常有必要对数据做标准化 处理，目的是使其具有可比性：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C90CAC0-3441-50CE-07BF-91D45CE5F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089" y="2523563"/>
            <a:ext cx="3241676" cy="126029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C4251ED-6EB8-973A-8C0A-CC7502CF88D8}"/>
              </a:ext>
            </a:extLst>
          </p:cNvPr>
          <p:cNvSpPr txBox="1"/>
          <p:nvPr/>
        </p:nvSpPr>
        <p:spPr>
          <a:xfrm>
            <a:off x="1295400" y="4114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对于标准化数据，欧氏距离与相关系数具有如下函数关系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0990B41-3B98-A552-53FA-F63F1EC91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4618953"/>
            <a:ext cx="6196455" cy="124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1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8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5609228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2.3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计算样本间的距离矩阵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FC7739-EDD3-1F41-E8B5-D4F77E334BEC}"/>
              </a:ext>
            </a:extLst>
          </p:cNvPr>
          <p:cNvSpPr txBox="1"/>
          <p:nvPr/>
        </p:nvSpPr>
        <p:spPr>
          <a:xfrm>
            <a:off x="742162" y="1653296"/>
            <a:ext cx="9621038" cy="378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距离矩阵就是一个 </a:t>
            </a:r>
            <a:r>
              <a:rPr lang="en-US" altLang="zh-CN" dirty="0">
                <a:latin typeface="+mj-ea"/>
                <a:ea typeface="+mj-ea"/>
              </a:rPr>
              <a:t>N * N </a:t>
            </a:r>
            <a:r>
              <a:rPr lang="zh-CN" altLang="en-US" dirty="0">
                <a:latin typeface="+mj-ea"/>
                <a:ea typeface="+mj-ea"/>
              </a:rPr>
              <a:t>的方阵（一个正方形的表格），它唯一的目的就是存储每一对样本（患者）之间的距离（或“不相似度”）。</a:t>
            </a: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br>
              <a:rPr lang="en-US" altLang="zh-CN" dirty="0">
                <a:latin typeface="+mj-ea"/>
                <a:ea typeface="+mj-ea"/>
              </a:rPr>
            </a:br>
            <a:r>
              <a:rPr lang="zh-CN" altLang="en-US" dirty="0">
                <a:latin typeface="+mj-ea"/>
                <a:ea typeface="+mj-ea"/>
              </a:rPr>
              <a:t>计算样本间距离的方法可参见前面的距离度量内容，使用特定距离计算方式计算获得距离矩阵</a:t>
            </a: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具有以下特性：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它是一个 </a:t>
            </a:r>
            <a:r>
              <a:rPr lang="en-US" altLang="zh-CN" dirty="0">
                <a:latin typeface="+mj-ea"/>
                <a:ea typeface="+mj-ea"/>
              </a:rPr>
              <a:t>N * N</a:t>
            </a:r>
            <a:r>
              <a:rPr lang="zh-CN" altLang="en-US" dirty="0">
                <a:latin typeface="+mj-ea"/>
                <a:ea typeface="+mj-ea"/>
              </a:rPr>
              <a:t>方阵：行和列都是你的 </a:t>
            </a:r>
            <a:r>
              <a:rPr lang="en-US" altLang="zh-CN" dirty="0">
                <a:latin typeface="+mj-ea"/>
                <a:ea typeface="+mj-ea"/>
              </a:rPr>
              <a:t>N</a:t>
            </a:r>
            <a:r>
              <a:rPr lang="zh-CN" altLang="en-US" dirty="0">
                <a:latin typeface="+mj-ea"/>
                <a:ea typeface="+mj-ea"/>
              </a:rPr>
              <a:t>个样本。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对角线永远是 </a:t>
            </a:r>
            <a:r>
              <a:rPr lang="en-US" altLang="zh-CN" dirty="0">
                <a:latin typeface="+mj-ea"/>
                <a:ea typeface="+mj-ea"/>
              </a:rPr>
              <a:t>0</a:t>
            </a:r>
            <a:r>
              <a:rPr lang="zh-CN" altLang="en-US" dirty="0">
                <a:latin typeface="+mj-ea"/>
                <a:ea typeface="+mj-ea"/>
              </a:rPr>
              <a:t>：因为任何一个样本与它“自己”的距离都是 </a:t>
            </a:r>
            <a:r>
              <a:rPr lang="en-US" altLang="zh-CN" dirty="0">
                <a:latin typeface="+mj-ea"/>
                <a:ea typeface="+mj-ea"/>
              </a:rPr>
              <a:t>0 ( </a:t>
            </a:r>
            <a:r>
              <a:rPr lang="en-US" altLang="zh-CN" dirty="0" err="1">
                <a:latin typeface="+mj-ea"/>
                <a:ea typeface="+mj-ea"/>
              </a:rPr>
              <a:t>dist</a:t>
            </a:r>
            <a:r>
              <a:rPr lang="en-US" altLang="zh-CN" dirty="0">
                <a:latin typeface="+mj-ea"/>
                <a:ea typeface="+mj-ea"/>
              </a:rPr>
              <a:t>(P1, P1) = 0 )</a:t>
            </a:r>
            <a:r>
              <a:rPr lang="zh-CN" altLang="en-US" dirty="0">
                <a:latin typeface="+mj-ea"/>
                <a:ea typeface="+mj-ea"/>
              </a:rPr>
              <a:t>。</a:t>
            </a:r>
            <a:endParaRPr lang="en-US" altLang="zh-CN" dirty="0"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它是对称的：</a:t>
            </a:r>
            <a:r>
              <a:rPr lang="en-US" altLang="zh-CN" dirty="0">
                <a:latin typeface="+mj-ea"/>
                <a:ea typeface="+mj-ea"/>
              </a:rPr>
              <a:t>P1 </a:t>
            </a:r>
            <a:r>
              <a:rPr lang="zh-CN" altLang="en-US" dirty="0">
                <a:latin typeface="+mj-ea"/>
                <a:ea typeface="+mj-ea"/>
              </a:rPr>
              <a:t>到 </a:t>
            </a:r>
            <a:r>
              <a:rPr lang="en-US" altLang="zh-CN" dirty="0">
                <a:latin typeface="+mj-ea"/>
                <a:ea typeface="+mj-ea"/>
              </a:rPr>
              <a:t>P2 </a:t>
            </a:r>
            <a:r>
              <a:rPr lang="zh-CN" altLang="en-US" dirty="0">
                <a:latin typeface="+mj-ea"/>
                <a:ea typeface="+mj-ea"/>
              </a:rPr>
              <a:t>的距离 </a:t>
            </a:r>
            <a:r>
              <a:rPr lang="en-US" altLang="zh-CN" dirty="0">
                <a:latin typeface="+mj-ea"/>
                <a:ea typeface="+mj-ea"/>
              </a:rPr>
              <a:t>(10.2) </a:t>
            </a:r>
            <a:r>
              <a:rPr lang="zh-CN" altLang="en-US" dirty="0">
                <a:latin typeface="+mj-ea"/>
                <a:ea typeface="+mj-ea"/>
              </a:rPr>
              <a:t>与 </a:t>
            </a:r>
            <a:r>
              <a:rPr lang="en-US" altLang="zh-CN" dirty="0">
                <a:latin typeface="+mj-ea"/>
                <a:ea typeface="+mj-ea"/>
              </a:rPr>
              <a:t>P2 </a:t>
            </a:r>
            <a:r>
              <a:rPr lang="zh-CN" altLang="en-US" dirty="0">
                <a:latin typeface="+mj-ea"/>
                <a:ea typeface="+mj-ea"/>
              </a:rPr>
              <a:t>到 </a:t>
            </a:r>
            <a:r>
              <a:rPr lang="en-US" altLang="zh-CN" dirty="0">
                <a:latin typeface="+mj-ea"/>
                <a:ea typeface="+mj-ea"/>
              </a:rPr>
              <a:t>P1 </a:t>
            </a:r>
            <a:r>
              <a:rPr lang="zh-CN" altLang="en-US" dirty="0">
                <a:latin typeface="+mj-ea"/>
                <a:ea typeface="+mj-ea"/>
              </a:rPr>
              <a:t>的距离 </a:t>
            </a:r>
            <a:r>
              <a:rPr lang="en-US" altLang="zh-CN" dirty="0">
                <a:latin typeface="+mj-ea"/>
                <a:ea typeface="+mj-ea"/>
              </a:rPr>
              <a:t>(10.2) </a:t>
            </a:r>
            <a:r>
              <a:rPr lang="zh-CN" altLang="en-US" dirty="0">
                <a:latin typeface="+mj-ea"/>
                <a:ea typeface="+mj-ea"/>
              </a:rPr>
              <a:t>必然相等。</a:t>
            </a:r>
          </a:p>
        </p:txBody>
      </p:sp>
    </p:spTree>
    <p:extLst>
      <p:ext uri="{BB962C8B-B14F-4D97-AF65-F5344CB8AC3E}">
        <p14:creationId xmlns:p14="http://schemas.microsoft.com/office/powerpoint/2010/main" val="355972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9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710999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3 K-MEANS</a:t>
            </a:r>
            <a:endParaRPr lang="zh-CN" altLang="en-US" sz="3600" b="1" dirty="0">
              <a:solidFill>
                <a:srgbClr val="115522"/>
              </a:solidFill>
              <a:cs typeface="+mn-ea"/>
              <a:sym typeface="+mn-lt"/>
            </a:endParaRP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E2DFF3-B4CF-8A92-00C8-DBF6E115A7AA}"/>
              </a:ext>
            </a:extLst>
          </p:cNvPr>
          <p:cNvSpPr txBox="1"/>
          <p:nvPr/>
        </p:nvSpPr>
        <p:spPr>
          <a:xfrm>
            <a:off x="990600" y="1623301"/>
            <a:ext cx="8765879" cy="33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K-means 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的目标是将数据集划分为 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K 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个簇（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clusters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），使得每个数据点属于距离最近的簇中心。通过反复调整簇中心的位置，</a:t>
            </a:r>
            <a:r>
              <a:rPr lang="en-US" altLang="zh-CN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K-means 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不断优化簇内的紧密度，从而获得尽量紧凑、彼此分离的簇。</a:t>
            </a:r>
            <a:endParaRPr lang="en-US" altLang="zh-CN" dirty="0">
              <a:solidFill>
                <a:srgbClr val="23373B"/>
              </a:solidFill>
              <a:effectLst/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簇（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Cluster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）：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将给定数据集划分为 𝐾 个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簇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（群集），其中 𝐾 为预先指定的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簇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数。分类依据是使同一类中的样本尽可能相似（类内高相似度），而来自不同类的样本尽可能不相似（类间高相异度）。 </a:t>
            </a:r>
            <a:endParaRPr lang="zh-CN" altLang="en-US" dirty="0">
              <a:latin typeface="+mj-ea"/>
              <a:ea typeface="+mj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簇中心（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Centroid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）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：簇中心是簇中所有点的平均值，表示簇的中心位置。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每个类用其</a:t>
            </a:r>
            <a:r>
              <a:rPr lang="zh-CN" altLang="en-US" b="1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中心</a:t>
            </a:r>
            <a:r>
              <a:rPr lang="zh-CN" altLang="en-US" dirty="0">
                <a:solidFill>
                  <a:srgbClr val="23373B"/>
                </a:solidFill>
                <a:effectLst/>
                <a:latin typeface="+mj-ea"/>
                <a:ea typeface="+mj-ea"/>
                <a:cs typeface="+mn-ea"/>
                <a:sym typeface="+mn-lt"/>
              </a:rPr>
              <a:t>表示，即分配给该类的所有样本的平均值样本。</a:t>
            </a:r>
            <a:endParaRPr lang="zh-CN" altLang="en-US" dirty="0">
              <a:latin typeface="+mj-ea"/>
              <a:ea typeface="+mj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8112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10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4095993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3.1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K-MEANS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原理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E2DFF3-B4CF-8A92-00C8-DBF6E115A7AA}"/>
              </a:ext>
            </a:extLst>
          </p:cNvPr>
          <p:cNvSpPr txBox="1"/>
          <p:nvPr/>
        </p:nvSpPr>
        <p:spPr>
          <a:xfrm>
            <a:off x="911520" y="1447800"/>
            <a:ext cx="876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K-means 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聚类的基本思想，就是让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总类内离差平方和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达到最小，标准算法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类内离差平方和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定义为类内各样本到该类中心的欧氏距离的平方和：</a:t>
            </a:r>
            <a:endParaRPr lang="zh-CN" altLang="en-US" dirty="0"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10E85A-D11A-0980-2F78-BB3751D2EEF8}"/>
              </a:ext>
            </a:extLst>
          </p:cNvPr>
          <p:cNvSpPr txBox="1"/>
          <p:nvPr/>
        </p:nvSpPr>
        <p:spPr>
          <a:xfrm>
            <a:off x="794264" y="3962400"/>
            <a:ext cx="8765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每个样本 </a:t>
            </a:r>
            <a:r>
              <a:rPr lang="zh-CN" altLang="en-US" sz="3200" dirty="0">
                <a:solidFill>
                  <a:srgbClr val="23373B"/>
                </a:solidFill>
                <a:effectLst/>
                <a:cs typeface="+mn-ea"/>
                <a:sym typeface="+mn-lt"/>
              </a:rPr>
              <a:t>𝑥</a:t>
            </a:r>
            <a:r>
              <a:rPr lang="zh-CN" altLang="en-US" sz="800" dirty="0">
                <a:solidFill>
                  <a:srgbClr val="23373B"/>
                </a:solidFill>
                <a:effectLst/>
                <a:cs typeface="+mn-ea"/>
                <a:sym typeface="+mn-lt"/>
              </a:rPr>
              <a:t>𝑖 </a:t>
            </a:r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被归入某个类，使得如下的</a:t>
            </a:r>
            <a:r>
              <a:rPr lang="zh-CN" altLang="en-US" sz="1800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总类内离差平方和</a:t>
            </a:r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最小：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9F5540-7CAB-8BE1-9BC4-9C43652A0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849" y="2526205"/>
            <a:ext cx="3581400" cy="9625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BF9CCB3-A87D-8B35-BBA9-6ACE4C154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649" y="4812240"/>
            <a:ext cx="6781800" cy="11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75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11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5019323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3.2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K-MEANS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算法步骤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295322-116C-4FBA-5334-75BDA7B76120}"/>
              </a:ext>
            </a:extLst>
          </p:cNvPr>
          <p:cNvSpPr txBox="1"/>
          <p:nvPr/>
        </p:nvSpPr>
        <p:spPr>
          <a:xfrm>
            <a:off x="1066800" y="1447800"/>
            <a:ext cx="9144000" cy="3332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(1)</a:t>
            </a:r>
            <a:r>
              <a:rPr lang="zh-CN" altLang="en-US" b="1" dirty="0"/>
              <a:t>确定 </a:t>
            </a:r>
            <a:r>
              <a:rPr lang="en-US" altLang="zh-CN" b="1" dirty="0"/>
              <a:t>K </a:t>
            </a:r>
            <a:r>
              <a:rPr lang="zh-CN" altLang="en-US" b="1" dirty="0"/>
              <a:t>值 </a:t>
            </a:r>
            <a:r>
              <a:rPr lang="en-US" altLang="zh-CN" b="1" dirty="0"/>
              <a:t>(K=?) 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指定要划分的类数</a:t>
            </a: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(2)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随机选择</a:t>
            </a: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K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个样本，作为初始的类中心 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(3)</a:t>
            </a:r>
            <a:r>
              <a:rPr lang="zh-CN" altLang="en-US" b="1" dirty="0"/>
              <a:t>随机初始化中心 </a:t>
            </a:r>
            <a:r>
              <a:rPr lang="en-US" altLang="zh-CN" b="1" dirty="0"/>
              <a:t>(Initialization) 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计算每个样本到各个类中心的欧氏距离，将样本归入距离最近的类 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(4</a:t>
            </a:r>
            <a:r>
              <a:rPr lang="en-US" altLang="zh-CN" b="1" dirty="0">
                <a:sym typeface="+mn-lt"/>
              </a:rPr>
              <a:t>)</a:t>
            </a:r>
            <a:r>
              <a:rPr lang="zh-CN" altLang="en-US" b="1" dirty="0">
                <a:sym typeface="+mn-lt"/>
              </a:rPr>
              <a:t>更新中心 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对每个类，计算其新的</a:t>
            </a: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"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中心</a:t>
            </a: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"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（各变量取平均值得到） 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(5)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重复</a:t>
            </a:r>
            <a:r>
              <a:rPr lang="en-US" altLang="zh-CN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(3)(4)</a:t>
            </a:r>
            <a:r>
              <a:rPr lang="zh-CN" altLang="en-US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步以最小化总类内离差平方和，直到类的划分不再变化或达到最大迭代次数</a:t>
            </a:r>
            <a:endParaRPr lang="zh-CN" altLang="en-US" dirty="0"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760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0BB0C4-0112-ADD0-2B1B-EAE38901A7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/>
              <a:pPr marL="38100">
                <a:spcBef>
                  <a:spcPts val="45"/>
                </a:spcBef>
              </a:pPr>
              <a:t>12</a:t>
            </a:fld>
            <a:endParaRPr lang="en-US" altLang="zh-CN" spc="-5" dirty="0"/>
          </a:p>
        </p:txBody>
      </p:sp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9308F1E7-BD1B-C685-DF3C-C0B87D006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0"/>
            <a:ext cx="5410200" cy="5410200"/>
          </a:xfrm>
          <a:prstGeom prst="rect">
            <a:avLst/>
          </a:prstGeom>
        </p:spPr>
      </p:pic>
      <p:pic>
        <p:nvPicPr>
          <p:cNvPr id="8" name="图片 7" descr="图表, 散点图&#10;&#10;AI 生成的内容可能不正确。">
            <a:extLst>
              <a:ext uri="{FF2B5EF4-FFF2-40B4-BE49-F238E27FC236}">
                <a16:creationId xmlns:a16="http://schemas.microsoft.com/office/drawing/2014/main" id="{15D81E79-57E2-A7D5-AEBB-AF6917F9E2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52400"/>
            <a:ext cx="3048000" cy="28630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B56C314-7E9A-BC34-9771-7FE515E75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52400"/>
            <a:ext cx="3048000" cy="27665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232C31E-FC7D-0A5C-BFA2-490A92AFD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3032945"/>
            <a:ext cx="3016502" cy="2785768"/>
          </a:xfrm>
          <a:prstGeom prst="rect">
            <a:avLst/>
          </a:prstGeom>
        </p:spPr>
      </p:pic>
      <p:sp>
        <p:nvSpPr>
          <p:cNvPr id="19" name="箭头: 右 18">
            <a:extLst>
              <a:ext uri="{FF2B5EF4-FFF2-40B4-BE49-F238E27FC236}">
                <a16:creationId xmlns:a16="http://schemas.microsoft.com/office/drawing/2014/main" id="{EE8BB62D-0F31-42B2-9DE6-86B27F2D5E41}"/>
              </a:ext>
            </a:extLst>
          </p:cNvPr>
          <p:cNvSpPr/>
          <p:nvPr/>
        </p:nvSpPr>
        <p:spPr>
          <a:xfrm>
            <a:off x="8471555" y="1237220"/>
            <a:ext cx="38100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678DB2D-4C24-1C48-BE9F-2A7384B139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2305" y="3032945"/>
            <a:ext cx="3067050" cy="2902424"/>
          </a:xfrm>
          <a:prstGeom prst="rect">
            <a:avLst/>
          </a:prstGeom>
        </p:spPr>
      </p:pic>
      <p:sp>
        <p:nvSpPr>
          <p:cNvPr id="23" name="箭头: 下 22">
            <a:extLst>
              <a:ext uri="{FF2B5EF4-FFF2-40B4-BE49-F238E27FC236}">
                <a16:creationId xmlns:a16="http://schemas.microsoft.com/office/drawing/2014/main" id="{19995C85-4888-5008-7E15-487D1F8FCBB5}"/>
              </a:ext>
            </a:extLst>
          </p:cNvPr>
          <p:cNvSpPr/>
          <p:nvPr/>
        </p:nvSpPr>
        <p:spPr>
          <a:xfrm>
            <a:off x="9906000" y="2695746"/>
            <a:ext cx="381000" cy="4246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左 23">
            <a:extLst>
              <a:ext uri="{FF2B5EF4-FFF2-40B4-BE49-F238E27FC236}">
                <a16:creationId xmlns:a16="http://schemas.microsoft.com/office/drawing/2014/main" id="{97CF1CB5-D6E1-0E57-0C57-8CEF88BF446F}"/>
              </a:ext>
            </a:extLst>
          </p:cNvPr>
          <p:cNvSpPr/>
          <p:nvPr/>
        </p:nvSpPr>
        <p:spPr>
          <a:xfrm>
            <a:off x="8471555" y="4267200"/>
            <a:ext cx="381000" cy="3810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192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13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6301725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3.3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K-MEANS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最佳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K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值的确定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C3E90C8-4F0F-4B9C-93B8-91C25C8C7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866651"/>
              </p:ext>
            </p:extLst>
          </p:nvPr>
        </p:nvGraphicFramePr>
        <p:xfrm>
          <a:off x="911521" y="1215802"/>
          <a:ext cx="10747079" cy="52425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603079">
                  <a:extLst>
                    <a:ext uri="{9D8B030D-6E8A-4147-A177-3AD203B41FA5}">
                      <a16:colId xmlns:a16="http://schemas.microsoft.com/office/drawing/2014/main" val="63330774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972669214"/>
                    </a:ext>
                  </a:extLst>
                </a:gridCol>
                <a:gridCol w="1841521">
                  <a:extLst>
                    <a:ext uri="{9D8B030D-6E8A-4147-A177-3AD203B41FA5}">
                      <a16:colId xmlns:a16="http://schemas.microsoft.com/office/drawing/2014/main" val="1768037340"/>
                    </a:ext>
                  </a:extLst>
                </a:gridCol>
                <a:gridCol w="2120879">
                  <a:extLst>
                    <a:ext uri="{9D8B030D-6E8A-4147-A177-3AD203B41FA5}">
                      <a16:colId xmlns:a16="http://schemas.microsoft.com/office/drawing/2014/main" val="312802528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41973911"/>
                    </a:ext>
                  </a:extLst>
                </a:gridCol>
              </a:tblGrid>
              <a:tr h="44008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 dirty="0">
                          <a:effectLst/>
                          <a:sym typeface="+mn-lt"/>
                        </a:rPr>
                        <a:t>评估方法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 dirty="0">
                          <a:effectLst/>
                          <a:sym typeface="+mn-lt"/>
                        </a:rPr>
                        <a:t>基本原理 </a:t>
                      </a:r>
                      <a:r>
                        <a:rPr lang="en-US" altLang="zh-CN" sz="1600" b="1" u="none" strike="noStrike" dirty="0">
                          <a:effectLst/>
                          <a:sym typeface="+mn-lt"/>
                        </a:rPr>
                        <a:t>(</a:t>
                      </a:r>
                      <a:r>
                        <a:rPr lang="zh-CN" altLang="en-US" sz="1600" b="1" u="none" strike="noStrike" dirty="0">
                          <a:effectLst/>
                          <a:sym typeface="+mn-lt"/>
                        </a:rPr>
                        <a:t>衡量什么？</a:t>
                      </a:r>
                      <a:r>
                        <a:rPr lang="en-US" altLang="zh-CN" sz="1600" b="1" u="none" strike="noStrike" dirty="0">
                          <a:effectLst/>
                          <a:sym typeface="+mn-lt"/>
                        </a:rPr>
                        <a:t>)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 dirty="0">
                          <a:effectLst/>
                          <a:sym typeface="+mn-lt"/>
                        </a:rPr>
                        <a:t>如何确定 </a:t>
                      </a:r>
                      <a:r>
                        <a:rPr lang="en-US" sz="1600" b="1" u="none" strike="noStrike" dirty="0">
                          <a:effectLst/>
                          <a:sym typeface="+mn-lt"/>
                        </a:rPr>
                        <a:t>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 dirty="0">
                          <a:effectLst/>
                          <a:sym typeface="+mn-lt"/>
                        </a:rPr>
                        <a:t>优点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 dirty="0">
                          <a:effectLst/>
                          <a:sym typeface="+mn-lt"/>
                        </a:rPr>
                        <a:t>缺点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74754595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sym typeface="+mn-lt"/>
                        </a:rPr>
                        <a:t>1. Elbow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法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肘部法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簇内紧凑度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(Cohesion) </a:t>
                      </a:r>
                      <a:br>
                        <a:rPr lang="en-US" altLang="zh-CN" sz="1600" u="none" strike="noStrike" dirty="0">
                          <a:effectLst/>
                          <a:sym typeface="+mn-lt"/>
                        </a:rPr>
                      </a:b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测量</a:t>
                      </a:r>
                      <a:r>
                        <a:rPr lang="zh-CN" altLang="en-US" sz="1600" b="1" u="none" strike="noStrike" dirty="0">
                          <a:effectLst/>
                          <a:sym typeface="+mn-lt"/>
                        </a:rPr>
                        <a:t>簇内总离差平方和 </a:t>
                      </a:r>
                      <a:r>
                        <a:rPr lang="en-US" altLang="zh-CN" sz="1600" b="1" u="none" strike="noStrike" dirty="0">
                          <a:effectLst/>
                          <a:sym typeface="+mn-lt"/>
                        </a:rPr>
                        <a:t>(Total WSS)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。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WSS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越小，说明簇内越紧凑。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寻找 </a:t>
                      </a:r>
                      <a:r>
                        <a:rPr lang="en-US" sz="1600" u="none" strike="noStrike" dirty="0">
                          <a:effectLst/>
                          <a:sym typeface="+mn-lt"/>
                        </a:rPr>
                        <a:t>WSS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下降曲线的“肘点”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</a:t>
                      </a:r>
                      <a:r>
                        <a:rPr lang="en-US" sz="1600" u="none" strike="noStrike" dirty="0">
                          <a:effectLst/>
                          <a:sym typeface="+mn-lt"/>
                        </a:rPr>
                        <a:t>Inflection Point)。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计算最快，最直观。原理简单，容易解释。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主观性强：“肘点”通常不明确，只考虑紧凑度，不考虑分离度。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65796572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sym typeface="+mn-lt"/>
                        </a:rPr>
                        <a:t>2. Silhouette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法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轮廓系数法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紧凑度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+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分离度   测量每个点与其簇内其他点的相似度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vs.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与最近的其他簇的点的相似度。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寻找“平均轮廓系数”的最大值点。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最常用，综合性最强得分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−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1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到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1)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有明确含义，易于解释聚类质量。同时考虑了簇的“胖瘦”和“远近”。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计算量中等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比 </a:t>
                      </a:r>
                      <a:r>
                        <a:rPr lang="en-US" sz="1600" u="none" strike="noStrike" dirty="0">
                          <a:effectLst/>
                          <a:sym typeface="+mn-lt"/>
                        </a:rPr>
                        <a:t>Elbow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慢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)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623246058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sym typeface="+mn-lt"/>
                        </a:rPr>
                        <a:t>3. Gap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统计量法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</a:t>
                      </a:r>
                      <a:r>
                        <a:rPr lang="en-US" sz="1600" u="none" strike="noStrike" dirty="0">
                          <a:effectLst/>
                          <a:sym typeface="+mn-lt"/>
                        </a:rPr>
                        <a:t>Gap Statistic)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比较“真实数据”的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WSS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与“随机生成的参考数据”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(Null Distribution)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的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WSS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之间的差距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(Gap)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寻找使 </a:t>
                      </a:r>
                      <a:r>
                        <a:rPr lang="en-US" sz="1600" u="none" strike="noStrike" dirty="0">
                          <a:effectLst/>
                          <a:sym typeface="+mn-lt"/>
                        </a:rPr>
                        <a:t>Gap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值最大的 </a:t>
                      </a:r>
                      <a:r>
                        <a:rPr lang="en-US" sz="1600" u="none" strike="noStrike" dirty="0">
                          <a:effectLst/>
                          <a:sym typeface="+mn-lt"/>
                        </a:rPr>
                        <a:t>k。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最客观，统计上最严谨。能处理“肘点”和“轮廓”都不明显的模糊情况。能有力地判断“不存在聚类”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(k=1 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是最佳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)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计算量巨大 ，需要多次模拟 </a:t>
                      </a:r>
                      <a:r>
                        <a:rPr lang="en-US" altLang="zh-CN" sz="1600" u="none" strike="noStrike" dirty="0">
                          <a:effectLst/>
                          <a:sym typeface="+mn-lt"/>
                        </a:rPr>
                        <a:t>(Bootstrapping)</a:t>
                      </a:r>
                      <a:r>
                        <a:rPr lang="zh-CN" altLang="en-US" sz="1600" u="none" strike="noStrike" dirty="0">
                          <a:effectLst/>
                          <a:sym typeface="+mn-lt"/>
                        </a:rPr>
                        <a:t>。原理相对复杂，不易直观解释。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70805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769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14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5480988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3.4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K-MEANS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算法优缺点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75A434-B74A-0E70-0F1A-C00C7700BF5E}"/>
              </a:ext>
            </a:extLst>
          </p:cNvPr>
          <p:cNvSpPr txBox="1"/>
          <p:nvPr/>
        </p:nvSpPr>
        <p:spPr>
          <a:xfrm>
            <a:off x="1600200" y="1689522"/>
            <a:ext cx="7924800" cy="388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K-means 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算法的优点是</a:t>
            </a:r>
            <a:endParaRPr lang="en-US" altLang="zh-CN" dirty="0">
              <a:solidFill>
                <a:srgbClr val="23373B"/>
              </a:solidFill>
              <a:effectLst/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简单、速度快，算法原理简单，可以处理大数据量； 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K-means 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算法的缺点： </a:t>
            </a:r>
            <a:endParaRPr lang="zh-CN" altLang="en-US" dirty="0"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需要预先设定聚类数 𝐾 ，</a:t>
            </a:r>
            <a:r>
              <a:rPr lang="en-US" altLang="zh-CN" dirty="0"/>
              <a:t>K</a:t>
            </a:r>
            <a:r>
              <a:rPr lang="zh-CN" altLang="en-US" dirty="0"/>
              <a:t>值定错了，结果可能毫无意义。</a:t>
            </a:r>
            <a:endParaRPr lang="zh-CN" altLang="en-US" dirty="0"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聚类结果对初始聚类中心的选取敏感（可多次运行选</a:t>
            </a:r>
            <a:r>
              <a:rPr lang="zh-CN" altLang="en-US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总类内平方和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小的） </a:t>
            </a:r>
            <a:endParaRPr lang="zh-CN" altLang="en-US" dirty="0"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聚类结果对异常值敏感（可改用更稳健的 </a:t>
            </a: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K-medoids 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算法） </a:t>
            </a:r>
            <a:endParaRPr lang="zh-CN" altLang="en-US" dirty="0">
              <a:cs typeface="+mn-ea"/>
              <a:sym typeface="+mn-lt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若对数据重排顺序，聚类结果可能会变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236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15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3147015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3.5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K-medoids</a:t>
            </a:r>
            <a:endParaRPr lang="zh-CN" altLang="en-US" sz="3600" b="1" dirty="0">
              <a:solidFill>
                <a:srgbClr val="115522"/>
              </a:solidFill>
              <a:cs typeface="+mn-ea"/>
              <a:sym typeface="+mn-lt"/>
            </a:endParaRP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6E49118-340B-F784-E24E-8F3725402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888007"/>
              </p:ext>
            </p:extLst>
          </p:nvPr>
        </p:nvGraphicFramePr>
        <p:xfrm>
          <a:off x="609600" y="1517357"/>
          <a:ext cx="10820400" cy="43965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43180212"/>
                    </a:ext>
                  </a:extLst>
                </a:gridCol>
                <a:gridCol w="4288734">
                  <a:extLst>
                    <a:ext uri="{9D8B030D-6E8A-4147-A177-3AD203B41FA5}">
                      <a16:colId xmlns:a16="http://schemas.microsoft.com/office/drawing/2014/main" val="2230046775"/>
                    </a:ext>
                  </a:extLst>
                </a:gridCol>
                <a:gridCol w="3940866">
                  <a:extLst>
                    <a:ext uri="{9D8B030D-6E8A-4147-A177-3AD203B41FA5}">
                      <a16:colId xmlns:a16="http://schemas.microsoft.com/office/drawing/2014/main" val="181263684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应用场景</a:t>
                      </a:r>
                      <a:endParaRPr lang="zh-CN" altLang="en-US" sz="16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K-Means</a:t>
                      </a:r>
                      <a:endParaRPr lang="en-US" sz="16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K-Medoids</a:t>
                      </a:r>
                      <a:endParaRPr lang="en-US" sz="16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18466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/>
                        <a:t>数据类型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600" dirty="0"/>
                    </a:p>
                    <a:p>
                      <a:pPr algn="l"/>
                      <a:r>
                        <a:rPr lang="zh-CN" altLang="en-US" sz="1600" b="1" dirty="0"/>
                        <a:t>仅限连续数值型数据</a:t>
                      </a:r>
                      <a:r>
                        <a:rPr lang="zh-CN" altLang="en-US" sz="1600" dirty="0"/>
                        <a:t>。算法依赖“均值” 。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/>
                        <a:t>可以处理任何类型的数据</a:t>
                      </a:r>
                      <a:r>
                        <a:rPr lang="zh-CN" altLang="en-US" sz="1600" dirty="0"/>
                        <a:t>（连续型、分类型、混合型）。因为它不计算均值，只计算样本之间的距离。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3585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/>
                        <a:t>异常值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数据集相对“干净”，</a:t>
                      </a:r>
                      <a:r>
                        <a:rPr lang="zh-CN" altLang="en-US" sz="1600" b="1" dirty="0"/>
                        <a:t>没有太多异常值</a:t>
                      </a:r>
                      <a:r>
                        <a:rPr lang="zh-CN" altLang="en-US" sz="1600" dirty="0"/>
                        <a:t>时。</a:t>
                      </a:r>
                      <a:r>
                        <a:rPr lang="en-US" altLang="zh-CN" sz="1600" dirty="0"/>
                        <a:t>K-Means </a:t>
                      </a:r>
                      <a:r>
                        <a:rPr lang="zh-CN" altLang="en-US" sz="1600" dirty="0"/>
                        <a:t>对异常值非常敏感 ，一个极端值会把“均值”（质心）拉偏。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当</a:t>
                      </a:r>
                      <a:r>
                        <a:rPr lang="zh-CN" altLang="en-US" sz="1600" b="1" dirty="0"/>
                        <a:t>数据中存在异常值</a:t>
                      </a:r>
                      <a:r>
                        <a:rPr lang="zh-CN" altLang="en-US" sz="1600" dirty="0"/>
                        <a:t>时。</a:t>
                      </a:r>
                      <a:r>
                        <a:rPr lang="en-US" altLang="zh-CN" sz="1600" dirty="0"/>
                        <a:t>K-Medoids </a:t>
                      </a:r>
                      <a:r>
                        <a:rPr lang="zh-CN" altLang="en-US" sz="1600" dirty="0"/>
                        <a:t>非常</a:t>
                      </a:r>
                      <a:r>
                        <a:rPr lang="zh-CN" altLang="en-US" sz="1600" b="1" dirty="0"/>
                        <a:t>稳健</a:t>
                      </a:r>
                      <a:r>
                        <a:rPr lang="zh-CN" altLang="en-US" sz="1600" dirty="0"/>
                        <a:t>（</a:t>
                      </a:r>
                      <a:r>
                        <a:rPr lang="en-US" altLang="zh-CN" sz="1600" dirty="0"/>
                        <a:t>Robust</a:t>
                      </a:r>
                      <a:r>
                        <a:rPr lang="zh-CN" altLang="en-US" sz="1600" dirty="0"/>
                        <a:t>） 。异常值（离群点）永远不会被选为“中心点”</a:t>
                      </a:r>
                      <a:r>
                        <a:rPr lang="en-US" altLang="zh-CN" sz="1600" dirty="0"/>
                        <a:t>(Medoid)</a:t>
                      </a:r>
                      <a:r>
                        <a:rPr lang="zh-CN" altLang="en-US" sz="1600" dirty="0"/>
                        <a:t>，因为它离所有其他点的总距离是最大的。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827497"/>
                  </a:ext>
                </a:extLst>
              </a:tr>
              <a:tr h="68952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/>
                        <a:t>簇中心的可解释性</a:t>
                      </a:r>
                      <a:endParaRPr lang="zh-CN" altLang="en-US" sz="160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只需要一个“数学中心”时用于计算。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/>
                        <a:t>当希望簇的中心是</a:t>
                      </a:r>
                      <a:r>
                        <a:rPr lang="zh-CN" altLang="en-US" sz="1600" b="1" dirty="0"/>
                        <a:t>一个真实、可解释的案例</a:t>
                      </a:r>
                      <a:r>
                        <a:rPr lang="zh-CN" altLang="en-US" sz="1600" dirty="0"/>
                        <a:t>时。在医学上，这意味着你的簇中心可以是“</a:t>
                      </a:r>
                      <a:r>
                        <a:rPr lang="zh-CN" altLang="en-US" sz="1600" b="1" dirty="0"/>
                        <a:t>最典型的</a:t>
                      </a:r>
                      <a:r>
                        <a:rPr lang="en-US" altLang="zh-CN" sz="1600" b="1" dirty="0"/>
                        <a:t>A</a:t>
                      </a:r>
                      <a:r>
                        <a:rPr lang="zh-CN" altLang="en-US" sz="1600" b="1" dirty="0"/>
                        <a:t>类患者</a:t>
                      </a:r>
                      <a:r>
                        <a:rPr lang="zh-CN" altLang="en-US" sz="1600" dirty="0"/>
                        <a:t>”，你可以把这个患者的真实病历调出来进行分析。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8141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/>
                        <a:t>计算速度与数据量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/>
                        <a:t>速度快 </a:t>
                      </a:r>
                      <a:endParaRPr lang="en-US" altLang="zh-CN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/>
                        <a:t>计算量大，速度慢</a:t>
                      </a:r>
                      <a:r>
                        <a:rPr lang="zh-CN" altLang="en-US" sz="1600" dirty="0"/>
                        <a:t>。</a:t>
                      </a:r>
                      <a:endParaRPr lang="zh-CN" altLang="en-US" sz="16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766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814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16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3147015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3.5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 K-medoids</a:t>
            </a:r>
            <a:endParaRPr lang="zh-CN" altLang="en-US" sz="3600" b="1" dirty="0">
              <a:solidFill>
                <a:srgbClr val="115522"/>
              </a:solidFill>
              <a:cs typeface="+mn-ea"/>
              <a:sym typeface="+mn-lt"/>
            </a:endParaRP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C1902968-6739-3004-BBAA-B7F5074A1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18" y="1447800"/>
            <a:ext cx="10578532" cy="439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23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17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454518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4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层次聚类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0A220C-A7B7-A6BC-A557-DC41F73202F9}"/>
              </a:ext>
            </a:extLst>
          </p:cNvPr>
          <p:cNvSpPr txBox="1"/>
          <p:nvPr/>
        </p:nvSpPr>
        <p:spPr>
          <a:xfrm>
            <a:off x="457200" y="1312650"/>
            <a:ext cx="6097248" cy="461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层次聚类</a:t>
            </a:r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，包括聚合聚类和分裂聚类。 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聚合聚类，是以一种”自底而上” 的方式聚类，最开始将每个样本作为单 独一类（叶），每步迭代都将最相似的两个类合并为一个新类（节点），直到最终所有样本都合并为一个类（根），从而形成一个</a:t>
            </a:r>
            <a:r>
              <a:rPr lang="zh-CN" altLang="en-US" sz="1800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树状图</a:t>
            </a:r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。 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分裂聚类，与聚合聚类相反，是以一种” 自顶而下” 的方式聚类，最开始 所有样本作为整体的一个类，每步迭代都将最异质的一类分割为两个类， 直到所有样本都单独作为一个类。 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23373B"/>
                </a:solidFill>
                <a:effectLst/>
                <a:cs typeface="+mn-ea"/>
                <a:sym typeface="+mn-lt"/>
              </a:rPr>
              <a:t>聚合聚类，擅长识别小的类；分裂聚类擅长识别大的类。通常用的是聚合聚类。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263B8A-7D50-0C2F-1A1A-DAE427691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362200"/>
            <a:ext cx="514894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09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18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454518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4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层次聚类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72732DB-ECB4-055C-D6F7-12474E41D9F1}"/>
              </a:ext>
            </a:extLst>
          </p:cNvPr>
          <p:cNvSpPr txBox="1"/>
          <p:nvPr/>
        </p:nvSpPr>
        <p:spPr>
          <a:xfrm>
            <a:off x="533400" y="1537969"/>
            <a:ext cx="97536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不知道 K 是多少：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这是层次聚类最大的优势。你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不需要预先指定K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，而是可以通过观察树状图 来探索数据天然的结构 ，决定分成几类最合适。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数据量较小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维度较高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比如你只有几百或几千个样本，此时计算距离矩阵是完全可行的。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关心聚类的“层次结构”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en-US" dirty="0">
                <a:latin typeface="Arial" panose="020B0604020202020204" pitchFamily="34" charset="0"/>
              </a:rPr>
              <a:t>比如</a:t>
            </a:r>
            <a:r>
              <a:rPr lang="zh-CN" altLang="en-US" dirty="0"/>
              <a:t>研究一群糖尿病患者，你不仅想把他们分为“类型</a:t>
            </a:r>
            <a:r>
              <a:rPr lang="en-US" altLang="zh-CN" dirty="0"/>
              <a:t>1”</a:t>
            </a:r>
            <a:r>
              <a:rPr lang="zh-CN" altLang="en-US" dirty="0"/>
              <a:t>和“类型</a:t>
            </a:r>
            <a:r>
              <a:rPr lang="en-US" altLang="zh-CN" dirty="0"/>
              <a:t>2”</a:t>
            </a:r>
            <a:r>
              <a:rPr lang="zh-CN" altLang="en-US" dirty="0"/>
              <a:t>，你可能还想知道在“类型</a:t>
            </a:r>
            <a:r>
              <a:rPr lang="en-US" altLang="zh-CN" dirty="0"/>
              <a:t>2”</a:t>
            </a:r>
            <a:r>
              <a:rPr lang="zh-CN" altLang="en-US" dirty="0"/>
              <a:t>内部，是否存在“胰岛素抵抗型”和“胰岛素缺乏型”，以及这两种亚型是不是又都同属于一个更大的“代谢紊乱”分支。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你需要可复现的结果：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标准的层次聚类算法是确定性的，只要数据和距离算法不变，每次运行的结果都一样。而K-Means因为随机初始化 ，两次结果可能不同。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559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19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4108817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4.1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层次聚类的步骤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3C48F1-631D-C453-CBE5-8F15A91714DC}"/>
              </a:ext>
            </a:extLst>
          </p:cNvPr>
          <p:cNvSpPr txBox="1"/>
          <p:nvPr/>
        </p:nvSpPr>
        <p:spPr>
          <a:xfrm>
            <a:off x="990600" y="1219200"/>
            <a:ext cx="929640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3373B"/>
                </a:solidFill>
                <a:cs typeface="+mn-ea"/>
                <a:sym typeface="+mn-lt"/>
              </a:rPr>
              <a:t>(1) </a:t>
            </a:r>
            <a:r>
              <a:rPr lang="zh-CN" altLang="en-US" b="1" dirty="0">
                <a:solidFill>
                  <a:srgbClr val="23373B"/>
                </a:solidFill>
                <a:cs typeface="+mn-ea"/>
                <a:sym typeface="+mn-lt"/>
              </a:rPr>
              <a:t>准备数据（处理缺失值，标准化处理） 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，</a:t>
            </a:r>
            <a:r>
              <a:rPr lang="zh-CN" altLang="en-US" dirty="0"/>
              <a:t>层次聚类一开始，会把</a:t>
            </a:r>
            <a:r>
              <a:rPr lang="zh-CN" altLang="en-US" b="1" dirty="0"/>
              <a:t>每一个样本点都视为一个单独的类</a:t>
            </a:r>
            <a:r>
              <a:rPr lang="zh-CN" altLang="en-US" dirty="0"/>
              <a:t> 。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(2) </a:t>
            </a:r>
            <a:r>
              <a:rPr lang="zh-CN" altLang="en-US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计算两两样本之间的相似度或相异度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，</a:t>
            </a:r>
            <a:r>
              <a:rPr lang="zh-CN" altLang="en-US" dirty="0"/>
              <a:t>算法会在所有（</a:t>
            </a:r>
            <a:r>
              <a:rPr lang="en-US" altLang="zh-CN" dirty="0"/>
              <a:t>100</a:t>
            </a:r>
            <a:r>
              <a:rPr lang="zh-CN" altLang="en-US" dirty="0"/>
              <a:t>个）类中，寻找‘血缘’最近（即距离最小）的两个类，把它们合并成一个新类 。比如样本</a:t>
            </a:r>
            <a:r>
              <a:rPr lang="en-US" altLang="zh-CN" dirty="0"/>
              <a:t>A</a:t>
            </a:r>
            <a:r>
              <a:rPr lang="zh-CN" altLang="en-US" dirty="0"/>
              <a:t>和样本</a:t>
            </a:r>
            <a:r>
              <a:rPr lang="en-US" altLang="zh-CN" dirty="0"/>
              <a:t>B</a:t>
            </a:r>
            <a:r>
              <a:rPr lang="zh-CN" altLang="en-US" dirty="0"/>
              <a:t>在所有样本对中距离最近，它们就合并成样本</a:t>
            </a:r>
            <a:r>
              <a:rPr lang="en-US" altLang="zh-CN" dirty="0"/>
              <a:t>AB</a:t>
            </a:r>
            <a:r>
              <a:rPr lang="zh-CN" altLang="en-US" dirty="0"/>
              <a:t>这个新类。现在我们就有</a:t>
            </a:r>
            <a:r>
              <a:rPr lang="en-US" altLang="zh-CN" dirty="0"/>
              <a:t>99</a:t>
            </a:r>
            <a:r>
              <a:rPr lang="zh-CN" altLang="en-US" dirty="0"/>
              <a:t>个类了。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 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(3)</a:t>
            </a:r>
            <a:r>
              <a:rPr lang="zh-CN" altLang="en-US" b="1" dirty="0">
                <a:solidFill>
                  <a:srgbClr val="23373B"/>
                </a:solidFill>
                <a:cs typeface="+mn-ea"/>
                <a:sym typeface="+mn-lt"/>
              </a:rPr>
              <a:t>迭代</a:t>
            </a:r>
            <a:r>
              <a:rPr lang="zh-CN" altLang="en-US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重复步骤</a:t>
            </a:r>
            <a:r>
              <a:rPr lang="en-US" altLang="zh-CN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2</a:t>
            </a:r>
            <a:r>
              <a:rPr lang="zh-CN" altLang="en-US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：</a:t>
            </a:r>
            <a:r>
              <a:rPr lang="en-US" altLang="zh-CN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dirty="0"/>
              <a:t>算法会不断重复第</a:t>
            </a:r>
            <a:r>
              <a:rPr lang="en-US" altLang="zh-CN" dirty="0"/>
              <a:t>2</a:t>
            </a:r>
            <a:r>
              <a:rPr lang="zh-CN" altLang="en-US" dirty="0"/>
              <a:t>步：在剩下的类中（现在是</a:t>
            </a:r>
            <a:r>
              <a:rPr lang="en-US" altLang="zh-CN" dirty="0"/>
              <a:t>99</a:t>
            </a:r>
            <a:r>
              <a:rPr lang="zh-CN" altLang="en-US" dirty="0"/>
              <a:t>个），再找距离最近的两个合并（可能是‘样本</a:t>
            </a:r>
            <a:r>
              <a:rPr lang="en-US" altLang="zh-CN" dirty="0"/>
              <a:t>C’</a:t>
            </a:r>
            <a:r>
              <a:rPr lang="zh-CN" altLang="en-US" dirty="0"/>
              <a:t>和‘样本</a:t>
            </a:r>
            <a:r>
              <a:rPr lang="en-US" altLang="zh-CN" dirty="0"/>
              <a:t>D’</a:t>
            </a:r>
            <a:r>
              <a:rPr lang="zh-CN" altLang="en-US" dirty="0"/>
              <a:t>，也可能是‘样本</a:t>
            </a:r>
            <a:r>
              <a:rPr lang="en-US" altLang="zh-CN" dirty="0"/>
              <a:t>AB’</a:t>
            </a:r>
            <a:r>
              <a:rPr lang="zh-CN" altLang="en-US" dirty="0"/>
              <a:t>和‘样本</a:t>
            </a:r>
            <a:r>
              <a:rPr lang="en-US" altLang="zh-CN" dirty="0"/>
              <a:t>E’</a:t>
            </a:r>
            <a:r>
              <a:rPr lang="zh-CN" altLang="en-US" dirty="0"/>
              <a:t>）。这个合并的过程会一直持续，直到最后所有样本都被合并成一个‘根’</a:t>
            </a:r>
            <a:r>
              <a:rPr lang="en-US" altLang="zh-CN" dirty="0"/>
              <a:t>(Root) </a:t>
            </a:r>
            <a:r>
              <a:rPr lang="zh-CN" altLang="en-US" dirty="0"/>
              <a:t>。这个过程就自动画出了一棵‘树状</a:t>
            </a:r>
            <a:endParaRPr lang="zh-CN" altLang="en-US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(4) </a:t>
            </a:r>
            <a:r>
              <a:rPr lang="zh-CN" altLang="en-US" b="1" dirty="0">
                <a:solidFill>
                  <a:srgbClr val="23373B"/>
                </a:solidFill>
                <a:effectLst/>
                <a:cs typeface="+mn-ea"/>
                <a:sym typeface="+mn-lt"/>
              </a:rPr>
              <a:t>剪枝： 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确定</a:t>
            </a:r>
            <a:r>
              <a:rPr lang="en-US" altLang="zh-CN" dirty="0">
                <a:solidFill>
                  <a:srgbClr val="23373B"/>
                </a:solidFill>
                <a:effectLst/>
                <a:cs typeface="+mn-ea"/>
                <a:sym typeface="+mn-lt"/>
              </a:rPr>
              <a:t>k</a:t>
            </a:r>
            <a:r>
              <a:rPr lang="zh-CN" altLang="en-US" dirty="0">
                <a:solidFill>
                  <a:srgbClr val="23373B"/>
                </a:solidFill>
                <a:effectLst/>
                <a:cs typeface="+mn-ea"/>
                <a:sym typeface="+mn-lt"/>
              </a:rPr>
              <a:t>值，确定从何处将层次聚类树剪切为最终聚类结果</a:t>
            </a:r>
            <a:endParaRPr lang="en-US" altLang="zh-CN" dirty="0">
              <a:solidFill>
                <a:srgbClr val="23373B"/>
              </a:solidFill>
              <a:effectLst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0057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20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4108817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4.1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层次聚类的步骤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0067053B-1614-2D8A-EE26-435D4B9E3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1447800"/>
            <a:ext cx="9677400" cy="435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39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21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723823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4.2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聚合算法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1AA53E-4BA7-8209-4B2D-40C01940D0F2}"/>
              </a:ext>
            </a:extLst>
          </p:cNvPr>
          <p:cNvSpPr txBox="1"/>
          <p:nvPr/>
        </p:nvSpPr>
        <p:spPr>
          <a:xfrm>
            <a:off x="1079150" y="1295400"/>
            <a:ext cx="9588849" cy="17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对标准化后的数据，用首先计算距离矩阵 再用聚合算法计算两个样本</a:t>
            </a:r>
            <a:r>
              <a:rPr lang="en-US" altLang="zh-CN" sz="20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/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小类之间的距离，距离最小的样本</a:t>
            </a:r>
            <a:r>
              <a:rPr lang="en-US" altLang="zh-CN" sz="20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/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小类就 合并为一个大类，重复该过程继续创建更大的类，直到所有样本都连接到一起构成一棵层次树。 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+mn-ea"/>
              <a:cs typeface="+mn-ea"/>
              <a:sym typeface="+mn-lt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1D1974-06B9-718F-8FD1-2D50BFA95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008357"/>
              </p:ext>
            </p:extLst>
          </p:nvPr>
        </p:nvGraphicFramePr>
        <p:xfrm>
          <a:off x="1295400" y="2895103"/>
          <a:ext cx="8458200" cy="2621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103188244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161663436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525304154"/>
                    </a:ext>
                  </a:extLst>
                </a:gridCol>
              </a:tblGrid>
              <a:tr h="31582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+mj-ea"/>
                          <a:ea typeface="+mj-ea"/>
                        </a:rPr>
                        <a:t>算法 </a:t>
                      </a:r>
                      <a:r>
                        <a:rPr lang="en-US" altLang="zh-CN" sz="18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800" b="1" dirty="0">
                          <a:latin typeface="+mj-ea"/>
                          <a:ea typeface="+mj-ea"/>
                        </a:rPr>
                        <a:t>Method)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+mj-ea"/>
                          <a:ea typeface="+mj-ea"/>
                        </a:rPr>
                        <a:t>计算方式 </a:t>
                      </a:r>
                      <a:r>
                        <a:rPr lang="en-US" altLang="zh-CN" sz="18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800" b="1" dirty="0">
                          <a:latin typeface="+mj-ea"/>
                          <a:ea typeface="+mj-ea"/>
                        </a:rPr>
                        <a:t>D(A,B))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+mj-ea"/>
                          <a:ea typeface="+mj-ea"/>
                        </a:rPr>
                        <a:t>对异常值敏感度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3924598"/>
                  </a:ext>
                </a:extLst>
              </a:tr>
              <a:tr h="451184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latin typeface="+mj-ea"/>
                          <a:ea typeface="+mj-ea"/>
                        </a:rPr>
                        <a:t>最小距离 </a:t>
                      </a:r>
                      <a:r>
                        <a:rPr lang="en-US" altLang="zh-CN" sz="1800" b="1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800" b="1" dirty="0">
                          <a:latin typeface="+mj-ea"/>
                          <a:ea typeface="+mj-ea"/>
                        </a:rPr>
                        <a:t>Single)</a:t>
                      </a:r>
                      <a:endParaRPr lang="en-US" sz="18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j-ea"/>
                          <a:ea typeface="+mj-ea"/>
                        </a:rPr>
                        <a:t>两个类中</a:t>
                      </a:r>
                      <a:r>
                        <a:rPr lang="zh-CN" altLang="en-US" sz="1800" b="1">
                          <a:latin typeface="+mj-ea"/>
                          <a:ea typeface="+mj-ea"/>
                        </a:rPr>
                        <a:t>最近</a:t>
                      </a:r>
                      <a:r>
                        <a:rPr lang="zh-CN" altLang="en-US" sz="1800">
                          <a:latin typeface="+mj-ea"/>
                          <a:ea typeface="+mj-ea"/>
                        </a:rPr>
                        <a:t>的点对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+mj-ea"/>
                          <a:ea typeface="+mj-ea"/>
                        </a:rPr>
                        <a:t>非常高</a:t>
                      </a:r>
                      <a:endParaRPr lang="en-US" altLang="zh-CN" sz="18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646045"/>
                  </a:ext>
                </a:extLst>
              </a:tr>
              <a:tr h="451184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+mj-ea"/>
                          <a:ea typeface="+mj-ea"/>
                        </a:rPr>
                        <a:t>最大距离 </a:t>
                      </a:r>
                      <a:r>
                        <a:rPr lang="en-US" altLang="zh-CN" sz="1800" b="1"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800" b="1">
                          <a:latin typeface="+mj-ea"/>
                          <a:ea typeface="+mj-ea"/>
                        </a:rPr>
                        <a:t>Complete)</a:t>
                      </a:r>
                      <a:endParaRPr lang="en-US" sz="180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j-ea"/>
                          <a:ea typeface="+mj-ea"/>
                        </a:rPr>
                        <a:t>两个类中</a:t>
                      </a:r>
                      <a:r>
                        <a:rPr lang="zh-CN" altLang="en-US" sz="1800" b="1">
                          <a:latin typeface="+mj-ea"/>
                          <a:ea typeface="+mj-ea"/>
                        </a:rPr>
                        <a:t>最远</a:t>
                      </a:r>
                      <a:r>
                        <a:rPr lang="zh-CN" altLang="en-US" sz="1800">
                          <a:latin typeface="+mj-ea"/>
                          <a:ea typeface="+mj-ea"/>
                        </a:rPr>
                        <a:t>的点对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+mj-ea"/>
                          <a:ea typeface="+mj-ea"/>
                        </a:rPr>
                        <a:t>高</a:t>
                      </a:r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CN" sz="18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易受最远点影响</a:t>
                      </a:r>
                      <a:r>
                        <a:rPr lang="en-US" altLang="zh-CN" sz="1800" dirty="0"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786631"/>
                  </a:ext>
                </a:extLst>
              </a:tr>
              <a:tr h="451184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+mj-ea"/>
                          <a:ea typeface="+mj-ea"/>
                        </a:rPr>
                        <a:t>平均距离 </a:t>
                      </a:r>
                      <a:r>
                        <a:rPr lang="en-US" altLang="zh-CN" sz="1800" b="1"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800" b="1">
                          <a:latin typeface="+mj-ea"/>
                          <a:ea typeface="+mj-ea"/>
                        </a:rPr>
                        <a:t>Average)</a:t>
                      </a:r>
                      <a:endParaRPr lang="en-US" sz="180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+mj-ea"/>
                          <a:ea typeface="+mj-ea"/>
                        </a:rPr>
                        <a:t>所有</a:t>
                      </a:r>
                      <a:r>
                        <a:rPr lang="zh-CN" altLang="en-US" sz="1800">
                          <a:latin typeface="+mj-ea"/>
                          <a:ea typeface="+mj-ea"/>
                        </a:rPr>
                        <a:t>点对的平均距离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中等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62271"/>
                  </a:ext>
                </a:extLst>
              </a:tr>
              <a:tr h="451184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latin typeface="+mj-ea"/>
                          <a:ea typeface="+mj-ea"/>
                        </a:rPr>
                        <a:t>中心距离 </a:t>
                      </a:r>
                      <a:r>
                        <a:rPr lang="en-US" altLang="zh-CN" sz="1800" b="1"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800" b="1">
                          <a:latin typeface="+mj-ea"/>
                          <a:ea typeface="+mj-ea"/>
                        </a:rPr>
                        <a:t>Centroid)</a:t>
                      </a:r>
                      <a:endParaRPr lang="en-US" sz="180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+mj-ea"/>
                          <a:ea typeface="+mj-ea"/>
                        </a:rPr>
                        <a:t>两个类的</a:t>
                      </a:r>
                      <a:r>
                        <a:rPr lang="zh-CN" altLang="en-US" sz="1800" b="1">
                          <a:latin typeface="+mj-ea"/>
                          <a:ea typeface="+mj-ea"/>
                        </a:rPr>
                        <a:t>中心点</a:t>
                      </a:r>
                      <a:r>
                        <a:rPr lang="zh-CN" altLang="en-US" sz="1800">
                          <a:latin typeface="+mj-ea"/>
                          <a:ea typeface="+mj-ea"/>
                        </a:rPr>
                        <a:t>距离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中等</a:t>
                      </a:r>
                      <a:endParaRPr lang="en-US" altLang="zh-CN" sz="18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989929"/>
                  </a:ext>
                </a:extLst>
              </a:tr>
              <a:tr h="451184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+mj-ea"/>
                          <a:ea typeface="+mj-ea"/>
                        </a:rPr>
                        <a:t>Ward </a:t>
                      </a:r>
                      <a:r>
                        <a:rPr lang="zh-CN" altLang="en-US" sz="1800" b="1">
                          <a:latin typeface="+mj-ea"/>
                          <a:ea typeface="+mj-ea"/>
                        </a:rPr>
                        <a:t>法 </a:t>
                      </a:r>
                      <a:r>
                        <a:rPr lang="en-US" altLang="zh-CN" sz="1800" b="1"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1800" b="1">
                          <a:latin typeface="+mj-ea"/>
                          <a:ea typeface="+mj-ea"/>
                        </a:rPr>
                        <a:t>Ward.D2)</a:t>
                      </a:r>
                      <a:endParaRPr lang="en-US" sz="180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合并后</a:t>
                      </a:r>
                      <a:r>
                        <a:rPr lang="en-US" sz="1800" b="1" dirty="0">
                          <a:latin typeface="+mj-ea"/>
                          <a:ea typeface="+mj-ea"/>
                        </a:rPr>
                        <a:t>ESS</a:t>
                      </a:r>
                      <a:r>
                        <a:rPr lang="zh-CN" altLang="en-US" sz="1800" b="1" dirty="0">
                          <a:latin typeface="+mj-ea"/>
                          <a:ea typeface="+mj-ea"/>
                        </a:rPr>
                        <a:t>增加最小</a:t>
                      </a:r>
                      <a:endParaRPr lang="zh-CN" altLang="en-US" sz="18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+mj-ea"/>
                          <a:ea typeface="+mj-ea"/>
                        </a:rPr>
                        <a:t>非常高</a:t>
                      </a:r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CN" sz="1800" dirty="0">
                          <a:latin typeface="+mj-ea"/>
                          <a:ea typeface="+mj-ea"/>
                        </a:rPr>
                        <a:t>(ESS</a:t>
                      </a:r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对异常值敏感</a:t>
                      </a:r>
                      <a:r>
                        <a:rPr lang="en-US" altLang="zh-CN" sz="1800" dirty="0"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9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629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22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A6D076E7-CBFB-4CE1-9875-E46DA3EA9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0205" y="477205"/>
            <a:ext cx="5999588" cy="1107996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3. 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用两种方案降低血清胆固醇（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mmol/L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）的效果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723823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4.2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分裂算法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E0FEF49-9798-35D8-7F3C-C29AEC840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95829"/>
              </p:ext>
            </p:extLst>
          </p:nvPr>
        </p:nvGraphicFramePr>
        <p:xfrm>
          <a:off x="609600" y="1295400"/>
          <a:ext cx="10800000" cy="37222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621106435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3805070987"/>
                    </a:ext>
                  </a:extLst>
                </a:gridCol>
                <a:gridCol w="4856400">
                  <a:extLst>
                    <a:ext uri="{9D8B030D-6E8A-4147-A177-3AD203B41FA5}">
                      <a16:colId xmlns:a16="http://schemas.microsoft.com/office/drawing/2014/main" val="963975787"/>
                    </a:ext>
                  </a:extLst>
                </a:gridCol>
              </a:tblGrid>
              <a:tr h="505436"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 b="1" dirty="0">
                          <a:effectLst/>
                        </a:rPr>
                        <a:t>特性</a:t>
                      </a:r>
                      <a:endParaRPr lang="zh-CN" altLang="en-US" sz="1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 b="1" dirty="0">
                          <a:effectLst/>
                        </a:rPr>
                        <a:t>聚合算法</a:t>
                      </a:r>
                      <a:endParaRPr lang="en-US" sz="1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1800" b="1">
                          <a:effectLst/>
                        </a:rPr>
                        <a:t>分裂算法</a:t>
                      </a:r>
                      <a:endParaRPr lang="en-US" sz="1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20782"/>
                  </a:ext>
                </a:extLst>
              </a:tr>
              <a:tr h="637564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策略方向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聚合 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en-US" sz="1600" dirty="0">
                          <a:effectLst/>
                        </a:rPr>
                        <a:t>Bottom-Up)</a:t>
                      </a:r>
                      <a:r>
                        <a:rPr lang="zh-CN" altLang="en-US" sz="1600" dirty="0">
                          <a:effectLst/>
                        </a:rPr>
                        <a:t>从 </a:t>
                      </a:r>
                      <a:r>
                        <a:rPr lang="en-US" sz="1600" dirty="0">
                          <a:effectLst/>
                        </a:rPr>
                        <a:t>N </a:t>
                      </a:r>
                      <a:r>
                        <a:rPr lang="zh-CN" altLang="en-US" sz="1600" dirty="0">
                          <a:effectLst/>
                        </a:rPr>
                        <a:t>个簇合并为 </a:t>
                      </a:r>
                      <a:r>
                        <a:rPr lang="en-US" altLang="zh-CN" sz="1600" dirty="0">
                          <a:effectLst/>
                        </a:rPr>
                        <a:t>1 </a:t>
                      </a:r>
                      <a:r>
                        <a:rPr lang="zh-CN" altLang="en-US" sz="1600" dirty="0">
                          <a:effectLst/>
                        </a:rPr>
                        <a:t>个簇。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分裂 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en-US" sz="1600" dirty="0">
                          <a:effectLst/>
                        </a:rPr>
                        <a:t>Top-Down)</a:t>
                      </a:r>
                      <a:r>
                        <a:rPr lang="zh-CN" altLang="en-US" sz="1600" dirty="0">
                          <a:effectLst/>
                        </a:rPr>
                        <a:t>从 </a:t>
                      </a:r>
                      <a:r>
                        <a:rPr lang="en-US" altLang="zh-CN" sz="1600" dirty="0">
                          <a:effectLst/>
                        </a:rPr>
                        <a:t>1 </a:t>
                      </a:r>
                      <a:r>
                        <a:rPr lang="zh-CN" altLang="en-US" sz="1600" dirty="0">
                          <a:effectLst/>
                        </a:rPr>
                        <a:t>个簇分裂为 </a:t>
                      </a:r>
                      <a:r>
                        <a:rPr lang="en-US" sz="1600" dirty="0">
                          <a:effectLst/>
                        </a:rPr>
                        <a:t>N </a:t>
                      </a:r>
                      <a:r>
                        <a:rPr lang="zh-CN" altLang="en-US" sz="1600" dirty="0">
                          <a:effectLst/>
                        </a:rPr>
                        <a:t>个簇。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91223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决策逻辑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合并： 合并两个使簇内总方差增加最少的簇。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分裂： 分裂内部异质性最大的簇。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624995"/>
                  </a:ext>
                </a:extLst>
              </a:tr>
              <a:tr h="200968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>
                          <a:effectLst/>
                        </a:rPr>
                        <a:t>擅长识别</a:t>
                      </a:r>
                      <a:endParaRPr lang="zh-CN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小型簇 </a:t>
                      </a:r>
                      <a:r>
                        <a:rPr lang="en-US" altLang="zh-CN" sz="1600" dirty="0">
                          <a:effectLst/>
                        </a:rPr>
                        <a:t>(Small clusters)</a:t>
                      </a:r>
                      <a:r>
                        <a:rPr lang="zh-CN" altLang="en-US" sz="1600" dirty="0">
                          <a:effectLst/>
                        </a:rPr>
                        <a:t>。因为它从细节（单个点）开始构建，对小簇的结构把握更准。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大型簇 </a:t>
                      </a:r>
                      <a:r>
                        <a:rPr lang="en-US" altLang="zh-CN" sz="1600" dirty="0">
                          <a:effectLst/>
                        </a:rPr>
                        <a:t>(Large clusters)</a:t>
                      </a:r>
                      <a:r>
                        <a:rPr lang="zh-CN" altLang="en-US" sz="1600" dirty="0">
                          <a:effectLst/>
                        </a:rPr>
                        <a:t>。因为它从宏观（全数据）开始分裂，能更准确地识别数据中大的、全局性的结构。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818582"/>
                  </a:ext>
                </a:extLst>
              </a:tr>
              <a:tr h="162432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>
                          <a:effectLst/>
                        </a:rPr>
                        <a:t>计算复杂度</a:t>
                      </a:r>
                      <a:endParaRPr lang="zh-CN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相对较低，是最常用的方法。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计算量大 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en-US" sz="1600" dirty="0">
                          <a:effectLst/>
                        </a:rPr>
                        <a:t>Computationally expensive)。</a:t>
                      </a:r>
                      <a:r>
                        <a:rPr lang="zh-CN" altLang="en-US" sz="1600" dirty="0">
                          <a:effectLst/>
                        </a:rPr>
                        <a:t>在每一步分裂时，算法都需要复杂的计算来决定在哪里“下刀”。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70761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>
                          <a:effectLst/>
                        </a:rPr>
                        <a:t>聚类结果</a:t>
                      </a:r>
                      <a:endParaRPr lang="zh-CN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倾向于产生大小均衡、紧凑的球状簇。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1600" dirty="0">
                          <a:effectLst/>
                        </a:rPr>
                        <a:t>结果的形状更多变，取决于数据的全局结构。</a:t>
                      </a: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4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760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2BA56BCB-2A6C-45E3-BAA6-6E18D809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587AD09-B9FA-4787-850B-9489BF830E7D}" type="slidenum">
              <a:rPr lang="en-US" altLang="zh-CN" smtClean="0">
                <a:latin typeface="+mn-lt"/>
                <a:ea typeface="+mn-ea"/>
                <a:cs typeface="+mn-ea"/>
                <a:sym typeface="+mn-lt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23</a:t>
            </a:fld>
            <a:endParaRPr lang="en-US" altLang="zh-CN" sz="140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E3E4DA7-4B40-41AA-A831-4ABFBDA227D0}"/>
              </a:ext>
            </a:extLst>
          </p:cNvPr>
          <p:cNvSpPr txBox="1"/>
          <p:nvPr/>
        </p:nvSpPr>
        <p:spPr>
          <a:xfrm>
            <a:off x="911521" y="409110"/>
            <a:ext cx="2262158" cy="646331"/>
          </a:xfrm>
          <a:prstGeom prst="rect">
            <a:avLst/>
          </a:prstGeom>
          <a:noFill/>
          <a:effectLst>
            <a:outerShdw blurRad="12700" dist="50800" dir="1200000" algn="tl" rotWithShape="0">
              <a:schemeClr val="accent1">
                <a:lumMod val="40000"/>
                <a:lumOff val="60000"/>
                <a:alpha val="55000"/>
              </a:scheme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solidFill>
                  <a:srgbClr val="115522"/>
                </a:solidFill>
                <a:cs typeface="+mn-ea"/>
                <a:sym typeface="+mn-lt"/>
              </a:rPr>
              <a:t>4.3 </a:t>
            </a:r>
            <a:r>
              <a:rPr lang="zh-CN" altLang="en-US" sz="3600" b="1" dirty="0">
                <a:solidFill>
                  <a:srgbClr val="115522"/>
                </a:solidFill>
                <a:cs typeface="+mn-ea"/>
                <a:sym typeface="+mn-lt"/>
              </a:rPr>
              <a:t>树状图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68CA7091-1B39-4987-80CE-319770F0AA8A}"/>
              </a:ext>
            </a:extLst>
          </p:cNvPr>
          <p:cNvSpPr/>
          <p:nvPr/>
        </p:nvSpPr>
        <p:spPr>
          <a:xfrm>
            <a:off x="685800" y="520164"/>
            <a:ext cx="97734" cy="525690"/>
          </a:xfrm>
          <a:prstGeom prst="rect">
            <a:avLst/>
          </a:prstGeom>
          <a:solidFill>
            <a:srgbClr val="1155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8F74503-1729-96F2-7E19-521A26EC9846}"/>
              </a:ext>
            </a:extLst>
          </p:cNvPr>
          <p:cNvSpPr txBox="1"/>
          <p:nvPr/>
        </p:nvSpPr>
        <p:spPr>
          <a:xfrm>
            <a:off x="685800" y="1252014"/>
            <a:ext cx="9525000" cy="433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层次聚类会生成一个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树状图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，每个叶节点</a:t>
            </a:r>
            <a:r>
              <a:rPr lang="zh-CN" altLang="en-US" sz="20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 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对应一个样本，从下往上看相似的样本在更高的层次聚合为枝节点。 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从竖直方向看，枝节点的高度（称为共表距离）表明了两个样本</a:t>
            </a:r>
            <a:r>
              <a:rPr lang="en-US" altLang="zh-CN" sz="20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/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小类 的相异度或距离，枝节点越高，其分支的相似性越少。 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注意，只能用竖直高度（而不能用水平方向）作为度量两个样本</a:t>
            </a:r>
            <a:r>
              <a:rPr lang="en-US" altLang="zh-CN" sz="20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/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小类的相似性的依据。</a:t>
            </a:r>
            <a:endParaRPr lang="en-US" altLang="zh-CN" sz="1800" dirty="0">
              <a:solidFill>
                <a:srgbClr val="23373B"/>
              </a:solidFill>
              <a:effectLst/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要得到最终的聚类结果，只需要在一定高度对树状图做剪切即可。问题 是，层次聚类并不能告诉我们应该聚为几类或者从何处剪切树状图。 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Elbow 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法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：可视化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总离差平方和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，找到最佳拐点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Silhouette 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法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：计算每个观测的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平均 </a:t>
            </a:r>
            <a:r>
              <a:rPr lang="en-US" altLang="zh-CN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Silhouette 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值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，找到最大值点 </a:t>
            </a:r>
            <a:endParaRPr lang="zh-CN" altLang="en-US" dirty="0">
              <a:latin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Gap </a:t>
            </a:r>
            <a:r>
              <a:rPr lang="zh-CN" altLang="en-US" sz="1800" b="1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统计量法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（慢）：计算 </a:t>
            </a:r>
            <a:r>
              <a:rPr lang="en-US" altLang="zh-CN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Gap </a:t>
            </a:r>
            <a:r>
              <a:rPr lang="zh-CN" altLang="en-US" sz="1800" dirty="0">
                <a:solidFill>
                  <a:srgbClr val="23373B"/>
                </a:solidFill>
                <a:effectLst/>
                <a:latin typeface="+mn-ea"/>
                <a:cs typeface="+mn-ea"/>
                <a:sym typeface="+mn-lt"/>
              </a:rPr>
              <a:t>统计量，找到最大值点</a:t>
            </a:r>
            <a:endParaRPr lang="zh-CN" altLang="en-US" dirty="0">
              <a:latin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4658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0169" y="0"/>
            <a:ext cx="12192000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3620" y="2345095"/>
            <a:ext cx="10387025" cy="1106805"/>
          </a:xfrm>
          <a:prstGeom prst="rect">
            <a:avLst/>
          </a:prstGeom>
          <a:noFill/>
          <a:effectLst>
            <a:outerShdw blurRad="25400" dist="50800" dir="600000" algn="tl" rotWithShape="0">
              <a:schemeClr val="accent1">
                <a:lumMod val="60000"/>
                <a:lumOff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rgbClr val="115522"/>
                </a:solidFill>
                <a:cs typeface="+mn-ea"/>
                <a:sym typeface="+mn-lt"/>
              </a:rPr>
              <a:t>谢  谢  ！</a:t>
            </a:r>
          </a:p>
        </p:txBody>
      </p:sp>
      <p:pic>
        <p:nvPicPr>
          <p:cNvPr id="4" name="图片 3" descr="图片包含 游戏机, 画, 食物, 标志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771" y="120250"/>
            <a:ext cx="2159377" cy="672803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45"/>
              </a:spcBef>
            </a:pPr>
            <a:fld id="{81D60167-4931-47E6-BA6A-407CBD079E47}" type="slidenum">
              <a:rPr lang="en-US" altLang="zh-CN" spc="-5" smtClean="0">
                <a:latin typeface="+mn-lt"/>
                <a:cs typeface="+mn-ea"/>
                <a:sym typeface="+mn-lt"/>
              </a:rPr>
              <a:pPr marL="38100">
                <a:spcBef>
                  <a:spcPts val="45"/>
                </a:spcBef>
              </a:pPr>
              <a:t>24</a:t>
            </a:fld>
            <a:endParaRPr lang="en-US" altLang="zh-CN" spc="-5" dirty="0">
              <a:latin typeface="+mn-lt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4a30972-0688-4bc2-abd3-117feb04426b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1899</TotalTime>
  <Words>3434</Words>
  <Application>Microsoft Office PowerPoint</Application>
  <PresentationFormat>宽屏</PresentationFormat>
  <Paragraphs>250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-apple-system</vt:lpstr>
      <vt:lpstr>等线</vt:lpstr>
      <vt:lpstr>SimSun</vt:lpstr>
      <vt:lpstr>微软雅黑</vt:lpstr>
      <vt:lpstr>Arial</vt:lpstr>
      <vt:lpstr>Calibri</vt:lpstr>
      <vt:lpstr>Cambria</vt:lpstr>
      <vt:lpstr>Times New Roman</vt:lpstr>
      <vt:lpstr>Wingdings</vt:lpstr>
      <vt:lpstr>Office Theme</vt:lpstr>
      <vt:lpstr>PowerPoint 演示文稿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\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PowerPoint 演示文稿</vt:lpstr>
      <vt:lpstr>PowerPoint 演示文稿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例3. 用两种方案降低血清胆固醇（mmol/L）的效果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描述平均水平的指标</dc:title>
  <dc:creator>HP</dc:creator>
  <cp:lastModifiedBy>康 王</cp:lastModifiedBy>
  <cp:revision>227</cp:revision>
  <dcterms:created xsi:type="dcterms:W3CDTF">2021-11-08T11:24:24Z</dcterms:created>
  <dcterms:modified xsi:type="dcterms:W3CDTF">2025-10-30T12:50:03Z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Acrobat PDFMaker 10.1 PowerPoint 版</vt:lpwstr>
  </property>
  <property fmtid="{D5CDD505-2E9C-101B-9397-08002B2CF9AE}" pid="3" name="ICV">
    <vt:lpwstr>FF2BB430853C4DD589440B9E6908D641</vt:lpwstr>
  </property>
  <property fmtid="{D5CDD505-2E9C-101B-9397-08002B2CF9AE}" pid="4" name="KSOProductBuildVer">
    <vt:lpwstr>1033-3.1.6.6275</vt:lpwstr>
  </property>
</Properties>
</file>