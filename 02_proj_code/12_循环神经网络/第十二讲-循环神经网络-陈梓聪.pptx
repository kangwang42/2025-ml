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41"/>
  </p:notesMasterIdLst>
  <p:handoutMasterIdLst>
    <p:handoutMasterId r:id="rId42"/>
  </p:handoutMasterIdLst>
  <p:sldIdLst>
    <p:sldId id="314" r:id="rId3"/>
    <p:sldId id="726" r:id="rId4"/>
    <p:sldId id="637" r:id="rId5"/>
    <p:sldId id="524" r:id="rId6"/>
    <p:sldId id="729" r:id="rId7"/>
    <p:sldId id="730" r:id="rId8"/>
    <p:sldId id="727" r:id="rId9"/>
    <p:sldId id="731" r:id="rId10"/>
    <p:sldId id="733" r:id="rId11"/>
    <p:sldId id="732" r:id="rId12"/>
    <p:sldId id="528" r:id="rId13"/>
    <p:sldId id="529" r:id="rId14"/>
    <p:sldId id="749" r:id="rId15"/>
    <p:sldId id="739" r:id="rId16"/>
    <p:sldId id="760" r:id="rId17"/>
    <p:sldId id="751" r:id="rId18"/>
    <p:sldId id="736" r:id="rId19"/>
    <p:sldId id="735" r:id="rId20"/>
    <p:sldId id="737" r:id="rId21"/>
    <p:sldId id="740" r:id="rId22"/>
    <p:sldId id="742" r:id="rId23"/>
    <p:sldId id="741" r:id="rId24"/>
    <p:sldId id="752" r:id="rId25"/>
    <p:sldId id="738" r:id="rId26"/>
    <p:sldId id="743" r:id="rId27"/>
    <p:sldId id="753" r:id="rId28"/>
    <p:sldId id="748" r:id="rId29"/>
    <p:sldId id="757" r:id="rId30"/>
    <p:sldId id="756" r:id="rId31"/>
    <p:sldId id="754" r:id="rId32"/>
    <p:sldId id="761" r:id="rId33"/>
    <p:sldId id="639" r:id="rId34"/>
    <p:sldId id="638" r:id="rId35"/>
    <p:sldId id="759" r:id="rId36"/>
    <p:sldId id="715" r:id="rId37"/>
    <p:sldId id="758" r:id="rId38"/>
    <p:sldId id="552" r:id="rId39"/>
    <p:sldId id="445" r:id="rId40"/>
  </p:sldIdLst>
  <p:sldSz cx="12192000" cy="6858000"/>
  <p:notesSz cx="12192000" cy="6858000"/>
  <p:custDataLst>
    <p:tags r:id="rId4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2" userDrawn="1">
          <p15:clr>
            <a:srgbClr val="A4A3A4"/>
          </p15:clr>
        </p15:guide>
        <p15:guide id="2" pos="21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ie" initials="J" lastIdx="0" clrIdx="0"/>
  <p:cmAuthor id="2" name="sun dongxu" initials="sd" lastIdx="0" clrIdx="1"/>
  <p:cmAuthor id="3" name="zhao jie" initials="zj" lastIdx="0" clrIdx="2"/>
  <p:cmAuthor id="4" name="许鑫" initials="h" lastIdx="0" clrIdx="3"/>
  <p:cmAuthor id="5" name="wangxinping" initials="w" lastIdx="0" clrIdx="4"/>
  <p:cmAuthor id="6" name="洪文静" initials="洪" lastIdx="0" clrIdx="5"/>
  <p:cmAuthor id="7" name="guoxx" initials="g" lastIdx="0" clrIdx="6"/>
  <p:cmAuthor id="8" name="PJ Landwehrle" initials="P" lastIdx="0" clrIdx="7"/>
  <p:cmAuthor id="9" name="Steve Thorne" initials="S" lastIdx="0" clrIdx="8"/>
  <p:cmAuthor id="10" name="smkhan" initials="s" lastIdx="0" clrIdx="9"/>
  <p:cmAuthor id="11" name="李超（IT）" initials="L" lastIdx="0" clrIdx="10"/>
  <p:cmAuthor id="12" name="朱磊" initials="朱" lastIdx="0" clrIdx="11"/>
  <p:cmAuthor id="13" name="xiaohuangya" initials="x" lastIdx="0" clrIdx="12"/>
  <p:cmAuthor id="14" name="yang li" initials="yl" lastIdx="0" clrIdx="13"/>
  <p:cmAuthor id="15" name="李岩（IT）" initials="李" lastIdx="0" clrIdx="14"/>
  <p:cmAuthor id="16" name="13686" initials="1" lastIdx="0" clrIdx="15"/>
  <p:cmAuthor id="17" name="李 里" initials="李" lastIdx="0" clrIdx="16"/>
  <p:cmAuthor id="18" name="小 红马" initials="小" lastIdx="0" clrIdx="17"/>
  <p:cmAuthor id="19" name="作者" initials="A" lastIdx="0" clrIdx="18"/>
  <p:cmAuthor id="20" name="Liu Jialin" initials="LJ" lastIdx="0" clrIdx="19"/>
  <p:cmAuthor id="21" name="Will" initials="W" lastIdx="0" clrIdx="20"/>
  <p:cmAuthor id="22" name="Saku Uchikawa" initials="SU" lastIdx="0" clrIdx="21"/>
  <p:cmAuthor id="23" name="Ben" initials="B" lastIdx="0" clrIdx="22"/>
  <p:cmAuthor id="24" name="Monica Lueder" initials="ML" lastIdx="0" clrIdx="23"/>
  <p:cmAuthor id="25" name="Chris French" initials="CF" lastIdx="0" clrIdx="24"/>
  <p:cmAuthor id="26" name="Raman Sharma" initials="RS" lastIdx="0" clrIdx="25"/>
  <p:cmAuthor id="27" name="Administrator" initials="A" lastIdx="0" clrIdx="2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15522"/>
    <a:srgbClr val="067D80"/>
    <a:srgbClr val="9BBB59"/>
    <a:srgbClr val="0E451B"/>
    <a:srgbClr val="2027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73BC2DF-5B70-4369-B003-819707E61E96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  <a:n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8F358828-001B-4BDF-AC41-B58CD2067337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  <a:n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1B842395-A57E-4A2D-BC37-EB52A7445E83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  <a:n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FB3DA303-C968-4A76-AD95-E21D0A8C35F4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  <a:n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AFF97BBA-3880-4E9D-A0BD-24503B8968F0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  <a:n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BACF9049-D818-4097-A4F4-C05188834EEC}" styleName="表样式 1 14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77BDA7"/>
              </a:solidFill>
              <a:prstDash val="solid"/>
            </a:ln>
          </a:top>
          <a:bottom>
            <a:ln w="9525" cmpd="sng">
              <a:solidFill>
                <a:srgbClr val="77BDA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77BDA7">
              <a:lumMod val="10000"/>
              <a:lumOff val="90000"/>
            </a:srgb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77BDA7">
              <a:lumMod val="10000"/>
              <a:lumOff val="9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77BDA7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77BDA7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77BDA7"/>
              </a:solidFill>
              <a:prstDash val="solid"/>
            </a:ln>
          </a:top>
          <a:bottom>
            <a:ln w="9525" cmpd="sng">
              <a:solidFill>
                <a:srgbClr val="77BDA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77BDA7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77BDA7"/>
          </a:solidFill>
        </a:fill>
      </a:tcStyle>
    </a:firstRow>
  </a:tblStyle>
  <a:tblStyle styleId="{34CA7F99-0413-44C0-B179-7141AF6512C1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3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3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3"/>
          </a:solidFill>
        </a:fill>
      </a:tcStyle>
    </a:firstRow>
    <a:neCell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5AE52E01-1B5D-4701-9DF2-2313C3F02902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3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3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3"/>
          </a:solidFill>
        </a:fill>
      </a:tcStyle>
    </a:firstRow>
    <a:neCell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1424D839-E0AA-4905-844A-8DD454BCB818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6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</a:tblStyle>
  <a:tblStyle styleId="{1F57AA32-7AC1-4587-A6EB-D06BF3467AD9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3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3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3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3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3"/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3"/>
          </a:solidFill>
        </a:fill>
      </a:tcStyle>
    </a:firstRow>
    <a:neCell>
      <a:tcStyle>
        <a:tcBdr>
          <a:left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3"/>
              </a:solidFill>
              <a:prstDash val="solid"/>
            </a:ln>
          </a:right>
          <a:top>
            <a:ln w="9525" cmpd="sng">
              <a:solidFill>
                <a:schemeClr val="accent3"/>
              </a:solidFill>
              <a:prstDash val="solid"/>
            </a:ln>
          </a:top>
          <a:bottom>
            <a:ln w="9525" cmpd="sng">
              <a:solidFill>
                <a:schemeClr val="accent3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0F4FFC9B-B553-4306-9817-E9E60B65AF49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>
        <a:fontRef idx="none">
          <a:srgbClr val="08090C"/>
        </a:fontRef>
      </a:tcTxStyle>
      <a:tcStyle>
        <a:tcBdr/>
        <a:fill>
          <a:solidFill>
            <a:schemeClr val="dk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dk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right>
          <a:top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34000"/>
                  <a:lumOff val="66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FFFFFF"/>
              </a:solidFill>
              <a:prstDash val="solid"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firstRow>
  </a:tblStyle>
  <a:tblStyle styleId="{93345843-6056-4642-85EF-6550D5422E44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6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  <a:n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5680"/>
  </p:normalViewPr>
  <p:slideViewPr>
    <p:cSldViewPr showGuides="1">
      <p:cViewPr varScale="1">
        <p:scale>
          <a:sx n="114" d="100"/>
          <a:sy n="114" d="100"/>
        </p:scale>
        <p:origin x="498" y="108"/>
      </p:cViewPr>
      <p:guideLst>
        <p:guide orient="horz" pos="2882"/>
        <p:guide pos="215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552" y="6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gs" Target="tags/tag1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A5988C-E865-4172-B65D-913E57245720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2908BA6-4494-43D5-A93F-A895543B49F4}">
      <dgm:prSet phldrT="[文本]" custT="1"/>
      <dgm:spPr>
        <a:solidFill>
          <a:srgbClr val="7030A0"/>
        </a:solidFill>
      </dgm:spPr>
      <dgm:t>
        <a:bodyPr/>
        <a:lstStyle/>
        <a:p>
          <a:r>
            <a:rPr lang="zh-CN" altLang="en-US" sz="3200" dirty="0"/>
            <a:t>趋势性</a:t>
          </a:r>
        </a:p>
      </dgm:t>
    </dgm:pt>
    <dgm:pt modelId="{0A227222-C856-4E49-B56D-E7AB8771FD61}" type="parTrans" cxnId="{F187E1B8-33ED-45C6-A628-574BF52C04A1}">
      <dgm:prSet/>
      <dgm:spPr/>
      <dgm:t>
        <a:bodyPr/>
        <a:lstStyle/>
        <a:p>
          <a:endParaRPr lang="zh-CN" altLang="en-US"/>
        </a:p>
      </dgm:t>
    </dgm:pt>
    <dgm:pt modelId="{F8249ADB-CDCA-45B4-998A-E4D840820776}" type="sibTrans" cxnId="{F187E1B8-33ED-45C6-A628-574BF52C04A1}">
      <dgm:prSet/>
      <dgm:spPr/>
      <dgm:t>
        <a:bodyPr/>
        <a:lstStyle/>
        <a:p>
          <a:endParaRPr lang="zh-CN" altLang="en-US"/>
        </a:p>
      </dgm:t>
    </dgm:pt>
    <dgm:pt modelId="{A517785D-36F9-49F2-BE67-5E10E8B104ED}">
      <dgm:prSet phldrT="[文本]" custT="1"/>
      <dgm:spPr/>
      <dgm:t>
        <a:bodyPr/>
        <a:lstStyle/>
        <a:p>
          <a:r>
            <a:rPr lang="zh-CN" altLang="en-US" sz="3200" dirty="0"/>
            <a:t>周期性</a:t>
          </a:r>
        </a:p>
      </dgm:t>
    </dgm:pt>
    <dgm:pt modelId="{35D0DD86-F368-4EE6-8B03-09580FFF689D}" type="parTrans" cxnId="{DF4FBC2B-5718-49BF-9FC5-1672B130F639}">
      <dgm:prSet/>
      <dgm:spPr/>
      <dgm:t>
        <a:bodyPr/>
        <a:lstStyle/>
        <a:p>
          <a:endParaRPr lang="zh-CN" altLang="en-US"/>
        </a:p>
      </dgm:t>
    </dgm:pt>
    <dgm:pt modelId="{05BFAE74-5F89-4C5C-BD77-F8B981F66407}" type="sibTrans" cxnId="{DF4FBC2B-5718-49BF-9FC5-1672B130F639}">
      <dgm:prSet/>
      <dgm:spPr/>
      <dgm:t>
        <a:bodyPr/>
        <a:lstStyle/>
        <a:p>
          <a:endParaRPr lang="zh-CN" altLang="en-US"/>
        </a:p>
      </dgm:t>
    </dgm:pt>
    <dgm:pt modelId="{9F1AD5E3-217F-4EBD-A288-365ABCF8170C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 sz="3200" dirty="0"/>
            <a:t>自相关性</a:t>
          </a:r>
        </a:p>
      </dgm:t>
    </dgm:pt>
    <dgm:pt modelId="{CA1BDAAE-40BF-4B39-962F-A296DF9DFF86}" type="parTrans" cxnId="{65986A3B-E2A4-46CD-9511-BDBD18AEA887}">
      <dgm:prSet/>
      <dgm:spPr/>
      <dgm:t>
        <a:bodyPr/>
        <a:lstStyle/>
        <a:p>
          <a:endParaRPr lang="zh-CN" altLang="en-US"/>
        </a:p>
      </dgm:t>
    </dgm:pt>
    <dgm:pt modelId="{CF5A6EF0-C3EA-4AEE-A8F5-B136B468309D}" type="sibTrans" cxnId="{65986A3B-E2A4-46CD-9511-BDBD18AEA887}">
      <dgm:prSet/>
      <dgm:spPr/>
      <dgm:t>
        <a:bodyPr/>
        <a:lstStyle/>
        <a:p>
          <a:endParaRPr lang="zh-CN" altLang="en-US"/>
        </a:p>
      </dgm:t>
    </dgm:pt>
    <dgm:pt modelId="{A90EB648-DAA3-4689-A045-FDB8A7252DEC}">
      <dgm:prSet phldrT="[文本]" custT="1"/>
      <dgm:spPr>
        <a:solidFill>
          <a:srgbClr val="92D050"/>
        </a:solidFill>
      </dgm:spPr>
      <dgm:t>
        <a:bodyPr/>
        <a:lstStyle/>
        <a:p>
          <a:r>
            <a:rPr lang="zh-CN" altLang="en-US" sz="3200" dirty="0"/>
            <a:t>随机性</a:t>
          </a:r>
        </a:p>
      </dgm:t>
    </dgm:pt>
    <dgm:pt modelId="{08686000-9D80-4ABE-837A-85109FFB3E13}" type="parTrans" cxnId="{20A319C5-FAE0-4E87-855A-487E38E6050E}">
      <dgm:prSet/>
      <dgm:spPr/>
      <dgm:t>
        <a:bodyPr/>
        <a:lstStyle/>
        <a:p>
          <a:endParaRPr lang="zh-CN" altLang="en-US"/>
        </a:p>
      </dgm:t>
    </dgm:pt>
    <dgm:pt modelId="{3888AED8-0A2D-474F-A34E-E2188F911580}" type="sibTrans" cxnId="{20A319C5-FAE0-4E87-855A-487E38E6050E}">
      <dgm:prSet/>
      <dgm:spPr/>
      <dgm:t>
        <a:bodyPr/>
        <a:lstStyle/>
        <a:p>
          <a:endParaRPr lang="zh-CN" altLang="en-US"/>
        </a:p>
      </dgm:t>
    </dgm:pt>
    <dgm:pt modelId="{A98CE317-ED52-4293-B966-159D4AB5087F}" type="pres">
      <dgm:prSet presAssocID="{8BA5988C-E865-4172-B65D-913E57245720}" presName="matrix" presStyleCnt="0">
        <dgm:presLayoutVars>
          <dgm:chMax val="1"/>
          <dgm:dir/>
          <dgm:resizeHandles val="exact"/>
        </dgm:presLayoutVars>
      </dgm:prSet>
      <dgm:spPr/>
    </dgm:pt>
    <dgm:pt modelId="{36CCDB5C-431E-40F5-A964-C5BCF6D85075}" type="pres">
      <dgm:prSet presAssocID="{8BA5988C-E865-4172-B65D-913E57245720}" presName="axisShape" presStyleLbl="bgShp" presStyleIdx="0" presStyleCnt="1"/>
      <dgm:spPr/>
    </dgm:pt>
    <dgm:pt modelId="{B4C89901-605E-4A20-9BB9-E957D174A41F}" type="pres">
      <dgm:prSet presAssocID="{8BA5988C-E865-4172-B65D-913E57245720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F7FE59-4A0D-4600-9D4B-9BFCF450BB99}" type="pres">
      <dgm:prSet presAssocID="{8BA5988C-E865-4172-B65D-913E57245720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36B4EAF-E562-4BD3-9293-E5AE1DAE3A7A}" type="pres">
      <dgm:prSet presAssocID="{8BA5988C-E865-4172-B65D-913E57245720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E0F2FF6-EC74-4BE4-8A4F-AD312CB6D1AB}" type="pres">
      <dgm:prSet presAssocID="{8BA5988C-E865-4172-B65D-913E57245720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7421D24-7A44-4A54-9C43-504B1B48D8E6}" type="presOf" srcId="{9F1AD5E3-217F-4EBD-A288-365ABCF8170C}" destId="{736B4EAF-E562-4BD3-9293-E5AE1DAE3A7A}" srcOrd="0" destOrd="0" presId="urn:microsoft.com/office/officeart/2005/8/layout/matrix2"/>
    <dgm:cxn modelId="{DF4FBC2B-5718-49BF-9FC5-1672B130F639}" srcId="{8BA5988C-E865-4172-B65D-913E57245720}" destId="{A517785D-36F9-49F2-BE67-5E10E8B104ED}" srcOrd="1" destOrd="0" parTransId="{35D0DD86-F368-4EE6-8B03-09580FFF689D}" sibTransId="{05BFAE74-5F89-4C5C-BD77-F8B981F66407}"/>
    <dgm:cxn modelId="{65986A3B-E2A4-46CD-9511-BDBD18AEA887}" srcId="{8BA5988C-E865-4172-B65D-913E57245720}" destId="{9F1AD5E3-217F-4EBD-A288-365ABCF8170C}" srcOrd="2" destOrd="0" parTransId="{CA1BDAAE-40BF-4B39-962F-A296DF9DFF86}" sibTransId="{CF5A6EF0-C3EA-4AEE-A8F5-B136B468309D}"/>
    <dgm:cxn modelId="{D53FE887-EC90-4640-A3F5-CED0A43A65CA}" type="presOf" srcId="{A517785D-36F9-49F2-BE67-5E10E8B104ED}" destId="{D4F7FE59-4A0D-4600-9D4B-9BFCF450BB99}" srcOrd="0" destOrd="0" presId="urn:microsoft.com/office/officeart/2005/8/layout/matrix2"/>
    <dgm:cxn modelId="{0D2A659A-0BE3-4645-BDE5-5AF6623CDE77}" type="presOf" srcId="{A90EB648-DAA3-4689-A045-FDB8A7252DEC}" destId="{1E0F2FF6-EC74-4BE4-8A4F-AD312CB6D1AB}" srcOrd="0" destOrd="0" presId="urn:microsoft.com/office/officeart/2005/8/layout/matrix2"/>
    <dgm:cxn modelId="{F187E1B8-33ED-45C6-A628-574BF52C04A1}" srcId="{8BA5988C-E865-4172-B65D-913E57245720}" destId="{62908BA6-4494-43D5-A93F-A895543B49F4}" srcOrd="0" destOrd="0" parTransId="{0A227222-C856-4E49-B56D-E7AB8771FD61}" sibTransId="{F8249ADB-CDCA-45B4-998A-E4D840820776}"/>
    <dgm:cxn modelId="{20A319C5-FAE0-4E87-855A-487E38E6050E}" srcId="{8BA5988C-E865-4172-B65D-913E57245720}" destId="{A90EB648-DAA3-4689-A045-FDB8A7252DEC}" srcOrd="3" destOrd="0" parTransId="{08686000-9D80-4ABE-837A-85109FFB3E13}" sibTransId="{3888AED8-0A2D-474F-A34E-E2188F911580}"/>
    <dgm:cxn modelId="{F99FAEDB-0211-4B30-AFD5-CFF0A52386B3}" type="presOf" srcId="{62908BA6-4494-43D5-A93F-A895543B49F4}" destId="{B4C89901-605E-4A20-9BB9-E957D174A41F}" srcOrd="0" destOrd="0" presId="urn:microsoft.com/office/officeart/2005/8/layout/matrix2"/>
    <dgm:cxn modelId="{9E3D71E8-2B69-45F1-82D2-23F4F613C680}" type="presOf" srcId="{8BA5988C-E865-4172-B65D-913E57245720}" destId="{A98CE317-ED52-4293-B966-159D4AB5087F}" srcOrd="0" destOrd="0" presId="urn:microsoft.com/office/officeart/2005/8/layout/matrix2"/>
    <dgm:cxn modelId="{33391D06-E538-4FE1-8E28-3FAB5D9EEEC8}" type="presParOf" srcId="{A98CE317-ED52-4293-B966-159D4AB5087F}" destId="{36CCDB5C-431E-40F5-A964-C5BCF6D85075}" srcOrd="0" destOrd="0" presId="urn:microsoft.com/office/officeart/2005/8/layout/matrix2"/>
    <dgm:cxn modelId="{F2C4960F-79BE-480A-BDEA-FFAB7B38C231}" type="presParOf" srcId="{A98CE317-ED52-4293-B966-159D4AB5087F}" destId="{B4C89901-605E-4A20-9BB9-E957D174A41F}" srcOrd="1" destOrd="0" presId="urn:microsoft.com/office/officeart/2005/8/layout/matrix2"/>
    <dgm:cxn modelId="{48F2C15E-8C4D-45D6-B562-C17CD8AD2934}" type="presParOf" srcId="{A98CE317-ED52-4293-B966-159D4AB5087F}" destId="{D4F7FE59-4A0D-4600-9D4B-9BFCF450BB99}" srcOrd="2" destOrd="0" presId="urn:microsoft.com/office/officeart/2005/8/layout/matrix2"/>
    <dgm:cxn modelId="{94E13428-1351-40F4-B1D7-5217AA0DBDFD}" type="presParOf" srcId="{A98CE317-ED52-4293-B966-159D4AB5087F}" destId="{736B4EAF-E562-4BD3-9293-E5AE1DAE3A7A}" srcOrd="3" destOrd="0" presId="urn:microsoft.com/office/officeart/2005/8/layout/matrix2"/>
    <dgm:cxn modelId="{49BC2588-9D65-4750-B6A5-FB0AB394060F}" type="presParOf" srcId="{A98CE317-ED52-4293-B966-159D4AB5087F}" destId="{1E0F2FF6-EC74-4BE4-8A4F-AD312CB6D1AB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CDB5C-431E-40F5-A964-C5BCF6D85075}">
      <dsp:nvSpPr>
        <dsp:cNvPr id="0" name=""/>
        <dsp:cNvSpPr/>
      </dsp:nvSpPr>
      <dsp:spPr>
        <a:xfrm>
          <a:off x="1354666" y="0"/>
          <a:ext cx="5418667" cy="5418667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89901-605E-4A20-9BB9-E957D174A41F}">
      <dsp:nvSpPr>
        <dsp:cNvPr id="0" name=""/>
        <dsp:cNvSpPr/>
      </dsp:nvSpPr>
      <dsp:spPr>
        <a:xfrm>
          <a:off x="1706879" y="352213"/>
          <a:ext cx="2167466" cy="2167466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趋势性</a:t>
          </a:r>
        </a:p>
      </dsp:txBody>
      <dsp:txXfrm>
        <a:off x="1812686" y="458020"/>
        <a:ext cx="1955852" cy="1955852"/>
      </dsp:txXfrm>
    </dsp:sp>
    <dsp:sp modelId="{D4F7FE59-4A0D-4600-9D4B-9BFCF450BB99}">
      <dsp:nvSpPr>
        <dsp:cNvPr id="0" name=""/>
        <dsp:cNvSpPr/>
      </dsp:nvSpPr>
      <dsp:spPr>
        <a:xfrm>
          <a:off x="4253653" y="352213"/>
          <a:ext cx="2167466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周期性</a:t>
          </a:r>
        </a:p>
      </dsp:txBody>
      <dsp:txXfrm>
        <a:off x="4359460" y="458020"/>
        <a:ext cx="1955852" cy="1955852"/>
      </dsp:txXfrm>
    </dsp:sp>
    <dsp:sp modelId="{736B4EAF-E562-4BD3-9293-E5AE1DAE3A7A}">
      <dsp:nvSpPr>
        <dsp:cNvPr id="0" name=""/>
        <dsp:cNvSpPr/>
      </dsp:nvSpPr>
      <dsp:spPr>
        <a:xfrm>
          <a:off x="1706879" y="2898986"/>
          <a:ext cx="2167466" cy="2167466"/>
        </a:xfrm>
        <a:prstGeom prst="round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自相关性</a:t>
          </a:r>
        </a:p>
      </dsp:txBody>
      <dsp:txXfrm>
        <a:off x="1812686" y="3004793"/>
        <a:ext cx="1955852" cy="1955852"/>
      </dsp:txXfrm>
    </dsp:sp>
    <dsp:sp modelId="{1E0F2FF6-EC74-4BE4-8A4F-AD312CB6D1AB}">
      <dsp:nvSpPr>
        <dsp:cNvPr id="0" name=""/>
        <dsp:cNvSpPr/>
      </dsp:nvSpPr>
      <dsp:spPr>
        <a:xfrm>
          <a:off x="4253653" y="2898986"/>
          <a:ext cx="2167466" cy="2167466"/>
        </a:xfrm>
        <a:prstGeom prst="round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随机性</a:t>
          </a:r>
        </a:p>
      </dsp:txBody>
      <dsp:txXfrm>
        <a:off x="4359460" y="3004793"/>
        <a:ext cx="1955852" cy="19558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E1CF3-1557-4903-AA7A-069E8B896DA4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EAE90-66CF-41CD-86CF-AB39C198B2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96F7B-7F71-078D-A6D5-EE4C50541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F71DB8-1EB3-DE97-AE46-41830F5BF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BEB7E3-54A0-942D-E4C3-01BED6DC1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C4BA7C-EDB7-8DF6-DB2D-F9C04A9CE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E3E90-973B-4C64-92B3-C607DDBF2AA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803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FD45-5231-4A35-93FE-E68DB177DD1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FD45-5231-4A35-93FE-E68DB177DD1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2161-13B1-3DB7-3429-F3B0C0C8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C4BEEE-7CC3-6438-8248-C8D1A0CFF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8418F7-0244-4D26-50E8-AC906AF6932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825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65-D6A1-00B2-6D59-30C3130B1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4C6EC1-EC35-B8F7-7EF7-8FC75F9D7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26D0FE-A4AD-E1CC-8167-CE6757D92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4E97A7-7106-5805-C5B4-3A5BD5316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FD45-5231-4A35-93FE-E68DB177DD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9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6DB50-84DF-2163-4908-7061BB8D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7BCF2E-D002-F14D-D394-07C45E96A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7EC2A1-0FD7-1295-446E-505E80A1AC4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165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8BF67-0546-82DD-B457-EB6B6382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BA4DCB-5FD3-C98F-5B2B-59E73FC36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400CD-D7C9-E7FD-BEB4-98E6273CA11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559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52EF-1286-96BD-D3DA-C3A22183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BB3BBE-B2C4-5F4C-CD76-5722120FC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CDCF8A-008E-9BF9-3D7A-9E77DEE5661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059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5C2C-30CF-B53C-6603-D4E75F484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E575D6-FA68-525D-8F67-7C5ECFDCB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B72EF9-60FF-E821-DA6E-B9FA3F19986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027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FD45-5231-4A35-93FE-E68DB177DD16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D18E9-B4AD-643A-67AF-DABD9FA6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917B11-7C60-ACDB-37E0-E2B60FE11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729617-BFB4-B72E-1829-FA887D6BD6C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170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3C791-82B2-9814-3B63-1CB24AD6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ECE0ED-8083-506F-3AE4-40D99C8D0F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49040F-8EFF-43BC-E12B-616937F455D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573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98224-40D4-8682-8154-CC7253C3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EF9B39-6848-32EF-2DA0-799FF9FDB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DFF1AA-2C65-B42D-A05E-70A42522C45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86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82AF-5803-EAFA-0A4C-D46359AC6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876C41-5CF8-6938-A2B5-6EF302BC4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C840D9-1C5E-4098-568A-0C52ADFDF93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649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40CE6-4C60-94A7-27CE-A17ADFC07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98B891-1BB4-CC49-11A8-ED5F166FB5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C229BE-E4DD-EF33-2C5B-F6D51EB55B6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945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FE09-793D-7D20-E079-6A70540B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2F05EC-6135-5093-F936-C0D41F7F8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02E83B-55B5-3BEE-5E6C-05A5D5E8393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90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55B1-FA04-75F7-0527-E7CDB2E6A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234A25-1873-1159-CB85-8B0F3A54B2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670693-6EDC-3569-2840-7EC0ED59C8B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0404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91833-9C5B-7CD7-E891-CA17C700F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27C21A-A1BE-EC37-6D32-C19150EBA9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180031-974B-56BD-5864-43C643C3B98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117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A96C-63FB-FA44-EB6D-D23250AE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2A1082-7829-7848-800B-7BD46AA3E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089AB0-D9C5-A5DE-9503-1084C40D8A9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338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336A-252D-1B55-344B-A3C00357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2FFC36-FC60-9CA9-1CAC-B529D7A65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1E4CA9-5D78-32A5-10B0-FD8E92A6DD7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7491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FAB5-6390-853F-8EF9-4BEF15D9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54DCAA-846B-A22F-6351-7806CDAEB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8B51D0-E51F-41F3-39BA-E863734CF83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5788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A81C-DC4D-387B-948E-E83BA1DA0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DC6106-7E27-00BD-EC27-28148FE231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579F21-D5F9-191C-372F-2EACF7664D2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2144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BDF5F-306E-D70A-B9E8-70C736E7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A59131-50C3-C7F7-3E1E-5682A3175B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F8C21A-4CC2-8F2F-2D1B-4ADC4B1C0FE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198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AE0A-891B-7B72-FE99-B3BE0732B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C85F40-CD38-26F2-CB99-112001ACEF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313391-833B-E62C-045B-AF7F8FA82D2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2406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EDF11-0833-549A-D246-7DAC92AE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5D9C17-2207-C1AF-24F1-347FB32E5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55F7BA-A070-D3FD-7731-0296CA24E63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8437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D063-F598-8771-07C0-6095B5552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A81102-3A94-6B67-E4BD-78FE17DAC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695C79-67F0-8722-52AE-D431F1314E8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98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94F9-09B2-03D7-2041-39BACA3D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F0D151-13C1-F9AA-9272-83870A6C84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BB8234-468B-2C7E-7E9F-0725303715B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4216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BDAC-C352-2CD7-76D7-3BDCDEDA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08C0B8-991E-9FBA-3948-CE15F2655D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F59B18-43B5-B7A9-1BDB-B63A6BC854C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1782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FD45-5231-4A35-93FE-E68DB177DD16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5FD45-5231-4A35-93FE-E68DB177DD16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F288E-B8DF-12E4-9D5A-86CA1EDA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4D3479-69BD-BBB0-19A4-BFEC1B86C6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A13618-1977-958C-3662-91168E5837B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6292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5AA3-7FE7-A7F8-0BF5-66DE2D91B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82949B-B791-54F9-5B60-1AD031864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4A1AEC-BB82-F2E7-1001-0B3281CF7BF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7630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48A4A-F9CD-4C01-946A-2CCCC9F443B2}" type="datetime1">
              <a:rPr lang="en-US" altLang="zh-CN" smtClean="0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245745"/>
          </a:xfrm>
        </p:spPr>
        <p:txBody>
          <a:bodyPr lIns="0" tIns="0" rIns="0" bIns="0"/>
          <a:lstStyle>
            <a:lvl1pPr>
              <a:defRPr sz="1600" b="1" i="0">
                <a:solidFill>
                  <a:srgbClr val="514A4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‹#›</a:t>
            </a:fld>
            <a:endParaRPr lang="en-US" altLang="zh-CN" spc="-5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3B23-CF71-4261-9781-986BA6C334DD}" type="datetime1">
              <a:rPr lang="en-US" altLang="zh-CN" smtClean="0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245745"/>
          </a:xfrm>
        </p:spPr>
        <p:txBody>
          <a:bodyPr lIns="0" tIns="0" rIns="0" bIns="0"/>
          <a:lstStyle>
            <a:lvl1pPr>
              <a:defRPr sz="1600" b="1" i="0">
                <a:solidFill>
                  <a:srgbClr val="514A4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‹#›</a:t>
            </a:fld>
            <a:endParaRPr lang="en-US" altLang="zh-CN" spc="-5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CD487-E2B2-4E8B-8070-0F31549F4F99}" type="datetime1">
              <a:rPr lang="en-US" altLang="zh-CN" smtClean="0"/>
              <a:t>12/6/2025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245745"/>
          </a:xfrm>
        </p:spPr>
        <p:txBody>
          <a:bodyPr lIns="0" tIns="0" rIns="0" bIns="0"/>
          <a:lstStyle>
            <a:lvl1pPr>
              <a:defRPr sz="1600" b="1" i="0">
                <a:solidFill>
                  <a:srgbClr val="514A4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‹#›</a:t>
            </a:fld>
            <a:endParaRPr lang="en-US" altLang="zh-CN" spc="-5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C0987-B437-4014-8445-36DDD162A75C}" type="datetime1">
              <a:rPr lang="en-US" altLang="zh-CN" smtClean="0"/>
              <a:t>12/6/2025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245745"/>
          </a:xfrm>
        </p:spPr>
        <p:txBody>
          <a:bodyPr lIns="0" tIns="0" rIns="0" bIns="0"/>
          <a:lstStyle>
            <a:lvl1pPr>
              <a:defRPr sz="1600" b="1" i="0">
                <a:solidFill>
                  <a:srgbClr val="514A4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‹#›</a:t>
            </a:fld>
            <a:endParaRPr lang="en-US" altLang="zh-CN" spc="-5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85F46-8E67-46B8-AD13-08EBD43727A4}" type="datetime1">
              <a:rPr lang="en-US" altLang="zh-CN" smtClean="0"/>
              <a:t>12/6/2025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245745"/>
          </a:xfrm>
        </p:spPr>
        <p:txBody>
          <a:bodyPr lIns="0" tIns="0" rIns="0" bIns="0"/>
          <a:lstStyle>
            <a:lvl1pPr>
              <a:defRPr sz="1600" b="1" i="0">
                <a:solidFill>
                  <a:srgbClr val="514A4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‹#›</a:t>
            </a:fld>
            <a:endParaRPr lang="en-US" altLang="zh-CN" spc="-5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7E55-CB4D-4E60-A244-EE8B97B13CC8}" type="datetime1">
              <a:rPr lang="en-US" altLang="zh-CN" smtClean="0"/>
              <a:t>12/6/2025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625276" y="6453264"/>
            <a:ext cx="804724" cy="245745"/>
          </a:xfrm>
        </p:spPr>
        <p:txBody>
          <a:bodyPr/>
          <a:lstStyle>
            <a:lvl1pPr>
              <a:defRPr sz="16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41060A-B4F9-43A1-9C54-EEC2C3C9E745}" type="slidenum">
              <a:rPr lang="zh-CN" altLang="en-US">
                <a:solidFill>
                  <a:srgbClr val="003366"/>
                </a:solidFill>
              </a:rPr>
              <a:t>‹#›</a:t>
            </a:fld>
            <a:endParaRPr lang="en-US" altLang="zh-CN">
              <a:solidFill>
                <a:srgbClr val="003366"/>
              </a:solidFill>
            </a:endParaRPr>
          </a:p>
        </p:txBody>
      </p:sp>
    </p:spTree>
  </p:cSld>
  <p:clrMapOvr>
    <a:masterClrMapping/>
  </p:clrMapOvr>
  <p:transition spd="slow">
    <p:pull dir="ru"/>
  </p:transition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8"/>
          <p:cNvSpPr/>
          <p:nvPr userDrawn="1"/>
        </p:nvSpPr>
        <p:spPr>
          <a:xfrm>
            <a:off x="783590" y="228699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245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514A4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‹#›</a:t>
            </a:fld>
            <a:endParaRPr lang="en-US" altLang="zh-CN"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245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514A4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‹#›</a:t>
            </a:fld>
            <a:endParaRPr lang="en-US" altLang="zh-CN" spc="-5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24" y="6256020"/>
            <a:ext cx="12188951" cy="1097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96205" y="477205"/>
            <a:ext cx="5999588" cy="1005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1021" y="1224804"/>
            <a:ext cx="6453505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6EFB-8F6A-4F48-8625-F778D4CB8899}" type="datetime1">
              <a:rPr lang="en-US" altLang="zh-CN" smtClean="0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245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514A4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‹#›</a:t>
            </a:fld>
            <a:endParaRPr lang="en-US" altLang="zh-CN"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slideLayout" Target="../slideLayouts/slideLayout9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tmp"/><Relationship Id="rId3" Type="http://schemas.openxmlformats.org/officeDocument/2006/relationships/image" Target="../media/image13.tmp"/><Relationship Id="rId7" Type="http://schemas.openxmlformats.org/officeDocument/2006/relationships/image" Target="../media/image15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tmp"/><Relationship Id="rId5" Type="http://schemas.openxmlformats.org/officeDocument/2006/relationships/hyperlink" Target="https://peerj.com/preprints/3190v2/" TargetMode="External"/><Relationship Id="rId4" Type="http://schemas.openxmlformats.org/officeDocument/2006/relationships/hyperlink" Target="https://github.com/facebook/prophe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5.jpg"/><Relationship Id="rId3" Type="http://schemas.openxmlformats.org/officeDocument/2006/relationships/image" Target="../media/image17.png"/><Relationship Id="rId21" Type="http://schemas.openxmlformats.org/officeDocument/2006/relationships/image" Target="../media/image431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39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81.png"/><Relationship Id="rId20" Type="http://schemas.openxmlformats.org/officeDocument/2006/relationships/image" Target="../media/image4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11" Type="http://schemas.openxmlformats.org/officeDocument/2006/relationships/image" Target="../media/image42.png"/><Relationship Id="rId5" Type="http://schemas.openxmlformats.org/officeDocument/2006/relationships/image" Target="../media/image26.png"/><Relationship Id="rId15" Type="http://schemas.openxmlformats.org/officeDocument/2006/relationships/image" Target="../media/image371.png"/><Relationship Id="rId10" Type="http://schemas.openxmlformats.org/officeDocument/2006/relationships/image" Target="../media/image41.png"/><Relationship Id="rId19" Type="http://schemas.openxmlformats.org/officeDocument/2006/relationships/image" Target="../media/image411.png"/><Relationship Id="rId4" Type="http://schemas.openxmlformats.org/officeDocument/2006/relationships/image" Target="../media/image21.png"/><Relationship Id="rId9" Type="http://schemas.openxmlformats.org/officeDocument/2006/relationships/image" Target="../media/image40.png"/><Relationship Id="rId14" Type="http://schemas.openxmlformats.org/officeDocument/2006/relationships/image" Target="../media/image361.png"/><Relationship Id="rId22" Type="http://schemas.openxmlformats.org/officeDocument/2006/relationships/image" Target="../media/image4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tmp"/><Relationship Id="rId3" Type="http://schemas.openxmlformats.org/officeDocument/2006/relationships/image" Target="../media/image48.tmp"/><Relationship Id="rId7" Type="http://schemas.openxmlformats.org/officeDocument/2006/relationships/image" Target="../media/image51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0.png"/><Relationship Id="rId5" Type="http://schemas.openxmlformats.org/officeDocument/2006/relationships/image" Target="../media/image50.png"/><Relationship Id="rId10" Type="http://schemas.openxmlformats.org/officeDocument/2006/relationships/image" Target="../media/image54.tmp"/><Relationship Id="rId4" Type="http://schemas.openxmlformats.org/officeDocument/2006/relationships/image" Target="../media/image49.tmp"/><Relationship Id="rId9" Type="http://schemas.openxmlformats.org/officeDocument/2006/relationships/image" Target="../media/image53.tm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tmp"/><Relationship Id="rId13" Type="http://schemas.openxmlformats.org/officeDocument/2006/relationships/image" Target="../media/image440.png"/><Relationship Id="rId18" Type="http://schemas.openxmlformats.org/officeDocument/2006/relationships/image" Target="../media/image49.png"/><Relationship Id="rId3" Type="http://schemas.openxmlformats.org/officeDocument/2006/relationships/image" Target="../media/image55.png"/><Relationship Id="rId21" Type="http://schemas.openxmlformats.org/officeDocument/2006/relationships/image" Target="../media/image520.png"/><Relationship Id="rId7" Type="http://schemas.openxmlformats.org/officeDocument/2006/relationships/image" Target="../media/image380.png"/><Relationship Id="rId12" Type="http://schemas.openxmlformats.org/officeDocument/2006/relationships/image" Target="../media/image430.png"/><Relationship Id="rId17" Type="http://schemas.openxmlformats.org/officeDocument/2006/relationships/image" Target="../media/image48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70.png"/><Relationship Id="rId20" Type="http://schemas.openxmlformats.org/officeDocument/2006/relationships/image" Target="../media/image5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0.png"/><Relationship Id="rId11" Type="http://schemas.openxmlformats.org/officeDocument/2006/relationships/image" Target="../media/image420.png"/><Relationship Id="rId5" Type="http://schemas.openxmlformats.org/officeDocument/2006/relationships/image" Target="../media/image360.png"/><Relationship Id="rId15" Type="http://schemas.openxmlformats.org/officeDocument/2006/relationships/image" Target="../media/image460.png"/><Relationship Id="rId10" Type="http://schemas.openxmlformats.org/officeDocument/2006/relationships/image" Target="../media/image410.png"/><Relationship Id="rId19" Type="http://schemas.openxmlformats.org/officeDocument/2006/relationships/image" Target="../media/image500.png"/><Relationship Id="rId4" Type="http://schemas.openxmlformats.org/officeDocument/2006/relationships/image" Target="../media/image350.png"/><Relationship Id="rId9" Type="http://schemas.openxmlformats.org/officeDocument/2006/relationships/image" Target="../media/image400.png"/><Relationship Id="rId14" Type="http://schemas.openxmlformats.org/officeDocument/2006/relationships/image" Target="../media/image4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tmp"/><Relationship Id="rId13" Type="http://schemas.openxmlformats.org/officeDocument/2006/relationships/image" Target="../media/image60.tmp"/><Relationship Id="rId3" Type="http://schemas.openxmlformats.org/officeDocument/2006/relationships/image" Target="../media/image59.png"/><Relationship Id="rId7" Type="http://schemas.openxmlformats.org/officeDocument/2006/relationships/image" Target="../media/image57.tmp"/><Relationship Id="rId12" Type="http://schemas.openxmlformats.org/officeDocument/2006/relationships/image" Target="../media/image53.tm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2.png"/><Relationship Id="rId11" Type="http://schemas.openxmlformats.org/officeDocument/2006/relationships/image" Target="../media/image59.tmp"/><Relationship Id="rId5" Type="http://schemas.openxmlformats.org/officeDocument/2006/relationships/image" Target="../media/image61.png"/><Relationship Id="rId15" Type="http://schemas.openxmlformats.org/officeDocument/2006/relationships/image" Target="../media/image61.tmp"/><Relationship Id="rId10" Type="http://schemas.openxmlformats.org/officeDocument/2006/relationships/image" Target="../media/image52.tmp"/><Relationship Id="rId4" Type="http://schemas.openxmlformats.org/officeDocument/2006/relationships/image" Target="../media/image60.png"/><Relationship Id="rId9" Type="http://schemas.openxmlformats.org/officeDocument/2006/relationships/image" Target="../media/image58.tmp"/><Relationship Id="rId14" Type="http://schemas.openxmlformats.org/officeDocument/2006/relationships/image" Target="../media/image54.tm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tmp"/><Relationship Id="rId7" Type="http://schemas.openxmlformats.org/officeDocument/2006/relationships/image" Target="../media/image62.tmp"/><Relationship Id="rId12" Type="http://schemas.openxmlformats.org/officeDocument/2006/relationships/image" Target="../media/image6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.tmp"/><Relationship Id="rId11" Type="http://schemas.openxmlformats.org/officeDocument/2006/relationships/image" Target="../media/image610.png"/><Relationship Id="rId5" Type="http://schemas.openxmlformats.org/officeDocument/2006/relationships/image" Target="../media/image54.tmp"/><Relationship Id="rId10" Type="http://schemas.openxmlformats.org/officeDocument/2006/relationships/image" Target="../media/image600.png"/><Relationship Id="rId4" Type="http://schemas.openxmlformats.org/officeDocument/2006/relationships/image" Target="../media/image52.tmp"/><Relationship Id="rId9" Type="http://schemas.openxmlformats.org/officeDocument/2006/relationships/image" Target="../media/image5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eeplearning.cs.cmu.edu/F23/document/readings/LSTM.pdf" TargetMode="External"/><Relationship Id="rId5" Type="http://schemas.openxmlformats.org/officeDocument/2006/relationships/image" Target="../media/image650.png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7.png"/><Relationship Id="rId4" Type="http://schemas.openxmlformats.org/officeDocument/2006/relationships/image" Target="../media/image64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tmp"/><Relationship Id="rId3" Type="http://schemas.openxmlformats.org/officeDocument/2006/relationships/image" Target="../media/image66.tmp"/><Relationship Id="rId7" Type="http://schemas.openxmlformats.org/officeDocument/2006/relationships/image" Target="../media/image52.tm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.tmp"/><Relationship Id="rId11" Type="http://schemas.openxmlformats.org/officeDocument/2006/relationships/image" Target="../media/image68.tmp"/><Relationship Id="rId5" Type="http://schemas.openxmlformats.org/officeDocument/2006/relationships/image" Target="../media/image62.tmp"/><Relationship Id="rId10" Type="http://schemas.openxmlformats.org/officeDocument/2006/relationships/image" Target="../media/image67.tmp"/><Relationship Id="rId4" Type="http://schemas.openxmlformats.org/officeDocument/2006/relationships/image" Target="../media/image74.png"/><Relationship Id="rId9" Type="http://schemas.openxmlformats.org/officeDocument/2006/relationships/image" Target="../media/image54.tm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2rt.com/written-memories-understanding-deriving-and-extending-the-lstm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arxiv.org/pdf/1406.1078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tmp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tmp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tmp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arxiv.org/pdf/1706.03762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zhouhaoyi/Informer2020" TargetMode="External"/><Relationship Id="rId4" Type="http://schemas.openxmlformats.org/officeDocument/2006/relationships/hyperlink" Target="https://arxiv.org/pdf/2012.07436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ips.cc/virtual/2024/poster/92992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6.png"/><Relationship Id="rId4" Type="http://schemas.openxmlformats.org/officeDocument/2006/relationships/hyperlink" Target="https://github.com/Water2sea/TPGN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meta-recsys/generative-recommenders" TargetMode="External"/><Relationship Id="rId4" Type="http://schemas.openxmlformats.org/officeDocument/2006/relationships/hyperlink" Target="https://arxiv.org/pdf/2402.17152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49" b="60669"/>
          <a:stretch>
            <a:fillRect/>
          </a:stretch>
        </p:blipFill>
        <p:spPr>
          <a:xfrm>
            <a:off x="0" y="536121"/>
            <a:ext cx="4401879" cy="2366567"/>
          </a:xfrm>
          <a:prstGeom prst="rect">
            <a:avLst/>
          </a:prstGeom>
        </p:spPr>
      </p:pic>
      <p:pic>
        <p:nvPicPr>
          <p:cNvPr id="6" name="图片 5" descr="图片包含 看着, 女人, 房间, 食物&#10;&#10;描述已自动生成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9" b="28461"/>
          <a:stretch>
            <a:fillRect/>
          </a:stretch>
        </p:blipFill>
        <p:spPr>
          <a:xfrm>
            <a:off x="0" y="1531999"/>
            <a:ext cx="12191999" cy="12874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8260" y="1478280"/>
            <a:ext cx="12181205" cy="106984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循环神经网络</a:t>
            </a:r>
            <a:endParaRPr lang="zh-CN" altLang="en-US" sz="480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32990" y="3810000"/>
            <a:ext cx="7526020" cy="258318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中山大学公共卫生学院</a:t>
            </a:r>
            <a:endParaRPr lang="en-US" altLang="zh-CN" sz="3600" dirty="0">
              <a:solidFill>
                <a:schemeClr val="accent6">
                  <a:lumMod val="50000"/>
                </a:schemeClr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36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讲者：陈梓聪（</a:t>
            </a:r>
            <a:r>
              <a:rPr lang="en-US" altLang="zh-CN" sz="36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2017</a:t>
            </a:r>
            <a:r>
              <a:rPr lang="zh-CN" altLang="en-US" sz="36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届全日制硕士）导师：张晋昕</a:t>
            </a:r>
            <a:r>
              <a:rPr lang="en-US" altLang="zh-CN" sz="36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教授</a:t>
            </a:r>
            <a:r>
              <a:rPr lang="en-US" altLang="zh-CN" sz="36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/</a:t>
            </a:r>
            <a:r>
              <a:rPr lang="zh-CN" altLang="en-US" sz="36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博导</a:t>
            </a:r>
            <a:endParaRPr lang="zh-CN" altLang="en-US" sz="2800" b="1" dirty="0">
              <a:solidFill>
                <a:srgbClr val="013718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图片包含 游戏机, 画, 食物, 标志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DC0D6-6A97-C83C-76E8-A3381605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C03C10A-AAAD-9103-5DBA-1FB6803AC2CA}"/>
              </a:ext>
            </a:extLst>
          </p:cNvPr>
          <p:cNvGrpSpPr/>
          <p:nvPr/>
        </p:nvGrpSpPr>
        <p:grpSpPr>
          <a:xfrm>
            <a:off x="910747" y="2469464"/>
            <a:ext cx="1786519" cy="1381855"/>
            <a:chOff x="890960" y="2540088"/>
            <a:chExt cx="1786519" cy="1381855"/>
          </a:xfrm>
        </p:grpSpPr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1128A31E-41DC-8945-74C8-90888D979134}"/>
                </a:ext>
              </a:extLst>
            </p:cNvPr>
            <p:cNvSpPr/>
            <p:nvPr/>
          </p:nvSpPr>
          <p:spPr>
            <a:xfrm>
              <a:off x="1119686" y="2540088"/>
              <a:ext cx="1381855" cy="1381855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>
                    <a:lumMod val="85000"/>
                  </a:sysClr>
                </a:gs>
                <a:gs pos="100000">
                  <a:sysClr val="window" lastClr="FFFFFF"/>
                </a:gs>
              </a:gsLst>
              <a:lin ang="2700000" scaled="1"/>
              <a:tileRect/>
            </a:gradFill>
            <a:ln w="38100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88900" dist="1016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9959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00E4ADA-ACFE-8BC8-A2D6-3B9477B4E751}"/>
                </a:ext>
              </a:extLst>
            </p:cNvPr>
            <p:cNvGrpSpPr/>
            <p:nvPr/>
          </p:nvGrpSpPr>
          <p:grpSpPr>
            <a:xfrm>
              <a:off x="890960" y="2789682"/>
              <a:ext cx="1786519" cy="913025"/>
              <a:chOff x="606977" y="2684566"/>
              <a:chExt cx="1787217" cy="913382"/>
            </a:xfrm>
          </p:grpSpPr>
          <p:sp>
            <p:nvSpPr>
              <p:cNvPr id="115" name="文本框 5">
                <a:extLst>
                  <a:ext uri="{FF2B5EF4-FFF2-40B4-BE49-F238E27FC236}">
                    <a16:creationId xmlns:a16="http://schemas.microsoft.com/office/drawing/2014/main" id="{6748B63E-9795-17C4-E28E-672AA4E5B4E7}"/>
                  </a:ext>
                </a:extLst>
              </p:cNvPr>
              <p:cNvSpPr txBox="1"/>
              <p:nvPr/>
            </p:nvSpPr>
            <p:spPr>
              <a:xfrm>
                <a:off x="606977" y="2684566"/>
                <a:ext cx="1787217" cy="707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67D80"/>
                    </a:solidFill>
                    <a:effectLst>
                      <a:innerShdw blurRad="63500" dist="38100" dir="13500000">
                        <a:prstClr val="black">
                          <a:alpha val="50000"/>
                        </a:prstClr>
                      </a:innerShdw>
                    </a:effectLst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目录</a:t>
                </a:r>
              </a:p>
            </p:txBody>
          </p: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8CA8A54-3E88-20BB-6ADE-87F39D43157A}"/>
                  </a:ext>
                </a:extLst>
              </p:cNvPr>
              <p:cNvSpPr/>
              <p:nvPr/>
            </p:nvSpPr>
            <p:spPr>
              <a:xfrm>
                <a:off x="806961" y="3260631"/>
                <a:ext cx="1381356" cy="3373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67D8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CONTENTS</a:t>
                </a:r>
              </a:p>
            </p:txBody>
          </p:sp>
        </p:grp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ABC1E8D-2526-393C-66CA-FE0BCB344133}"/>
              </a:ext>
            </a:extLst>
          </p:cNvPr>
          <p:cNvCxnSpPr>
            <a:cxnSpLocks/>
          </p:cNvCxnSpPr>
          <p:nvPr/>
        </p:nvCxnSpPr>
        <p:spPr>
          <a:xfrm>
            <a:off x="3286046" y="876996"/>
            <a:ext cx="0" cy="4990404"/>
          </a:xfrm>
          <a:prstGeom prst="line">
            <a:avLst/>
          </a:prstGeom>
          <a:ln w="19050">
            <a:solidFill>
              <a:srgbClr val="067D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436FBC-C195-7839-82E0-8348E5ABB01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52344" y="1900555"/>
            <a:ext cx="5620256" cy="690245"/>
            <a:chOff x="4734855" y="228802"/>
            <a:chExt cx="5358182" cy="690514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353CAA94-DF29-62F4-014A-01303DD9E5D2}"/>
                </a:ext>
              </a:extLst>
            </p:cNvPr>
            <p:cNvGrpSpPr/>
            <p:nvPr/>
          </p:nvGrpSpPr>
          <p:grpSpPr>
            <a:xfrm>
              <a:off x="4734855" y="228802"/>
              <a:ext cx="730401" cy="690514"/>
              <a:chOff x="7468851" y="3120729"/>
              <a:chExt cx="793261" cy="749944"/>
            </a:xfrm>
          </p:grpSpPr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80BC70CF-6BF7-7C9A-CFDA-58E0627C93B2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468851" y="3120729"/>
                <a:ext cx="738363" cy="749944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ln w="2540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88900" dist="635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67D8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8" name="文本框 20">
                <a:extLst>
                  <a:ext uri="{FF2B5EF4-FFF2-40B4-BE49-F238E27FC236}">
                    <a16:creationId xmlns:a16="http://schemas.microsoft.com/office/drawing/2014/main" id="{584BAA67-28DD-5FCB-133A-A5395266E476}"/>
                  </a:ext>
                </a:extLst>
              </p:cNvPr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7469121" y="3175047"/>
                <a:ext cx="792991" cy="634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1200" cap="none" spc="0" normalizeH="0" baseline="0" dirty="0">
                    <a:solidFill>
                      <a:srgbClr val="067D80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二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67D80"/>
                  </a:solidFill>
                  <a:effectLst>
                    <a:innerShdw blurRad="63500" dist="38100" dir="135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128" name="文本框 33">
              <a:extLst>
                <a:ext uri="{FF2B5EF4-FFF2-40B4-BE49-F238E27FC236}">
                  <a16:creationId xmlns:a16="http://schemas.microsoft.com/office/drawing/2014/main" id="{18D85B7F-214D-CB1C-E6F4-E6B0C7E8BA91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5830936" y="320443"/>
              <a:ext cx="4262101" cy="583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rgbClr val="067D8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传统建模方法</a:t>
              </a:r>
              <a:endParaRPr kumimoji="0" lang="zh-CN" altLang="en-US" sz="3200" b="1" i="0" u="none" strike="noStrike" kern="1200" cap="none" spc="0" normalizeH="0" baseline="0" dirty="0">
                <a:solidFill>
                  <a:srgbClr val="067D8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1674A57-786B-5222-4252-B32A852AC5E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733800" y="2967355"/>
            <a:ext cx="6095999" cy="690245"/>
            <a:chOff x="4734847" y="228802"/>
            <a:chExt cx="4208368" cy="690514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A3F3AE2-04C3-1D6C-85E3-A62F1423FC40}"/>
                </a:ext>
              </a:extLst>
            </p:cNvPr>
            <p:cNvGrpSpPr/>
            <p:nvPr/>
          </p:nvGrpSpPr>
          <p:grpSpPr>
            <a:xfrm>
              <a:off x="4734847" y="228802"/>
              <a:ext cx="528714" cy="690514"/>
              <a:chOff x="7468851" y="3120729"/>
              <a:chExt cx="574217" cy="749944"/>
            </a:xfrm>
          </p:grpSpPr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8D1301CB-BDB6-664E-3591-5C73245DEF4D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7468851" y="3120729"/>
                <a:ext cx="534660" cy="749944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ln w="2540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88900" dist="635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67D8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文本框 20">
                <a:extLst>
                  <a:ext uri="{FF2B5EF4-FFF2-40B4-BE49-F238E27FC236}">
                    <a16:creationId xmlns:a16="http://schemas.microsoft.com/office/drawing/2014/main" id="{F94A7538-319F-34DE-08B9-050053F37C89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468851" y="3203147"/>
                <a:ext cx="574217" cy="634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1200" cap="none" spc="0" normalizeH="0" baseline="0" dirty="0">
                    <a:solidFill>
                      <a:srgbClr val="067D80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三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67D80"/>
                  </a:solidFill>
                  <a:effectLst>
                    <a:innerShdw blurRad="63500" dist="38100" dir="135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45" name="文本框 33">
              <a:extLst>
                <a:ext uri="{FF2B5EF4-FFF2-40B4-BE49-F238E27FC236}">
                  <a16:creationId xmlns:a16="http://schemas.microsoft.com/office/drawing/2014/main" id="{EF3E02EA-D5E3-A3D5-DC95-25FB997F7EC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5517417" y="300540"/>
              <a:ext cx="3425798" cy="585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rgbClr val="067D8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基于神经网络的方法</a:t>
              </a:r>
              <a:endParaRPr kumimoji="0" lang="zh-CN" altLang="en-US" sz="3200" b="1" i="0" u="none" strike="noStrike" kern="1200" cap="none" normalizeH="0" baseline="0" noProof="0" dirty="0">
                <a:solidFill>
                  <a:srgbClr val="067D8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F87EAE3-1A45-2FFB-0A09-6BC4D6223E20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733801" y="914400"/>
            <a:ext cx="6477000" cy="690245"/>
            <a:chOff x="4710007" y="228802"/>
            <a:chExt cx="6125800" cy="690514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1ACD720D-FC0F-A143-B5D5-D94A215C16E3}"/>
                </a:ext>
              </a:extLst>
            </p:cNvPr>
            <p:cNvGrpSpPr/>
            <p:nvPr/>
          </p:nvGrpSpPr>
          <p:grpSpPr>
            <a:xfrm>
              <a:off x="4710007" y="228802"/>
              <a:ext cx="730152" cy="690514"/>
              <a:chOff x="7441864" y="3120729"/>
              <a:chExt cx="792991" cy="749944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7F53A241-50DE-7317-5AB8-0D5E628F7DE7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7468851" y="3120729"/>
                <a:ext cx="738363" cy="749944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ln w="2540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88900" dist="635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67D8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文本框 20">
                <a:extLst>
                  <a:ext uri="{FF2B5EF4-FFF2-40B4-BE49-F238E27FC236}">
                    <a16:creationId xmlns:a16="http://schemas.microsoft.com/office/drawing/2014/main" id="{E84E38DE-9975-D072-5A7F-C9056B8310EA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441864" y="3175047"/>
                <a:ext cx="792991" cy="634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1200" cap="none" spc="0" normalizeH="0" baseline="0" dirty="0">
                    <a:solidFill>
                      <a:srgbClr val="067D80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一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67D80"/>
                  </a:solidFill>
                  <a:effectLst>
                    <a:innerShdw blurRad="63500" dist="38100" dir="135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24" name="文本框 33">
              <a:extLst>
                <a:ext uri="{FF2B5EF4-FFF2-40B4-BE49-F238E27FC236}">
                  <a16:creationId xmlns:a16="http://schemas.microsoft.com/office/drawing/2014/main" id="{914C73CD-E831-AF5B-16F3-5BF238B3F756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5808288" y="320443"/>
              <a:ext cx="5027519" cy="583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rgbClr val="067D8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时间序列数据</a:t>
              </a:r>
              <a:endParaRPr kumimoji="0" lang="zh-CN" altLang="en-US" sz="3200" b="1" i="0" u="none" strike="noStrike" kern="1200" cap="none" spc="0" normalizeH="0" baseline="0" dirty="0">
                <a:solidFill>
                  <a:srgbClr val="067D8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6DC9B81-E7AB-D284-5513-CD5FD21AF36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774039" y="4034155"/>
            <a:ext cx="5903361" cy="690245"/>
            <a:chOff x="4734855" y="228802"/>
            <a:chExt cx="5628085" cy="690514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F12D9F0-E71D-14AC-60AB-3C743C7A594D}"/>
                </a:ext>
              </a:extLst>
            </p:cNvPr>
            <p:cNvGrpSpPr/>
            <p:nvPr/>
          </p:nvGrpSpPr>
          <p:grpSpPr>
            <a:xfrm>
              <a:off x="4734855" y="228802"/>
              <a:ext cx="730401" cy="690514"/>
              <a:chOff x="7468851" y="3120729"/>
              <a:chExt cx="793261" cy="749944"/>
            </a:xfrm>
          </p:grpSpPr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9D61332E-707B-1716-495D-712856A6E984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7468851" y="3120729"/>
                <a:ext cx="738363" cy="749944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ln w="2540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88900" dist="635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67D8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文本框 20">
                <a:extLst>
                  <a:ext uri="{FF2B5EF4-FFF2-40B4-BE49-F238E27FC236}">
                    <a16:creationId xmlns:a16="http://schemas.microsoft.com/office/drawing/2014/main" id="{2BB8283F-EDEC-EF10-FE12-E47D6CB3F8F4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469121" y="3175047"/>
                <a:ext cx="792991" cy="634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1200" cap="none" spc="0" normalizeH="0" baseline="0" dirty="0">
                    <a:solidFill>
                      <a:srgbClr val="067D80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四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67D80"/>
                  </a:solidFill>
                  <a:effectLst>
                    <a:innerShdw blurRad="63500" dist="38100" dir="135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9" name="文本框 33">
              <a:extLst>
                <a:ext uri="{FF2B5EF4-FFF2-40B4-BE49-F238E27FC236}">
                  <a16:creationId xmlns:a16="http://schemas.microsoft.com/office/drawing/2014/main" id="{88E6C4DE-DB20-FF7A-BC0C-30BFDE23734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5807932" y="308999"/>
              <a:ext cx="4555008" cy="583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dirty="0">
                  <a:solidFill>
                    <a:srgbClr val="067D8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代码实现案例</a:t>
              </a:r>
            </a:p>
          </p:txBody>
        </p:sp>
      </p:grp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B842CE60-89B2-9C51-E6AB-1362B6381F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2</a:t>
            </a:fld>
            <a:endParaRPr lang="en-US" altLang="zh-CN" spc="-5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90E5DD2-5001-6361-12EE-C0ACB4B29A9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774039" y="5100955"/>
            <a:ext cx="5903361" cy="690245"/>
            <a:chOff x="4734855" y="228802"/>
            <a:chExt cx="5628085" cy="690514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CD3B9E29-B40A-0E4F-00D4-EE7B96F0421C}"/>
                </a:ext>
              </a:extLst>
            </p:cNvPr>
            <p:cNvGrpSpPr/>
            <p:nvPr/>
          </p:nvGrpSpPr>
          <p:grpSpPr>
            <a:xfrm>
              <a:off x="4734855" y="228802"/>
              <a:ext cx="730401" cy="690514"/>
              <a:chOff x="7468851" y="3120729"/>
              <a:chExt cx="793261" cy="749944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EE31E9CE-F583-76A4-D3DE-28C4BFE08640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7468851" y="3120729"/>
                <a:ext cx="738363" cy="749944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ln w="2540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88900" dist="63500" dir="2700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67D8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文本框 20">
                <a:extLst>
                  <a:ext uri="{FF2B5EF4-FFF2-40B4-BE49-F238E27FC236}">
                    <a16:creationId xmlns:a16="http://schemas.microsoft.com/office/drawing/2014/main" id="{20CC310B-8593-756B-8898-12C429A8B7F6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469121" y="3175047"/>
                <a:ext cx="792991" cy="634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3765" rtl="0" eaLnBrk="1" fontAlgn="b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1200" cap="none" spc="0" normalizeH="0" baseline="0" dirty="0">
                    <a:solidFill>
                      <a:srgbClr val="067D80"/>
                    </a:solidFill>
                    <a:effectLst>
                      <a:innerShdw blurRad="63500" dist="38100" dir="135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五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67D80"/>
                  </a:solidFill>
                  <a:effectLst>
                    <a:innerShdw blurRad="63500" dist="38100" dir="13500000">
                      <a:prstClr val="black">
                        <a:alpha val="50000"/>
                      </a:prstClr>
                    </a:inn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14" name="文本框 33">
              <a:extLst>
                <a:ext uri="{FF2B5EF4-FFF2-40B4-BE49-F238E27FC236}">
                  <a16:creationId xmlns:a16="http://schemas.microsoft.com/office/drawing/2014/main" id="{1498AE20-40FB-36E2-FCEC-332ACF428BD1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5807932" y="308999"/>
              <a:ext cx="4555008" cy="5837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algn="l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dirty="0">
                  <a:solidFill>
                    <a:srgbClr val="067D8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领域</a:t>
              </a:r>
              <a:r>
                <a:rPr kumimoji="0" lang="zh-CN" altLang="en-US" sz="3200" b="1" i="0" u="none" strike="noStrike" kern="1200" cap="none" spc="0" normalizeH="0" baseline="0" dirty="0">
                  <a:solidFill>
                    <a:srgbClr val="067D8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进展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36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" y="2514637"/>
            <a:ext cx="12192000" cy="525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67D8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一、时间序列数据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067D8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1060A-B4F9-43A1-9C54-EEC2C3C9E745}" type="slidenum">
              <a:rPr lang="zh-CN" altLang="en-US">
                <a:solidFill>
                  <a:srgbClr val="003366"/>
                </a:solidFill>
              </a:rPr>
              <a:t>3</a:t>
            </a:fld>
            <a:endParaRPr lang="en-US" altLang="zh-CN">
              <a:solidFill>
                <a:srgbClr val="00336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B036F8C8-BC95-7B11-60FE-E6762AFC5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1" y="3733800"/>
            <a:ext cx="10092690" cy="2068618"/>
          </a:xfrm>
          <a:prstGeom prst="rect">
            <a:avLst/>
          </a:prstGeom>
        </p:spPr>
      </p:pic>
      <p:sp>
        <p:nvSpPr>
          <p:cNvPr id="2" name="文本占位符 12"/>
          <p:cNvSpPr>
            <a:spLocks noGrp="1"/>
          </p:cNvSpPr>
          <p:nvPr/>
        </p:nvSpPr>
        <p:spPr>
          <a:xfrm>
            <a:off x="1270952" y="183198"/>
            <a:ext cx="10275779" cy="790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32510" y="216000"/>
            <a:ext cx="571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l"/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时间序列数据定义</a:t>
            </a:r>
            <a:endParaRPr lang="zh-CN" altLang="en-US" sz="3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523876" y="958850"/>
            <a:ext cx="11022855" cy="855817"/>
          </a:xfrm>
          <a:prstGeom prst="rect">
            <a:avLst/>
          </a:prstGeom>
          <a:noFill/>
          <a:ln w="12700">
            <a:solidFill>
              <a:srgbClr val="047E7F"/>
            </a:solidFill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just" defTabSz="1188085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Tx/>
              <a:buFont typeface="Wingdings" panose="05000000000000000000" charset="0"/>
              <a:buNone/>
              <a:defRPr/>
            </a:pPr>
            <a:r>
              <a:rPr lang="zh-CN" altLang="en-US" sz="2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时间序列数据（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Time Series Data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）指按时间顺序排列的观测值集合</a:t>
            </a:r>
            <a:r>
              <a:rPr lang="zh-CN" altLang="en-US" sz="2000" b="1" i="0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。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广泛</a:t>
            </a:r>
            <a:r>
              <a:rPr lang="zh-CN" altLang="en-US" sz="2000" b="1" i="0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存在于各领域，卫生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+mn-ea"/>
              </a:rPr>
              <a:t>领域有心脑电图、疫情监测、空气质量监测等数据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，金融领域有股市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K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线图、交易流水等数据。</a:t>
            </a:r>
            <a:endParaRPr lang="zh-CN" altLang="en-US" sz="20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4</a:t>
            </a:fld>
            <a:endParaRPr lang="en-US" altLang="zh-CN" spc="-5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040F923-466F-F562-B83B-999B2FB1D2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2" b="41624"/>
          <a:stretch/>
        </p:blipFill>
        <p:spPr>
          <a:xfrm>
            <a:off x="1032511" y="2002690"/>
            <a:ext cx="10168890" cy="150251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8DB64C0-8984-E8ED-5C5F-374C51DB7B94}"/>
              </a:ext>
            </a:extLst>
          </p:cNvPr>
          <p:cNvSpPr txBox="1"/>
          <p:nvPr/>
        </p:nvSpPr>
        <p:spPr>
          <a:xfrm>
            <a:off x="5257800" y="357842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心脑电图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E57AC6-46B8-D9AE-0B40-29041ADF12D0}"/>
              </a:ext>
            </a:extLst>
          </p:cNvPr>
          <p:cNvSpPr txBox="1"/>
          <p:nvPr/>
        </p:nvSpPr>
        <p:spPr>
          <a:xfrm>
            <a:off x="5257800" y="5867400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股市</a:t>
            </a:r>
            <a:r>
              <a:rPr lang="en-US" altLang="zh-CN" sz="1400" b="1" dirty="0"/>
              <a:t>K</a:t>
            </a:r>
            <a:r>
              <a:rPr lang="zh-CN" altLang="en-US" sz="1400" b="1" dirty="0"/>
              <a:t>线图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BD70-1161-B57D-6418-391B4001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B4AC8041-E981-C01A-770F-91134E91D5A8}"/>
              </a:ext>
            </a:extLst>
          </p:cNvPr>
          <p:cNvSpPr>
            <a:spLocks noGrp="1"/>
          </p:cNvSpPr>
          <p:nvPr/>
        </p:nvSpPr>
        <p:spPr>
          <a:xfrm>
            <a:off x="981224" y="216549"/>
            <a:ext cx="10275779" cy="790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时序数据特点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430BFF47-0B51-1BEE-C2C0-F93B79F9C5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234876" y="6453264"/>
            <a:ext cx="804724" cy="245745"/>
          </a:xfrm>
        </p:spPr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5</a:t>
            </a:fld>
            <a:endParaRPr lang="en-US" altLang="zh-CN" spc="-5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62FB64C-9DE4-8569-7DDB-5EE2DAD46568}"/>
              </a:ext>
            </a:extLst>
          </p:cNvPr>
          <p:cNvGrpSpPr/>
          <p:nvPr/>
        </p:nvGrpSpPr>
        <p:grpSpPr>
          <a:xfrm>
            <a:off x="1752600" y="914400"/>
            <a:ext cx="8128000" cy="5418667"/>
            <a:chOff x="3352800" y="719666"/>
            <a:chExt cx="8128000" cy="5418667"/>
          </a:xfrm>
        </p:grpSpPr>
        <p:graphicFrame>
          <p:nvGraphicFramePr>
            <p:cNvPr id="10" name="图示 9">
              <a:extLst>
                <a:ext uri="{FF2B5EF4-FFF2-40B4-BE49-F238E27FC236}">
                  <a16:creationId xmlns:a16="http://schemas.microsoft.com/office/drawing/2014/main" id="{B17B67FA-7BFE-90F9-F3E9-BDCED25C802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21851918"/>
                </p:ext>
              </p:extLst>
            </p:nvPr>
          </p:nvGraphicFramePr>
          <p:xfrm>
            <a:off x="3352800" y="719666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86A0CFE-67A9-B238-41FC-C586AEFB216E}"/>
                </a:ext>
              </a:extLst>
            </p:cNvPr>
            <p:cNvGrpSpPr/>
            <p:nvPr/>
          </p:nvGrpSpPr>
          <p:grpSpPr>
            <a:xfrm>
              <a:off x="3567760" y="1153451"/>
              <a:ext cx="7865276" cy="4059779"/>
              <a:chOff x="3567760" y="1153451"/>
              <a:chExt cx="7865276" cy="4059779"/>
            </a:xfrm>
          </p:grpSpPr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D7C2AC3A-86E3-46AE-E020-E9738C297885}"/>
                  </a:ext>
                </a:extLst>
              </p:cNvPr>
              <p:cNvGrpSpPr/>
              <p:nvPr/>
            </p:nvGrpSpPr>
            <p:grpSpPr>
              <a:xfrm>
                <a:off x="3567760" y="1153451"/>
                <a:ext cx="7865276" cy="4059779"/>
                <a:chOff x="4203123" y="2883719"/>
                <a:chExt cx="7271374" cy="3382143"/>
              </a:xfrm>
            </p:grpSpPr>
            <p:grpSp>
              <p:nvGrpSpPr>
                <p:cNvPr id="77" name="组合 76">
                  <a:extLst>
                    <a:ext uri="{FF2B5EF4-FFF2-40B4-BE49-F238E27FC236}">
                      <a16:creationId xmlns:a16="http://schemas.microsoft.com/office/drawing/2014/main" id="{64C72468-C1A6-466F-6819-72B8889C2518}"/>
                    </a:ext>
                  </a:extLst>
                </p:cNvPr>
                <p:cNvGrpSpPr/>
                <p:nvPr/>
              </p:nvGrpSpPr>
              <p:grpSpPr>
                <a:xfrm>
                  <a:off x="4203123" y="2883719"/>
                  <a:ext cx="7036030" cy="3382143"/>
                  <a:chOff x="3694920" y="1063224"/>
                  <a:chExt cx="8392155" cy="4330990"/>
                </a:xfrm>
              </p:grpSpPr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472D7383-EF19-06B0-0AE5-D40B7752D520}"/>
                      </a:ext>
                    </a:extLst>
                  </p:cNvPr>
                  <p:cNvSpPr txBox="1"/>
                  <p:nvPr/>
                </p:nvSpPr>
                <p:spPr>
                  <a:xfrm>
                    <a:off x="10601941" y="1515600"/>
                    <a:ext cx="1485134" cy="3940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b="1" dirty="0">
                        <a:solidFill>
                          <a:schemeClr val="accent1"/>
                        </a:solidFill>
                      </a:rPr>
                      <a:t>季节、假日</a:t>
                    </a:r>
                  </a:p>
                </p:txBody>
              </p:sp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761FE17C-08A4-E766-CFC8-70A0FA1D6367}"/>
                      </a:ext>
                    </a:extLst>
                  </p:cNvPr>
                  <p:cNvSpPr txBox="1"/>
                  <p:nvPr/>
                </p:nvSpPr>
                <p:spPr>
                  <a:xfrm>
                    <a:off x="10601941" y="1072009"/>
                    <a:ext cx="716229" cy="3940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b="1" dirty="0">
                        <a:solidFill>
                          <a:schemeClr val="accent1"/>
                        </a:solidFill>
                      </a:rPr>
                      <a:t>循环</a:t>
                    </a:r>
                  </a:p>
                </p:txBody>
              </p:sp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7767FB94-F436-C0A6-3D1E-122C5A8741EF}"/>
                      </a:ext>
                    </a:extLst>
                  </p:cNvPr>
                  <p:cNvSpPr txBox="1"/>
                  <p:nvPr/>
                </p:nvSpPr>
                <p:spPr>
                  <a:xfrm>
                    <a:off x="4160253" y="1063224"/>
                    <a:ext cx="1329199" cy="47294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b="1" dirty="0">
                        <a:solidFill>
                          <a:srgbClr val="7030A0"/>
                        </a:solidFill>
                      </a:rPr>
                      <a:t>长期趋势</a:t>
                    </a:r>
                  </a:p>
                </p:txBody>
              </p:sp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90BD2365-BAE9-A2F2-2B09-CA500EA14EB2}"/>
                      </a:ext>
                    </a:extLst>
                  </p:cNvPr>
                  <p:cNvSpPr txBox="1"/>
                  <p:nvPr/>
                </p:nvSpPr>
                <p:spPr>
                  <a:xfrm>
                    <a:off x="4437489" y="1552115"/>
                    <a:ext cx="774727" cy="47294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b="1" dirty="0">
                        <a:solidFill>
                          <a:srgbClr val="7030A0"/>
                        </a:solidFill>
                      </a:rPr>
                      <a:t>递增</a:t>
                    </a:r>
                  </a:p>
                </p:txBody>
              </p:sp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B91D0C80-E836-E712-1CCE-16AE094187A0}"/>
                      </a:ext>
                    </a:extLst>
                  </p:cNvPr>
                  <p:cNvSpPr txBox="1"/>
                  <p:nvPr/>
                </p:nvSpPr>
                <p:spPr>
                  <a:xfrm>
                    <a:off x="4437487" y="2045785"/>
                    <a:ext cx="774729" cy="47294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b="1" dirty="0">
                        <a:solidFill>
                          <a:srgbClr val="7030A0"/>
                        </a:solidFill>
                      </a:rPr>
                      <a:t>递减</a:t>
                    </a:r>
                  </a:p>
                </p:txBody>
              </p:sp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2CDF360A-536A-A7DF-D0D2-B2B3A62234B7}"/>
                      </a:ext>
                    </a:extLst>
                  </p:cNvPr>
                  <p:cNvSpPr txBox="1"/>
                  <p:nvPr/>
                </p:nvSpPr>
                <p:spPr>
                  <a:xfrm>
                    <a:off x="3694920" y="5000209"/>
                    <a:ext cx="1485133" cy="3940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a:t>自相关系数</a:t>
                    </a:r>
                  </a:p>
                </p:txBody>
              </p:sp>
              <p:sp>
                <p:nvSpPr>
                  <p:cNvPr id="72" name="文本框 71">
                    <a:extLst>
                      <a:ext uri="{FF2B5EF4-FFF2-40B4-BE49-F238E27FC236}">
                        <a16:creationId xmlns:a16="http://schemas.microsoft.com/office/drawing/2014/main" id="{BFA8BB12-2E1F-3855-68E0-AFE81229E74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03988" y="2470142"/>
                    <a:ext cx="1228832" cy="3940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b="1" dirty="0">
                        <a:solidFill>
                          <a:schemeClr val="accent1"/>
                        </a:solidFill>
                      </a:rPr>
                      <a:t>周期长度</a:t>
                    </a:r>
                  </a:p>
                </p:txBody>
              </p:sp>
            </p:grp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4C2A774-1362-D5D5-6CB6-5297CA771F95}"/>
                    </a:ext>
                  </a:extLst>
                </p:cNvPr>
                <p:cNvSpPr txBox="1"/>
                <p:nvPr/>
              </p:nvSpPr>
              <p:spPr>
                <a:xfrm>
                  <a:off x="10014469" y="5809096"/>
                  <a:ext cx="1460028" cy="307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b="1" dirty="0">
                      <a:solidFill>
                        <a:srgbClr val="92D050"/>
                      </a:solidFill>
                    </a:rPr>
                    <a:t>方差（振幅）</a:t>
                  </a:r>
                </a:p>
              </p:txBody>
            </p:sp>
          </p:grpSp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ABFCFD3-E510-16F2-932F-FC40B0104DE5}"/>
                  </a:ext>
                </a:extLst>
              </p:cNvPr>
              <p:cNvSpPr txBox="1"/>
              <p:nvPr/>
            </p:nvSpPr>
            <p:spPr>
              <a:xfrm>
                <a:off x="9833486" y="2026734"/>
                <a:ext cx="1346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accent1"/>
                    </a:solidFill>
                  </a:rPr>
                  <a:t>周期叠加数</a:t>
                </a: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745A582-D254-C02C-FDB6-C6EE8424B6FD}"/>
                  </a:ext>
                </a:extLst>
              </p:cNvPr>
              <p:cNvSpPr txBox="1"/>
              <p:nvPr/>
            </p:nvSpPr>
            <p:spPr>
              <a:xfrm>
                <a:off x="9849525" y="4202653"/>
                <a:ext cx="6495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92D050"/>
                    </a:solidFill>
                  </a:rPr>
                  <a:t>均值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613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4953-2F61-B64C-9425-AEAD3062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8F226-B03D-0240-AF27-CC23DC0CACAF}"/>
              </a:ext>
            </a:extLst>
          </p:cNvPr>
          <p:cNvSpPr txBox="1"/>
          <p:nvPr/>
        </p:nvSpPr>
        <p:spPr>
          <a:xfrm>
            <a:off x="1" y="2514637"/>
            <a:ext cx="12192000" cy="525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67D8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二、传统建模方法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067D8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3D606-6BDF-B7B6-866E-69A18FD5F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1060A-B4F9-43A1-9C54-EEC2C3C9E745}" type="slidenum">
              <a:rPr lang="zh-CN" altLang="en-US">
                <a:solidFill>
                  <a:srgbClr val="003366"/>
                </a:solidFill>
              </a:rPr>
              <a:t>6</a:t>
            </a:fld>
            <a:endParaRPr lang="en-US" altLang="zh-CN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4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F4959-338C-8E0C-755E-3A93C3D9A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9F398C99-6196-47DF-7729-E59A7693E0E0}"/>
              </a:ext>
            </a:extLst>
          </p:cNvPr>
          <p:cNvSpPr>
            <a:spLocks noGrp="1"/>
          </p:cNvSpPr>
          <p:nvPr/>
        </p:nvSpPr>
        <p:spPr>
          <a:xfrm>
            <a:off x="981224" y="216549"/>
            <a:ext cx="10275779" cy="790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传统建模方法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8E708F60-D058-9016-0E33-7CE2FB1CA7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234876" y="6453264"/>
            <a:ext cx="804724" cy="245745"/>
          </a:xfrm>
        </p:spPr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7</a:t>
            </a:fld>
            <a:endParaRPr lang="en-US" altLang="zh-CN" spc="-5" dirty="0"/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0648CCE5-9F09-6CE3-9C15-E96746A46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98" y="3246539"/>
            <a:ext cx="5193802" cy="2667000"/>
          </a:xfrm>
          <a:prstGeom prst="rect">
            <a:avLst/>
          </a:prstGeom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94E44F1E-78A3-9DDC-C980-0AB650F80DCD}"/>
              </a:ext>
            </a:extLst>
          </p:cNvPr>
          <p:cNvSpPr txBox="1"/>
          <p:nvPr/>
        </p:nvSpPr>
        <p:spPr>
          <a:xfrm>
            <a:off x="3011269" y="595148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预测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48E9447-058C-D761-A604-D559C4303484}"/>
              </a:ext>
            </a:extLst>
          </p:cNvPr>
          <p:cNvSpPr/>
          <p:nvPr/>
        </p:nvSpPr>
        <p:spPr bwMode="auto">
          <a:xfrm>
            <a:off x="623302" y="914400"/>
            <a:ext cx="10633701" cy="2019300"/>
          </a:xfrm>
          <a:prstGeom prst="rect">
            <a:avLst/>
          </a:prstGeom>
          <a:noFill/>
          <a:ln w="12700">
            <a:solidFill>
              <a:srgbClr val="047E7F"/>
            </a:solidFill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/>
              <a:t>建模目标</a:t>
            </a:r>
            <a:endParaRPr lang="en-US" altLang="zh-CN" sz="2000" b="1" dirty="0"/>
          </a:p>
          <a:p>
            <a:r>
              <a:rPr lang="en-US" altLang="zh-CN" sz="2000" b="1" dirty="0"/>
              <a:t>1</a:t>
            </a:r>
            <a:r>
              <a:rPr lang="zh-CN" altLang="en-US" sz="2000" b="1" dirty="0"/>
              <a:t>）预测：基于过去时序值预测未来时序值，如基于股票历史数据预测其明天的价格。</a:t>
            </a:r>
            <a:endParaRPr lang="en-US" altLang="zh-CN" sz="2000" b="1" dirty="0"/>
          </a:p>
          <a:p>
            <a:r>
              <a:rPr lang="zh-CN" altLang="en-US" sz="2000" b="1" dirty="0"/>
              <a:t>常见方法有</a:t>
            </a:r>
            <a:r>
              <a:rPr lang="en-US" altLang="zh-CN" sz="2000" b="1" dirty="0"/>
              <a:t>ARIMA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Prophet</a:t>
            </a:r>
            <a:r>
              <a:rPr lang="zh-CN" altLang="en-US" sz="2000" b="1" dirty="0"/>
              <a:t>等。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2</a:t>
            </a:r>
            <a:r>
              <a:rPr lang="zh-CN" altLang="en-US" sz="2000" b="1" dirty="0"/>
              <a:t>）分类：对时序数据所属实体进行分类 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判别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，如基于心电图判断心脏疾病类型。</a:t>
            </a:r>
            <a:endParaRPr lang="en-US" altLang="zh-CN" sz="2000" b="1" dirty="0"/>
          </a:p>
          <a:p>
            <a:r>
              <a:rPr lang="zh-CN" altLang="en-US" sz="2000" b="1" dirty="0"/>
              <a:t>常见方法：</a:t>
            </a:r>
            <a:r>
              <a:rPr lang="en-US" altLang="zh-CN" sz="2000" b="1" dirty="0"/>
              <a:t>Logistic</a:t>
            </a:r>
            <a:r>
              <a:rPr lang="zh-CN" altLang="en-US" sz="2000" b="1" dirty="0"/>
              <a:t>、</a:t>
            </a:r>
            <a:r>
              <a:rPr lang="en-US" altLang="zh-CN" sz="2000" b="1" dirty="0" err="1"/>
              <a:t>Xgboost</a:t>
            </a:r>
            <a:r>
              <a:rPr lang="zh-CN" altLang="en-US" sz="2000" b="1" dirty="0"/>
              <a:t>等。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BE03673-FC74-240B-50F9-C84943FCD5E4}"/>
              </a:ext>
            </a:extLst>
          </p:cNvPr>
          <p:cNvSpPr txBox="1"/>
          <p:nvPr/>
        </p:nvSpPr>
        <p:spPr>
          <a:xfrm>
            <a:off x="8497669" y="61361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分类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7BBF405-3713-42A8-DCEF-931F25529EDF}"/>
              </a:ext>
            </a:extLst>
          </p:cNvPr>
          <p:cNvGrpSpPr/>
          <p:nvPr/>
        </p:nvGrpSpPr>
        <p:grpSpPr>
          <a:xfrm>
            <a:off x="6496734" y="3107852"/>
            <a:ext cx="4648200" cy="3017787"/>
            <a:chOff x="6496734" y="3107852"/>
            <a:chExt cx="4648200" cy="3017787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364A3042-7019-964D-9E80-944BA525B9A3}"/>
                </a:ext>
              </a:extLst>
            </p:cNvPr>
            <p:cNvGrpSpPr/>
            <p:nvPr/>
          </p:nvGrpSpPr>
          <p:grpSpPr>
            <a:xfrm>
              <a:off x="6496734" y="3107852"/>
              <a:ext cx="4648200" cy="3017787"/>
              <a:chOff x="6557555" y="3000781"/>
              <a:chExt cx="4648200" cy="3017787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6F460A49-313B-24E9-ACAC-E337B3D50B64}"/>
                  </a:ext>
                </a:extLst>
              </p:cNvPr>
              <p:cNvSpPr/>
              <p:nvPr/>
            </p:nvSpPr>
            <p:spPr>
              <a:xfrm>
                <a:off x="6557555" y="3000781"/>
                <a:ext cx="4648200" cy="30177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pPr algn="ctr"/>
                <a:r>
                  <a:rPr lang="en-US" altLang="zh-CN" sz="1600" b="1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b="1" dirty="0">
                    <a:solidFill>
                      <a:schemeClr val="tx1"/>
                    </a:solidFill>
                  </a:rPr>
                  <a:t>、</a:t>
                </a:r>
                <a:r>
                  <a:rPr lang="en-US" altLang="zh-CN" sz="1600" b="1" dirty="0">
                    <a:solidFill>
                      <a:schemeClr val="tx1"/>
                    </a:solidFill>
                  </a:rPr>
                  <a:t>B</a:t>
                </a:r>
                <a:r>
                  <a:rPr lang="zh-CN" altLang="en-US" sz="1600" b="1" dirty="0">
                    <a:solidFill>
                      <a:schemeClr val="tx1"/>
                    </a:solidFill>
                  </a:rPr>
                  <a:t>、</a:t>
                </a:r>
                <a:r>
                  <a:rPr lang="en-US" altLang="zh-CN" sz="1600" b="1" dirty="0">
                    <a:solidFill>
                      <a:schemeClr val="tx1"/>
                    </a:solidFill>
                  </a:rPr>
                  <a:t>C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83" name="图片 82">
                <a:extLst>
                  <a:ext uri="{FF2B5EF4-FFF2-40B4-BE49-F238E27FC236}">
                    <a16:creationId xmlns:a16="http://schemas.microsoft.com/office/drawing/2014/main" id="{72EA6F69-CFE7-427D-4D69-36F83EB08D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48956" b="34757"/>
              <a:stretch/>
            </p:blipFill>
            <p:spPr>
              <a:xfrm>
                <a:off x="6652121" y="3088128"/>
                <a:ext cx="4267200" cy="803908"/>
              </a:xfrm>
              <a:prstGeom prst="rect">
                <a:avLst/>
              </a:prstGeom>
            </p:spPr>
          </p:pic>
          <p:sp>
            <p:nvSpPr>
              <p:cNvPr id="84" name="矩形: 圆角 83">
                <a:extLst>
                  <a:ext uri="{FF2B5EF4-FFF2-40B4-BE49-F238E27FC236}">
                    <a16:creationId xmlns:a16="http://schemas.microsoft.com/office/drawing/2014/main" id="{0324DB7D-021C-DF4E-2D1C-0174626CA628}"/>
                  </a:ext>
                </a:extLst>
              </p:cNvPr>
              <p:cNvSpPr/>
              <p:nvPr/>
            </p:nvSpPr>
            <p:spPr>
              <a:xfrm>
                <a:off x="8220180" y="4188308"/>
                <a:ext cx="1286217" cy="369332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特征工程</a:t>
                </a:r>
              </a:p>
            </p:txBody>
          </p:sp>
          <p:sp>
            <p:nvSpPr>
              <p:cNvPr id="85" name="矩形: 圆角 84">
                <a:extLst>
                  <a:ext uri="{FF2B5EF4-FFF2-40B4-BE49-F238E27FC236}">
                    <a16:creationId xmlns:a16="http://schemas.microsoft.com/office/drawing/2014/main" id="{8446A414-7FC1-F984-877C-508F80D82312}"/>
                  </a:ext>
                </a:extLst>
              </p:cNvPr>
              <p:cNvSpPr/>
              <p:nvPr/>
            </p:nvSpPr>
            <p:spPr>
              <a:xfrm>
                <a:off x="8238546" y="4868629"/>
                <a:ext cx="1286217" cy="369332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分类模型</a:t>
                </a:r>
              </a:p>
            </p:txBody>
          </p:sp>
          <p:sp>
            <p:nvSpPr>
              <p:cNvPr id="86" name="箭头: 下 85">
                <a:extLst>
                  <a:ext uri="{FF2B5EF4-FFF2-40B4-BE49-F238E27FC236}">
                    <a16:creationId xmlns:a16="http://schemas.microsoft.com/office/drawing/2014/main" id="{9C85C1A3-8D65-8570-1670-D354FEFB94F7}"/>
                  </a:ext>
                </a:extLst>
              </p:cNvPr>
              <p:cNvSpPr/>
              <p:nvPr/>
            </p:nvSpPr>
            <p:spPr>
              <a:xfrm>
                <a:off x="8729255" y="3902230"/>
                <a:ext cx="228600" cy="236952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箭头: 下 86">
                <a:extLst>
                  <a:ext uri="{FF2B5EF4-FFF2-40B4-BE49-F238E27FC236}">
                    <a16:creationId xmlns:a16="http://schemas.microsoft.com/office/drawing/2014/main" id="{EF80EC0A-690A-C0F8-C014-9267C86EF620}"/>
                  </a:ext>
                </a:extLst>
              </p:cNvPr>
              <p:cNvSpPr/>
              <p:nvPr/>
            </p:nvSpPr>
            <p:spPr>
              <a:xfrm>
                <a:off x="8729255" y="4592810"/>
                <a:ext cx="228600" cy="228600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" name="箭头: 下 1">
              <a:extLst>
                <a:ext uri="{FF2B5EF4-FFF2-40B4-BE49-F238E27FC236}">
                  <a16:creationId xmlns:a16="http://schemas.microsoft.com/office/drawing/2014/main" id="{B68EC7C2-5FEF-DA5D-90F2-000A9AD69A1F}"/>
                </a:ext>
              </a:extLst>
            </p:cNvPr>
            <p:cNvSpPr/>
            <p:nvPr/>
          </p:nvSpPr>
          <p:spPr>
            <a:xfrm>
              <a:off x="8686800" y="5410200"/>
              <a:ext cx="228600" cy="22860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716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4CC2-9EAC-5372-134F-0A3F7DA5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301C6CF-68D9-2063-68AF-55F3CEF881ED}"/>
              </a:ext>
            </a:extLst>
          </p:cNvPr>
          <p:cNvGrpSpPr/>
          <p:nvPr/>
        </p:nvGrpSpPr>
        <p:grpSpPr>
          <a:xfrm>
            <a:off x="1143000" y="2209800"/>
            <a:ext cx="4316579" cy="4431651"/>
            <a:chOff x="962068" y="2299697"/>
            <a:chExt cx="3633653" cy="4377407"/>
          </a:xfrm>
          <a:solidFill>
            <a:schemeClr val="accent2"/>
          </a:solidFill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7F5F0C1-41A5-3866-193A-4E2445FB9EE0}"/>
                </a:ext>
              </a:extLst>
            </p:cNvPr>
            <p:cNvGrpSpPr/>
            <p:nvPr/>
          </p:nvGrpSpPr>
          <p:grpSpPr>
            <a:xfrm>
              <a:off x="962068" y="2299697"/>
              <a:ext cx="3633653" cy="4377407"/>
              <a:chOff x="962068" y="2299697"/>
              <a:chExt cx="3633653" cy="4377407"/>
            </a:xfrm>
            <a:grpFill/>
          </p:grpSpPr>
          <p:pic>
            <p:nvPicPr>
              <p:cNvPr id="2050" name="Picture 2">
                <a:extLst>
                  <a:ext uri="{FF2B5EF4-FFF2-40B4-BE49-F238E27FC236}">
                    <a16:creationId xmlns:a16="http://schemas.microsoft.com/office/drawing/2014/main" id="{BFBBF8D0-AB3E-A4C8-32BD-C5F96F01F3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2068" y="2299697"/>
                <a:ext cx="3633653" cy="4377407"/>
              </a:xfrm>
              <a:prstGeom prst="rect">
                <a:avLst/>
              </a:prstGeom>
              <a:grpFill/>
              <a:ln>
                <a:solidFill>
                  <a:srgbClr val="0070C0"/>
                </a:solidFill>
                <a:prstDash val="dash"/>
              </a:ln>
            </p:spPr>
          </p:pic>
          <p:pic>
            <p:nvPicPr>
              <p:cNvPr id="2" name="Picture 2">
                <a:extLst>
                  <a:ext uri="{FF2B5EF4-FFF2-40B4-BE49-F238E27FC236}">
                    <a16:creationId xmlns:a16="http://schemas.microsoft.com/office/drawing/2014/main" id="{704C9EE2-EA4D-9E14-8E68-F93E7B23C8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698" b="84739"/>
              <a:stretch/>
            </p:blipFill>
            <p:spPr bwMode="auto">
              <a:xfrm>
                <a:off x="3124200" y="4018749"/>
                <a:ext cx="919387" cy="66804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  <a:prstDash val="dash"/>
              </a:ln>
            </p:spPr>
          </p:pic>
        </p:grp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1B9FCA5-D89E-EC40-4EC9-76F9FE491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1611" t="55372" r="52097" b="41147"/>
            <a:stretch/>
          </p:blipFill>
          <p:spPr>
            <a:xfrm>
              <a:off x="3463699" y="5982367"/>
              <a:ext cx="228600" cy="152400"/>
            </a:xfrm>
            <a:prstGeom prst="rect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6CEB2497-5130-3870-326C-C3D22EBBF3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86"/>
          <a:stretch/>
        </p:blipFill>
        <p:spPr>
          <a:xfrm>
            <a:off x="2895600" y="914400"/>
            <a:ext cx="7230830" cy="590280"/>
          </a:xfrm>
          <a:prstGeom prst="rect">
            <a:avLst/>
          </a:prstGeom>
        </p:spPr>
      </p:pic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BA383392-6F10-C697-30EA-A4E2093303BC}"/>
              </a:ext>
            </a:extLst>
          </p:cNvPr>
          <p:cNvSpPr>
            <a:spLocks noGrp="1"/>
          </p:cNvSpPr>
          <p:nvPr/>
        </p:nvSpPr>
        <p:spPr>
          <a:xfrm>
            <a:off x="981224" y="216549"/>
            <a:ext cx="10275779" cy="790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传统建模方法</a:t>
            </a:r>
            <a:r>
              <a:rPr kumimoji="0" lang="en-US" altLang="zh-CN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kumimoji="0" lang="zh-CN" altLang="en-US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预测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CFB8477F-88B6-0E39-B330-C9999C428D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234876" y="6453264"/>
            <a:ext cx="804724" cy="245745"/>
          </a:xfrm>
        </p:spPr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8</a:t>
            </a:fld>
            <a:endParaRPr lang="en-US" altLang="zh-CN" spc="-5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C54568-782E-1966-C1FA-452F5B231752}"/>
              </a:ext>
            </a:extLst>
          </p:cNvPr>
          <p:cNvSpPr/>
          <p:nvPr/>
        </p:nvSpPr>
        <p:spPr bwMode="auto">
          <a:xfrm>
            <a:off x="858219" y="950097"/>
            <a:ext cx="10176501" cy="1183503"/>
          </a:xfrm>
          <a:prstGeom prst="rect">
            <a:avLst/>
          </a:prstGeom>
          <a:noFill/>
          <a:ln w="12700">
            <a:solidFill>
              <a:srgbClr val="047E7F"/>
            </a:solidFill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ARIMA</a:t>
            </a:r>
            <a:r>
              <a:rPr lang="zh-CN" altLang="en-US" sz="2000" b="1" dirty="0"/>
              <a:t>模型：</a:t>
            </a:r>
            <a:endParaRPr lang="en-US" altLang="zh-CN" sz="2000" b="1" dirty="0"/>
          </a:p>
          <a:p>
            <a:pPr>
              <a:lnSpc>
                <a:spcPts val="1100"/>
              </a:lnSpc>
            </a:pPr>
            <a:endParaRPr lang="en-US" altLang="zh-CN" sz="2000" dirty="0">
              <a:solidFill>
                <a:srgbClr val="191B1F"/>
              </a:solidFill>
              <a:latin typeface="system-ui"/>
            </a:endParaRPr>
          </a:p>
          <a:p>
            <a:r>
              <a:rPr lang="zh-CN" altLang="en-US" sz="2000" dirty="0">
                <a:solidFill>
                  <a:srgbClr val="191B1F"/>
                </a:solidFill>
                <a:latin typeface="system-ui"/>
              </a:rPr>
              <a:t>要求数据为</a:t>
            </a:r>
            <a:r>
              <a:rPr lang="zh-CN" altLang="en-US" sz="2000" b="1" dirty="0">
                <a:solidFill>
                  <a:srgbClr val="191B1F"/>
                </a:solidFill>
                <a:latin typeface="system-ui"/>
              </a:rPr>
              <a:t>平稳序列且非白噪声</a:t>
            </a:r>
            <a:r>
              <a:rPr lang="zh-CN" altLang="en-US" sz="2000" dirty="0">
                <a:solidFill>
                  <a:srgbClr val="191B1F"/>
                </a:solidFill>
                <a:latin typeface="system-ui"/>
              </a:rPr>
              <a:t>，如非平稳序列需通过</a:t>
            </a:r>
            <a:r>
              <a:rPr lang="zh-CN" altLang="en-US" sz="2000" b="1" dirty="0">
                <a:solidFill>
                  <a:srgbClr val="191B1F"/>
                </a:solidFill>
                <a:latin typeface="system-ui"/>
              </a:rPr>
              <a:t>差分</a:t>
            </a:r>
            <a:r>
              <a:rPr lang="zh-CN" altLang="en-US" sz="2000" dirty="0">
                <a:solidFill>
                  <a:srgbClr val="191B1F"/>
                </a:solidFill>
                <a:latin typeface="system-ui"/>
              </a:rPr>
              <a:t>将其转化为平稳序列，并通过</a:t>
            </a:r>
            <a:r>
              <a:rPr lang="zh-CN" altLang="en-US" sz="2000" b="1" dirty="0">
                <a:solidFill>
                  <a:srgbClr val="191B1F"/>
                </a:solidFill>
                <a:latin typeface="system-ui"/>
              </a:rPr>
              <a:t>白噪声检测</a:t>
            </a:r>
            <a:r>
              <a:rPr lang="zh-CN" altLang="en-US" sz="2000" dirty="0">
                <a:solidFill>
                  <a:srgbClr val="191B1F"/>
                </a:solidFill>
                <a:latin typeface="system-ui"/>
              </a:rPr>
              <a:t>、</a:t>
            </a:r>
            <a:r>
              <a:rPr lang="zh-CN" altLang="en-US" sz="2000" b="1" dirty="0">
                <a:solidFill>
                  <a:srgbClr val="191B1F"/>
                </a:solidFill>
                <a:latin typeface="system-ui"/>
              </a:rPr>
              <a:t>平稳性检测</a:t>
            </a:r>
            <a:r>
              <a:rPr lang="zh-CN" altLang="en-US" sz="2000" dirty="0">
                <a:solidFill>
                  <a:srgbClr val="191B1F"/>
                </a:solidFill>
                <a:latin typeface="system-ui"/>
              </a:rPr>
              <a:t>，建模步骤较多。</a:t>
            </a:r>
            <a:endParaRPr lang="en-US" altLang="zh-CN" sz="2000" b="1" dirty="0"/>
          </a:p>
          <a:p>
            <a:endParaRPr lang="en-US" altLang="zh-CN" sz="2000" b="1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35FF243-033C-981D-0545-F0C3878A84F2}"/>
              </a:ext>
            </a:extLst>
          </p:cNvPr>
          <p:cNvGrpSpPr/>
          <p:nvPr/>
        </p:nvGrpSpPr>
        <p:grpSpPr>
          <a:xfrm>
            <a:off x="6096000" y="4190833"/>
            <a:ext cx="4522638" cy="2374832"/>
            <a:chOff x="8508" y="9199"/>
            <a:chExt cx="8718" cy="1648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090A079-9189-36E5-B62F-F11F2A01C34C}"/>
                </a:ext>
              </a:extLst>
            </p:cNvPr>
            <p:cNvSpPr txBox="1"/>
            <p:nvPr/>
          </p:nvSpPr>
          <p:spPr>
            <a:xfrm>
              <a:off x="8760" y="9199"/>
              <a:ext cx="8304" cy="164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sz="2000" b="1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优势：理论基础完备</a:t>
              </a:r>
              <a:endParaRPr lang="en-US" altLang="zh-CN" sz="2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lang="zh-CN" altLang="en-US" sz="2000" b="1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一定的可解释性</a:t>
              </a:r>
              <a:endParaRPr lang="en-US" altLang="zh-CN" sz="2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ts val="1000"/>
                </a:lnSpc>
              </a:pPr>
              <a:endPara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劣势：平稳性要求</a:t>
              </a:r>
              <a:endPara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建模步骤较多</a:t>
              </a:r>
              <a:endPara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仅适用短期依赖</a:t>
              </a:r>
              <a:endPara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endPara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圆角矩形 14">
              <a:extLst>
                <a:ext uri="{FF2B5EF4-FFF2-40B4-BE49-F238E27FC236}">
                  <a16:creationId xmlns:a16="http://schemas.microsoft.com/office/drawing/2014/main" id="{576B47AE-CFD2-479E-BC18-4272AC502B45}"/>
                </a:ext>
              </a:extLst>
            </p:cNvPr>
            <p:cNvSpPr/>
            <p:nvPr/>
          </p:nvSpPr>
          <p:spPr>
            <a:xfrm>
              <a:off x="8508" y="9416"/>
              <a:ext cx="8718" cy="1235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49EA9BD-9552-B52E-0E59-16215E69AF0D}"/>
              </a:ext>
            </a:extLst>
          </p:cNvPr>
          <p:cNvGrpSpPr/>
          <p:nvPr/>
        </p:nvGrpSpPr>
        <p:grpSpPr>
          <a:xfrm>
            <a:off x="6096000" y="2439113"/>
            <a:ext cx="4495800" cy="1878429"/>
            <a:chOff x="8508" y="9416"/>
            <a:chExt cx="8718" cy="123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C10FB0E-B4C2-5654-0FBE-9B48C22ED47E}"/>
                </a:ext>
              </a:extLst>
            </p:cNvPr>
            <p:cNvSpPr txBox="1"/>
            <p:nvPr/>
          </p:nvSpPr>
          <p:spPr>
            <a:xfrm>
              <a:off x="8760" y="9428"/>
              <a:ext cx="8304" cy="11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平稳性要求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宽平稳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：</a:t>
              </a:r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ts val="700"/>
                </a:lnSpc>
              </a:pPr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1)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均值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E(</a:t>
              </a:r>
              <a:r>
                <a:rPr lang="en-US" altLang="zh-CN" sz="2000" b="1" dirty="0" err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Y</a:t>
              </a:r>
              <a:r>
                <a:rPr lang="en-US" altLang="zh-CN" sz="2000" b="1" baseline="-5000" dirty="0" err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与时间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无关的常数</a:t>
              </a:r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2)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方差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Var(</a:t>
              </a:r>
              <a:r>
                <a:rPr lang="en-US" altLang="zh-CN" sz="2000" b="1" dirty="0" err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Y</a:t>
              </a:r>
              <a:r>
                <a:rPr lang="en-US" altLang="zh-CN" sz="2000" b="1" baseline="-5000" dirty="0" err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与时间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t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无关的常数</a:t>
              </a:r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3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协方差</a:t>
              </a:r>
              <a:r>
                <a:rPr lang="en-US" altLang="zh-CN" sz="2000" b="1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Cov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2000" b="1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Y</a:t>
              </a:r>
              <a:r>
                <a:rPr lang="en-US" altLang="zh-CN" sz="2000" b="1" baseline="-50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en-US" altLang="zh-CN" sz="2000" b="1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,Y</a:t>
              </a:r>
              <a:r>
                <a:rPr lang="en-US" altLang="zh-CN" sz="2000" b="1" baseline="-50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t+k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)=</a:t>
              </a:r>
              <a:r>
                <a:rPr lang="en-US" altLang="zh-CN" sz="2000" b="1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G</a:t>
              </a:r>
              <a:r>
                <a:rPr lang="en-US" altLang="zh-CN" sz="2000" b="1" baseline="-50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k</a:t>
              </a:r>
              <a:r>
                <a:rPr lang="zh-CN" altLang="en-US" sz="2000" b="1" baseline="-5000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只与时间间隔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k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有关，与时间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无关</a:t>
              </a:r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圆角矩形 14">
              <a:extLst>
                <a:ext uri="{FF2B5EF4-FFF2-40B4-BE49-F238E27FC236}">
                  <a16:creationId xmlns:a16="http://schemas.microsoft.com/office/drawing/2014/main" id="{026898A7-5C30-C286-A558-C631272EECBB}"/>
                </a:ext>
              </a:extLst>
            </p:cNvPr>
            <p:cNvSpPr/>
            <p:nvPr/>
          </p:nvSpPr>
          <p:spPr>
            <a:xfrm>
              <a:off x="8508" y="9416"/>
              <a:ext cx="8718" cy="1235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38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E838-A7FA-FABE-6956-1CE469CE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14179AE5-F15D-08EA-7B02-3AE76A4C2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745697"/>
            <a:ext cx="3962400" cy="664503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2FF2A2D2-970C-89CC-5C4C-12FE550FA5ED}"/>
              </a:ext>
            </a:extLst>
          </p:cNvPr>
          <p:cNvSpPr/>
          <p:nvPr/>
        </p:nvSpPr>
        <p:spPr bwMode="auto">
          <a:xfrm>
            <a:off x="858219" y="950096"/>
            <a:ext cx="10176501" cy="1956855"/>
          </a:xfrm>
          <a:prstGeom prst="rect">
            <a:avLst/>
          </a:prstGeom>
          <a:noFill/>
          <a:ln w="12700">
            <a:solidFill>
              <a:srgbClr val="047E7F"/>
            </a:solidFill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Prophet</a:t>
            </a:r>
            <a:r>
              <a:rPr lang="zh-CN" altLang="en-US" sz="2000" b="1" dirty="0"/>
              <a:t>模型：</a:t>
            </a:r>
            <a:endParaRPr lang="en-US" altLang="zh-CN" sz="2000" b="1" dirty="0"/>
          </a:p>
          <a:p>
            <a:pPr>
              <a:lnSpc>
                <a:spcPts val="1100"/>
              </a:lnSpc>
            </a:pPr>
            <a:endParaRPr lang="en-US" altLang="zh-CN" sz="2000" dirty="0">
              <a:solidFill>
                <a:srgbClr val="191B1F"/>
              </a:solidFill>
              <a:latin typeface="system-u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g(t) 表示趋势项，它表示时间序列在非周期上面的变化趋势；</a:t>
            </a:r>
            <a:endParaRPr lang="en-US" altLang="zh-C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s(t) 表示周期项，或者称为季节项，一般来说是以周或者年为单位；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h(t) 表示节假日项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事件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，表示时间序列中那些潜在的具有非固定周期的节假日的影响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7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b="1" dirty="0" err="1">
                <a:hlinkClick r:id="rId4"/>
              </a:rPr>
              <a:t>Github</a:t>
            </a:r>
            <a:r>
              <a:rPr lang="en-US" altLang="zh-CN" b="1" dirty="0">
                <a:hlinkClick r:id="rId4"/>
              </a:rPr>
              <a:t>:  https://github.com/facebook/prophet</a:t>
            </a:r>
            <a:r>
              <a:rPr lang="en-US" altLang="zh-CN" b="1" dirty="0"/>
              <a:t>    </a:t>
            </a:r>
            <a:r>
              <a:rPr lang="en-US" altLang="zh-CN" b="1" dirty="0">
                <a:hlinkClick r:id="rId5"/>
              </a:rPr>
              <a:t>Paper:  https://peerj.com/preprints/3190v2/</a:t>
            </a:r>
            <a:endParaRPr lang="en-US" altLang="zh-CN" b="1" dirty="0"/>
          </a:p>
          <a:p>
            <a:endParaRPr lang="en-US" altLang="zh-CN" b="1" dirty="0"/>
          </a:p>
        </p:txBody>
      </p:sp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C1A79BBD-B9A3-AD4B-BCC5-32F86303D8B4}"/>
              </a:ext>
            </a:extLst>
          </p:cNvPr>
          <p:cNvSpPr>
            <a:spLocks noGrp="1"/>
          </p:cNvSpPr>
          <p:nvPr/>
        </p:nvSpPr>
        <p:spPr>
          <a:xfrm>
            <a:off x="981224" y="216549"/>
            <a:ext cx="10275779" cy="790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传统建模方法</a:t>
            </a:r>
            <a:r>
              <a:rPr kumimoji="0" lang="en-US" altLang="zh-CN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kumimoji="0" lang="zh-CN" altLang="en-US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预测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D840CECD-FEBE-2D44-1A20-D65916777F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234876" y="6453264"/>
            <a:ext cx="804724" cy="245745"/>
          </a:xfrm>
        </p:spPr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9</a:t>
            </a:fld>
            <a:endParaRPr lang="en-US" altLang="zh-CN" spc="-5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2EEB688-AAFA-E753-1346-ACE754792A8C}"/>
              </a:ext>
            </a:extLst>
          </p:cNvPr>
          <p:cNvGrpSpPr/>
          <p:nvPr/>
        </p:nvGrpSpPr>
        <p:grpSpPr>
          <a:xfrm>
            <a:off x="7805332" y="3914698"/>
            <a:ext cx="3429544" cy="1763950"/>
            <a:chOff x="8508" y="9416"/>
            <a:chExt cx="8718" cy="1235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E6E25AC-ED0B-6E5B-6F78-69CBA7102D9A}"/>
                </a:ext>
              </a:extLst>
            </p:cNvPr>
            <p:cNvSpPr txBox="1"/>
            <p:nvPr/>
          </p:nvSpPr>
          <p:spPr>
            <a:xfrm>
              <a:off x="8760" y="9570"/>
              <a:ext cx="8304" cy="9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zh-CN" altLang="en-US" sz="2000" b="1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优势：灵活性强</a:t>
              </a:r>
              <a:endParaRPr lang="en-US" altLang="zh-CN" sz="2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sz="2000" b="1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一定的可解释性</a:t>
              </a:r>
              <a:endParaRPr lang="en-US" altLang="zh-CN" sz="2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endPara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劣势：可加性假设</a:t>
              </a:r>
              <a:endPara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依赖领域知识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</a:p>
          </p:txBody>
        </p:sp>
        <p:sp>
          <p:nvSpPr>
            <p:cNvPr id="35" name="圆角矩形 14">
              <a:extLst>
                <a:ext uri="{FF2B5EF4-FFF2-40B4-BE49-F238E27FC236}">
                  <a16:creationId xmlns:a16="http://schemas.microsoft.com/office/drawing/2014/main" id="{30C8079D-AF36-063A-C027-512258DFF6AC}"/>
                </a:ext>
              </a:extLst>
            </p:cNvPr>
            <p:cNvSpPr/>
            <p:nvPr/>
          </p:nvSpPr>
          <p:spPr>
            <a:xfrm>
              <a:off x="8508" y="9416"/>
              <a:ext cx="8718" cy="1235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7CA5805-EF2C-B400-5995-DF46894AED40}"/>
              </a:ext>
            </a:extLst>
          </p:cNvPr>
          <p:cNvGrpSpPr/>
          <p:nvPr/>
        </p:nvGrpSpPr>
        <p:grpSpPr>
          <a:xfrm>
            <a:off x="858219" y="3125946"/>
            <a:ext cx="6574070" cy="3445861"/>
            <a:chOff x="8508" y="9416"/>
            <a:chExt cx="8718" cy="127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360BFCF-8E39-DD93-0CC6-8E93FD722B57}"/>
                </a:ext>
              </a:extLst>
            </p:cNvPr>
            <p:cNvSpPr txBox="1"/>
            <p:nvPr/>
          </p:nvSpPr>
          <p:spPr>
            <a:xfrm>
              <a:off x="8760" y="9428"/>
              <a:ext cx="8304" cy="126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 anchor="t" anchorCtr="0">
              <a:spAutoFit/>
            </a:bodyPr>
            <a:lstStyle/>
            <a:p>
              <a:pPr>
                <a:lnSpc>
                  <a:spcPts val="700"/>
                </a:lnSpc>
              </a:pPr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1)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趋势项</a:t>
              </a:r>
              <a:r>
                <a:rPr kumimoji="0" lang="zh-CN" altLang="zh-CN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g(t)</a:t>
              </a:r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基于</a:t>
              </a:r>
              <a:r>
                <a:rPr lang="zh-CN" altLang="en-US" b="1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逻辑回归</a:t>
              </a:r>
              <a:r>
                <a:rPr lang="zh-CN" altLang="en-US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函数或</a:t>
              </a:r>
              <a:r>
                <a:rPr lang="zh-CN" altLang="en-US" b="1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分段线性</a:t>
              </a:r>
              <a:r>
                <a:rPr lang="zh-CN" altLang="en-US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函数拟合，可</a:t>
              </a:r>
              <a:r>
                <a:rPr lang="zh-CN" altLang="en-US" dirty="0">
                  <a:solidFill>
                    <a:srgbClr val="404040"/>
                  </a:solidFill>
                  <a:latin typeface="宋体" panose="02010600030101010101" pitchFamily="2" charset="-122"/>
                </a:rPr>
                <a:t>指定</a:t>
              </a:r>
              <a:r>
                <a:rPr lang="zh-CN" altLang="en-US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承载量</a:t>
              </a:r>
              <a:r>
                <a:rPr lang="en-US" altLang="zh-CN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最大值</a:t>
              </a:r>
              <a:r>
                <a:rPr lang="en-US" altLang="zh-CN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r>
                <a:rPr lang="zh-CN" altLang="en-US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、突变点等相关参数</a:t>
              </a:r>
              <a:endParaRPr lang="en-US" altLang="zh-CN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2)</a:t>
              </a:r>
              <a:r>
                <a:rPr lang="zh-CN" altLang="en-US" sz="20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周期项</a:t>
              </a:r>
              <a:r>
                <a:rPr kumimoji="0" lang="zh-CN" altLang="zh-CN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s(t)</a:t>
              </a:r>
              <a:endPara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通过</a:t>
              </a:r>
              <a:r>
                <a:rPr lang="zh-CN" altLang="en-US" b="1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傅立叶级数</a:t>
              </a:r>
              <a:r>
                <a:rPr lang="zh-CN" altLang="en-US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拟合周期性，需指定周期长度、傅里叶阶数。</a:t>
              </a:r>
              <a:endParaRPr lang="en-US" altLang="zh-CN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endParaRPr lang="en-US" altLang="zh-CN" sz="2000" b="1" dirty="0">
                <a:solidFill>
                  <a:srgbClr val="40404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endParaRPr lang="en-US" altLang="zh-CN" sz="2000" b="1" dirty="0">
                <a:solidFill>
                  <a:srgbClr val="40404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3)</a:t>
              </a:r>
              <a:r>
                <a:rPr lang="zh-CN" altLang="en-US" sz="20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节假日项</a:t>
              </a:r>
              <a:r>
                <a:rPr lang="en-US" altLang="zh-CN" sz="20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h(t)</a:t>
              </a:r>
              <a:endParaRPr lang="en-US" altLang="zh-CN" sz="2000" b="1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表达式：            </a:t>
              </a:r>
              <a:endParaRPr lang="en-US" altLang="zh-CN" dirty="0">
                <a:solidFill>
                  <a:srgbClr val="40404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其中                          </a:t>
              </a:r>
              <a:r>
                <a:rPr lang="en-US" altLang="zh-CN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需指定节假日日期</a:t>
              </a:r>
              <a:r>
                <a:rPr lang="en-US" altLang="zh-CN" b="0" i="0" dirty="0">
                  <a:solidFill>
                    <a:srgbClr val="40404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  <a:endParaRPr lang="en-US" altLang="zh-CN" dirty="0">
                <a:solidFill>
                  <a:srgbClr val="40404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endParaRPr lang="en-US" altLang="zh-CN" sz="2000" b="0" i="0" dirty="0">
                <a:solidFill>
                  <a:srgbClr val="40404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圆角矩形 14">
              <a:extLst>
                <a:ext uri="{FF2B5EF4-FFF2-40B4-BE49-F238E27FC236}">
                  <a16:creationId xmlns:a16="http://schemas.microsoft.com/office/drawing/2014/main" id="{33C89826-444C-9E3A-39E3-4F21A66C9A06}"/>
                </a:ext>
              </a:extLst>
            </p:cNvPr>
            <p:cNvSpPr/>
            <p:nvPr/>
          </p:nvSpPr>
          <p:spPr>
            <a:xfrm>
              <a:off x="8508" y="9416"/>
              <a:ext cx="8718" cy="1235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C5434680-A7B4-65E5-3183-C594415511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990600"/>
            <a:ext cx="3429479" cy="419158"/>
          </a:xfrm>
          <a:prstGeom prst="rect">
            <a:avLst/>
          </a:prstGeom>
        </p:spPr>
      </p:pic>
      <p:sp>
        <p:nvSpPr>
          <p:cNvPr id="15" name="AutoShape 6" descr="\epsilon_{t}">
            <a:extLst>
              <a:ext uri="{FF2B5EF4-FFF2-40B4-BE49-F238E27FC236}">
                <a16:creationId xmlns:a16="http://schemas.microsoft.com/office/drawing/2014/main" id="{0EA6FAD5-C246-EA7B-7F6B-E8C5751D4E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6375" y="-419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AutoShape 7" descr="\epsilon_{t}">
            <a:extLst>
              <a:ext uri="{FF2B5EF4-FFF2-40B4-BE49-F238E27FC236}">
                <a16:creationId xmlns:a16="http://schemas.microsoft.com/office/drawing/2014/main" id="{E4174899-E8CE-2B14-A133-57D45E3AFC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6650" y="-419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4111406-CE9E-81AE-26BC-1E834750EF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44" b="-7448"/>
          <a:stretch/>
        </p:blipFill>
        <p:spPr>
          <a:xfrm>
            <a:off x="2050409" y="5624199"/>
            <a:ext cx="1302391" cy="38896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29B1142-EA47-14F1-3A8F-B3254A7875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5867400"/>
            <a:ext cx="2895600" cy="38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41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49E9A-7037-2F42-4079-6EDE6DB7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9AE81FA5-30AC-B46C-A471-D142C51021F8}"/>
              </a:ext>
            </a:extLst>
          </p:cNvPr>
          <p:cNvSpPr>
            <a:spLocks noGrp="1"/>
          </p:cNvSpPr>
          <p:nvPr/>
        </p:nvSpPr>
        <p:spPr>
          <a:xfrm>
            <a:off x="981224" y="216549"/>
            <a:ext cx="10275779" cy="790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传统建模方法</a:t>
            </a:r>
            <a:r>
              <a:rPr kumimoji="0" lang="en-US" altLang="zh-CN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kumimoji="0" lang="zh-CN" altLang="en-US" sz="3600" b="1" i="0" u="none" strike="noStrike" kern="1200" cap="none" spc="0" normalizeH="0" baseline="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分类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F30FD660-B5D6-592E-6779-4E4B12497E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234876" y="6453264"/>
            <a:ext cx="804724" cy="245745"/>
          </a:xfrm>
        </p:spPr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10</a:t>
            </a:fld>
            <a:endParaRPr lang="en-US" altLang="zh-CN" spc="-5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FBEFD9-4DD1-73B8-4F2B-99A43ECB82D4}"/>
              </a:ext>
            </a:extLst>
          </p:cNvPr>
          <p:cNvSpPr/>
          <p:nvPr/>
        </p:nvSpPr>
        <p:spPr bwMode="auto">
          <a:xfrm>
            <a:off x="796299" y="953917"/>
            <a:ext cx="10176501" cy="1161514"/>
          </a:xfrm>
          <a:prstGeom prst="rect">
            <a:avLst/>
          </a:prstGeom>
          <a:noFill/>
          <a:ln w="12700">
            <a:solidFill>
              <a:srgbClr val="047E7F"/>
            </a:solidFill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/>
              <a:t>如果用</a:t>
            </a:r>
            <a:r>
              <a:rPr lang="zh-CN" altLang="en-US" sz="2000" b="1" dirty="0">
                <a:solidFill>
                  <a:srgbClr val="C00000"/>
                </a:solidFill>
              </a:rPr>
              <a:t>非时序模型</a:t>
            </a:r>
            <a:r>
              <a:rPr lang="zh-CN" altLang="en-US" sz="2000" b="1" dirty="0"/>
              <a:t>，如逻辑回归、树模型等，该如何建模？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b="1" dirty="0"/>
              <a:t>通过特征工程把时序数据转为统计特征（变量），再输入分类模型。</a:t>
            </a:r>
            <a:endParaRPr lang="en-US" altLang="zh-CN" sz="2000" b="1" dirty="0"/>
          </a:p>
          <a:p>
            <a:r>
              <a:rPr lang="zh-CN" altLang="en-US" sz="2000" b="1" dirty="0"/>
              <a:t>例如：基于近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天的心电图数据进行心脏疾病类型的判别。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473FFC3-1744-6A43-B6C9-EBA4BCC19679}"/>
              </a:ext>
            </a:extLst>
          </p:cNvPr>
          <p:cNvGrpSpPr/>
          <p:nvPr/>
        </p:nvGrpSpPr>
        <p:grpSpPr>
          <a:xfrm>
            <a:off x="8294833" y="3106742"/>
            <a:ext cx="3180309" cy="1938809"/>
            <a:chOff x="8508" y="9274"/>
            <a:chExt cx="8718" cy="1494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3313C09-1C61-42FB-66FF-9C19225E9EA0}"/>
                </a:ext>
              </a:extLst>
            </p:cNvPr>
            <p:cNvSpPr txBox="1"/>
            <p:nvPr/>
          </p:nvSpPr>
          <p:spPr>
            <a:xfrm>
              <a:off x="8760" y="9274"/>
              <a:ext cx="8304" cy="149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sz="2000" b="1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优势：可解释性较好</a:t>
              </a:r>
              <a:endParaRPr lang="en-US" altLang="zh-CN" sz="2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endPara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劣势：依赖领域知识</a:t>
              </a:r>
              <a:endPara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en-US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特征工程工作量大</a:t>
              </a:r>
              <a:endPara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endPara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圆角矩形 14">
              <a:extLst>
                <a:ext uri="{FF2B5EF4-FFF2-40B4-BE49-F238E27FC236}">
                  <a16:creationId xmlns:a16="http://schemas.microsoft.com/office/drawing/2014/main" id="{6D42C3BF-0461-9D36-CB1B-2C842E3CC478}"/>
                </a:ext>
              </a:extLst>
            </p:cNvPr>
            <p:cNvSpPr/>
            <p:nvPr/>
          </p:nvSpPr>
          <p:spPr>
            <a:xfrm>
              <a:off x="8508" y="9416"/>
              <a:ext cx="8718" cy="1235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8E3A5CA-310D-AB2D-BAEC-2E7AF792FD29}"/>
              </a:ext>
            </a:extLst>
          </p:cNvPr>
          <p:cNvGrpSpPr/>
          <p:nvPr/>
        </p:nvGrpSpPr>
        <p:grpSpPr>
          <a:xfrm>
            <a:off x="629691" y="2362200"/>
            <a:ext cx="3029283" cy="3706012"/>
            <a:chOff x="6499721" y="3048000"/>
            <a:chExt cx="4648200" cy="301778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CE9233D-F870-CB11-D699-D5091F8D1E28}"/>
                </a:ext>
              </a:extLst>
            </p:cNvPr>
            <p:cNvSpPr/>
            <p:nvPr/>
          </p:nvSpPr>
          <p:spPr>
            <a:xfrm>
              <a:off x="6499721" y="3048000"/>
              <a:ext cx="4648200" cy="30177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3D88BBA-695C-C70F-9517-1C61C2DAE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8956" b="34757"/>
            <a:stretch/>
          </p:blipFill>
          <p:spPr>
            <a:xfrm>
              <a:off x="6668871" y="3102984"/>
              <a:ext cx="4267200" cy="803908"/>
            </a:xfrm>
            <a:prstGeom prst="rect">
              <a:avLst/>
            </a:prstGeom>
          </p:spPr>
        </p:pic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C03DBBD-197C-C616-3EA4-C591A91D9E71}"/>
                </a:ext>
              </a:extLst>
            </p:cNvPr>
            <p:cNvSpPr/>
            <p:nvPr/>
          </p:nvSpPr>
          <p:spPr>
            <a:xfrm>
              <a:off x="7888071" y="4353761"/>
              <a:ext cx="1828800" cy="54559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</a:rPr>
                <a:t>特征工程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9586116-F45B-F7EA-7AFB-48BB75C40453}"/>
                </a:ext>
              </a:extLst>
            </p:cNvPr>
            <p:cNvSpPr/>
            <p:nvPr/>
          </p:nvSpPr>
          <p:spPr>
            <a:xfrm>
              <a:off x="7888071" y="5383983"/>
              <a:ext cx="1828800" cy="54559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分类模型</a:t>
              </a:r>
            </a:p>
          </p:txBody>
        </p:sp>
        <p:sp>
          <p:nvSpPr>
            <p:cNvPr id="9" name="箭头: 下 8">
              <a:extLst>
                <a:ext uri="{FF2B5EF4-FFF2-40B4-BE49-F238E27FC236}">
                  <a16:creationId xmlns:a16="http://schemas.microsoft.com/office/drawing/2014/main" id="{AC9CDDD2-E7D6-E519-E0B5-3977412653E4}"/>
                </a:ext>
              </a:extLst>
            </p:cNvPr>
            <p:cNvSpPr/>
            <p:nvPr/>
          </p:nvSpPr>
          <p:spPr>
            <a:xfrm>
              <a:off x="8658837" y="4000653"/>
              <a:ext cx="304800" cy="30480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C10131DF-1EC7-B3F8-9BEA-3289D6FAADCE}"/>
                </a:ext>
              </a:extLst>
            </p:cNvPr>
            <p:cNvSpPr/>
            <p:nvPr/>
          </p:nvSpPr>
          <p:spPr>
            <a:xfrm>
              <a:off x="8671421" y="5013121"/>
              <a:ext cx="304800" cy="30480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箭头: 右 10">
            <a:extLst>
              <a:ext uri="{FF2B5EF4-FFF2-40B4-BE49-F238E27FC236}">
                <a16:creationId xmlns:a16="http://schemas.microsoft.com/office/drawing/2014/main" id="{EE6EC6FF-B220-AE36-38FB-DF69A9F4EC9D}"/>
              </a:ext>
            </a:extLst>
          </p:cNvPr>
          <p:cNvSpPr/>
          <p:nvPr/>
        </p:nvSpPr>
        <p:spPr>
          <a:xfrm>
            <a:off x="3276600" y="4076147"/>
            <a:ext cx="701284" cy="437304"/>
          </a:xfrm>
          <a:prstGeom prst="rightArrow">
            <a:avLst/>
          </a:prstGeom>
          <a:solidFill>
            <a:srgbClr val="FF0000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4">
            <a:extLst>
              <a:ext uri="{FF2B5EF4-FFF2-40B4-BE49-F238E27FC236}">
                <a16:creationId xmlns:a16="http://schemas.microsoft.com/office/drawing/2014/main" id="{36A62307-63A5-6D7E-D603-BD6EF896CE5B}"/>
              </a:ext>
            </a:extLst>
          </p:cNvPr>
          <p:cNvSpPr/>
          <p:nvPr/>
        </p:nvSpPr>
        <p:spPr>
          <a:xfrm>
            <a:off x="4103105" y="2662947"/>
            <a:ext cx="3985789" cy="3067321"/>
          </a:xfrm>
          <a:prstGeom prst="roundRect">
            <a:avLst/>
          </a:prstGeom>
          <a:ln>
            <a:solidFill>
              <a:srgbClr val="FF0000"/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 anchorCtr="0"/>
          <a:lstStyle/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ST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段抬高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压低次数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ST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段抬高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压低最大幅度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ST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段抬高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压低最长持续时间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PR/QT/RR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间期均值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方差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Q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波最大宽度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Q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波宽度≥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0.04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秒次数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ctr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各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导联相关系数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ctr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傅里叶变换高频低频功率比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小波变换系数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793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" y="2514637"/>
            <a:ext cx="12192000" cy="525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dirty="0">
                <a:solidFill>
                  <a:srgbClr val="067D80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67D8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、基于神经网络的方法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1060A-B4F9-43A1-9C54-EEC2C3C9E745}" type="slidenum">
              <a:rPr lang="zh-CN" altLang="en-US">
                <a:solidFill>
                  <a:srgbClr val="003366"/>
                </a:solidFill>
              </a:rPr>
              <a:t>11</a:t>
            </a:fld>
            <a:endParaRPr lang="en-US" altLang="zh-CN">
              <a:solidFill>
                <a:srgbClr val="00336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9C06224-1598-7446-A8B2-CC8197AA9EB1}"/>
                  </a:ext>
                </a:extLst>
              </p:cNvPr>
              <p:cNvSpPr txBox="1"/>
              <p:nvPr/>
            </p:nvSpPr>
            <p:spPr>
              <a:xfrm>
                <a:off x="7282495" y="2852678"/>
                <a:ext cx="4114800" cy="2585323"/>
              </a:xfrm>
              <a:prstGeom prst="rect">
                <a:avLst/>
              </a:prstGeom>
              <a:noFill/>
              <a:ln w="28575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数学表达式：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b="0" i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dirty="0">
                  <a:latin typeface="宋体" panose="02010600030101010101" pitchFamily="2" charset="-122"/>
                  <a:ea typeface="Cambria Math" panose="02040503050406030204" pitchFamily="18" charset="0"/>
                </a:endParaRPr>
              </a:p>
              <a:p>
                <a:r>
                  <a:rPr lang="en-US" altLang="zh-CN" b="0" dirty="0">
                    <a:latin typeface="宋体" panose="02010600030101010101" pitchFamily="2" charset="-122"/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宋体" panose="02010600030101010101" pitchFamily="2" charset="-122"/>
                  <a:ea typeface="Cambria Math" panose="02040503050406030204" pitchFamily="18" charset="0"/>
                </a:endParaRPr>
              </a:p>
              <a:p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为激活函数，通常为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tanh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𝑉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可将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h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映射到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维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dirty="0">
                    <a:latin typeface="宋体" panose="02010600030101010101" pitchFamily="2" charset="-122"/>
                  </a:rPr>
                  <a:t>预测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或多维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分类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𝑔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为激活函数，分类问题通常为</a:t>
                </a:r>
                <a:r>
                  <a:rPr lang="en-US" altLang="zh-CN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Softmax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如果是预测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dirty="0">
                    <a:latin typeface="宋体" panose="02010600030101010101" pitchFamily="2" charset="-122"/>
                  </a:rPr>
                  <a:t>回归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问题可不要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𝑔</m:t>
                    </m:r>
                  </m:oMath>
                </a14:m>
                <a:endParaRPr lang="en-US" altLang="zh-CN" i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9C06224-1598-7446-A8B2-CC8197AA9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495" y="2852678"/>
                <a:ext cx="4114800" cy="2585323"/>
              </a:xfrm>
              <a:prstGeom prst="rect">
                <a:avLst/>
              </a:prstGeom>
              <a:blipFill>
                <a:blip r:embed="rId3"/>
                <a:stretch>
                  <a:fillRect l="-1029" t="-932" r="-735" b="-1632"/>
                </a:stretch>
              </a:blip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.1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循环神经网络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0" y="1048385"/>
            <a:ext cx="10439400" cy="1521635"/>
          </a:xfrm>
          <a:prstGeom prst="rect">
            <a:avLst/>
          </a:prstGeom>
          <a:ln w="12700">
            <a:solidFill>
              <a:srgbClr val="067D7F"/>
            </a:solidFill>
            <a:prstDash val="sysDash"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循环神经网络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Recurrent Neural Network, RNN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核心在于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循环连接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Recurrent Connection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），即网络的输出不仅取决于当前输入，还取决于之前所有时间步的输入，历史输入通过隐藏状态传递，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理论上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能够处理任意长度的序列数据。</a:t>
            </a:r>
            <a:r>
              <a:rPr lang="zh-CN" altLang="en-US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自动从原始序列数据中学习有意义特征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，用于预测</a:t>
            </a:r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分类</a:t>
            </a:r>
            <a:r>
              <a:rPr lang="zh-CN" altLang="en-US" i="0" dirty="0">
                <a:solidFill>
                  <a:srgbClr val="191B1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，被广泛应用于时序预测、语音识别、机器翻译等问题。</a:t>
            </a:r>
            <a:endParaRPr lang="zh-CN" altLang="en-US" dirty="0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12</a:t>
            </a:fld>
            <a:endParaRPr lang="en-US" altLang="zh-CN" spc="-5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203B2AE-7A44-583B-23A2-3962A5BAF8BE}"/>
              </a:ext>
            </a:extLst>
          </p:cNvPr>
          <p:cNvSpPr txBox="1"/>
          <p:nvPr/>
        </p:nvSpPr>
        <p:spPr>
          <a:xfrm>
            <a:off x="3372259" y="540764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RNN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C26A3FD-B972-0381-4089-F0F5DAE04780}"/>
                  </a:ext>
                </a:extLst>
              </p:cNvPr>
              <p:cNvSpPr txBox="1"/>
              <p:nvPr/>
            </p:nvSpPr>
            <p:spPr>
              <a:xfrm>
                <a:off x="881611" y="5867400"/>
                <a:ext cx="10262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输入向量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h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隐藏状态向量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𝑜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为输出结果；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𝑈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𝑊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𝑉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为参数矩阵，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在每个时间点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都共享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C26A3FD-B972-0381-4089-F0F5DAE04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11" y="5867400"/>
                <a:ext cx="10262464" cy="369332"/>
              </a:xfrm>
              <a:prstGeom prst="rect">
                <a:avLst/>
              </a:prstGeom>
              <a:blipFill>
                <a:blip r:embed="rId4"/>
                <a:stretch>
                  <a:fillRect t="-100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>
            <a:extLst>
              <a:ext uri="{FF2B5EF4-FFF2-40B4-BE49-F238E27FC236}">
                <a16:creationId xmlns:a16="http://schemas.microsoft.com/office/drawing/2014/main" id="{1B5658F3-F616-6705-33F9-C4AE343BDAC5}"/>
              </a:ext>
            </a:extLst>
          </p:cNvPr>
          <p:cNvGrpSpPr/>
          <p:nvPr/>
        </p:nvGrpSpPr>
        <p:grpSpPr>
          <a:xfrm>
            <a:off x="609600" y="2912094"/>
            <a:ext cx="6571580" cy="2495550"/>
            <a:chOff x="591220" y="2514600"/>
            <a:chExt cx="6767512" cy="2495550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281A3DA1-6294-BAD6-7F3D-CBD56B61A46F}"/>
                </a:ext>
              </a:extLst>
            </p:cNvPr>
            <p:cNvGrpSpPr/>
            <p:nvPr/>
          </p:nvGrpSpPr>
          <p:grpSpPr>
            <a:xfrm>
              <a:off x="591220" y="2514600"/>
              <a:ext cx="6767512" cy="2495550"/>
              <a:chOff x="609600" y="2610991"/>
              <a:chExt cx="6767512" cy="2495550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E516ED02-8165-A1DD-2AA9-AF2446C55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600" y="2610991"/>
                <a:ext cx="6767512" cy="249555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F18E66C7-AAAE-D312-0BDA-D3521BD86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600" y="3657600"/>
                <a:ext cx="183843" cy="248188"/>
              </a:xfrm>
              <a:prstGeom prst="rect">
                <a:avLst/>
              </a:prstGeom>
            </p:spPr>
          </p:pic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F870B830-55C2-B312-7128-8598CF522DAE}"/>
                  </a:ext>
                </a:extLst>
              </p:cNvPr>
              <p:cNvGrpSpPr/>
              <p:nvPr/>
            </p:nvGrpSpPr>
            <p:grpSpPr>
              <a:xfrm>
                <a:off x="5188735" y="3462787"/>
                <a:ext cx="623888" cy="404771"/>
                <a:chOff x="4036115" y="3524221"/>
                <a:chExt cx="383485" cy="285779"/>
              </a:xfrm>
            </p:grpSpPr>
            <p:pic>
              <p:nvPicPr>
                <p:cNvPr id="48" name="图片 47">
                  <a:extLst>
                    <a:ext uri="{FF2B5EF4-FFF2-40B4-BE49-F238E27FC236}">
                      <a16:creationId xmlns:a16="http://schemas.microsoft.com/office/drawing/2014/main" id="{1F34A797-58D1-0F0D-D7F9-BCFBBE0792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36115" y="3524221"/>
                  <a:ext cx="383485" cy="209579"/>
                </a:xfrm>
                <a:prstGeom prst="rect">
                  <a:avLst/>
                </a:prstGeom>
              </p:spPr>
            </p:pic>
            <p:pic>
              <p:nvPicPr>
                <p:cNvPr id="49" name="图片 48">
                  <a:extLst>
                    <a:ext uri="{FF2B5EF4-FFF2-40B4-BE49-F238E27FC236}">
                      <a16:creationId xmlns:a16="http://schemas.microsoft.com/office/drawing/2014/main" id="{602CB1AD-0836-3528-CC78-DEF078FD3B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6614" y="3600421"/>
                  <a:ext cx="282986" cy="209579"/>
                </a:xfrm>
                <a:prstGeom prst="rect">
                  <a:avLst/>
                </a:prstGeom>
              </p:spPr>
            </p:pic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F261E294-B0BA-3E4D-5F19-3305213AF915}"/>
                  </a:ext>
                </a:extLst>
              </p:cNvPr>
              <p:cNvGrpSpPr/>
              <p:nvPr/>
            </p:nvGrpSpPr>
            <p:grpSpPr>
              <a:xfrm>
                <a:off x="6407740" y="3550574"/>
                <a:ext cx="383485" cy="285779"/>
                <a:chOff x="4036115" y="3524221"/>
                <a:chExt cx="383485" cy="285779"/>
              </a:xfrm>
            </p:grpSpPr>
            <p:pic>
              <p:nvPicPr>
                <p:cNvPr id="51" name="图片 50">
                  <a:extLst>
                    <a:ext uri="{FF2B5EF4-FFF2-40B4-BE49-F238E27FC236}">
                      <a16:creationId xmlns:a16="http://schemas.microsoft.com/office/drawing/2014/main" id="{AB8783EB-7B3F-89D7-E526-901664E863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36115" y="3524221"/>
                  <a:ext cx="383485" cy="209579"/>
                </a:xfrm>
                <a:prstGeom prst="rect">
                  <a:avLst/>
                </a:prstGeom>
              </p:spPr>
            </p:pic>
            <p:pic>
              <p:nvPicPr>
                <p:cNvPr id="52" name="图片 51">
                  <a:extLst>
                    <a:ext uri="{FF2B5EF4-FFF2-40B4-BE49-F238E27FC236}">
                      <a16:creationId xmlns:a16="http://schemas.microsoft.com/office/drawing/2014/main" id="{02BE9977-5E91-D737-F648-23477A45C7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6614" y="3600421"/>
                  <a:ext cx="282986" cy="209579"/>
                </a:xfrm>
                <a:prstGeom prst="rect">
                  <a:avLst/>
                </a:prstGeom>
              </p:spPr>
            </p:pic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002CE667-B61A-4C26-77A1-A95B2A6C95B2}"/>
                  </a:ext>
                </a:extLst>
              </p:cNvPr>
              <p:cNvGrpSpPr/>
              <p:nvPr/>
            </p:nvGrpSpPr>
            <p:grpSpPr>
              <a:xfrm>
                <a:off x="4036115" y="3550574"/>
                <a:ext cx="383485" cy="285779"/>
                <a:chOff x="4036115" y="3524221"/>
                <a:chExt cx="383485" cy="285779"/>
              </a:xfrm>
            </p:grpSpPr>
            <p:pic>
              <p:nvPicPr>
                <p:cNvPr id="44" name="图片 43">
                  <a:extLst>
                    <a:ext uri="{FF2B5EF4-FFF2-40B4-BE49-F238E27FC236}">
                      <a16:creationId xmlns:a16="http://schemas.microsoft.com/office/drawing/2014/main" id="{BB51CF02-05CB-3AC1-0827-94FA22FB5D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36115" y="3524221"/>
                  <a:ext cx="383485" cy="209579"/>
                </a:xfrm>
                <a:prstGeom prst="rect">
                  <a:avLst/>
                </a:prstGeom>
              </p:spPr>
            </p:pic>
            <p:pic>
              <p:nvPicPr>
                <p:cNvPr id="45" name="图片 44">
                  <a:extLst>
                    <a:ext uri="{FF2B5EF4-FFF2-40B4-BE49-F238E27FC236}">
                      <a16:creationId xmlns:a16="http://schemas.microsoft.com/office/drawing/2014/main" id="{C15F2205-24E7-7AFA-D987-DEF20E6105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6614" y="3600421"/>
                  <a:ext cx="282986" cy="209579"/>
                </a:xfrm>
                <a:prstGeom prst="rect">
                  <a:avLst/>
                </a:prstGeom>
              </p:spPr>
            </p:pic>
          </p:grpSp>
        </p:grp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7E0C7E5D-8792-4422-C500-80C4001D2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421" y="3465878"/>
              <a:ext cx="276179" cy="267922"/>
            </a:xfrm>
            <a:prstGeom prst="rect">
              <a:avLst/>
            </a:prstGeom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48D3382A-8A99-C754-5470-1DCEE87AC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4514" y="3471415"/>
              <a:ext cx="383486" cy="262385"/>
            </a:xfrm>
            <a:prstGeom prst="rect">
              <a:avLst/>
            </a:prstGeom>
          </p:spPr>
        </p:pic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E9FECE06-D9AA-8758-AA9C-1B3621D01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1458" y="3485611"/>
              <a:ext cx="420542" cy="24818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F25DA-EAB4-6C57-87AB-6E114B9C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EEEA1A1-5077-BBAE-C61B-FD93DE784EB7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.1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循环神经网络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0464EC-ACAC-6A9C-2C33-690AD9E47D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13</a:t>
            </a:fld>
            <a:endParaRPr lang="en-US" altLang="zh-CN" spc="-5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4D4624-B4B7-7DA3-9360-94E13B8F6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447800"/>
            <a:ext cx="6858000" cy="4162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3684454-8EC6-8013-3164-75F45A4A3F27}"/>
                  </a:ext>
                </a:extLst>
              </p:cNvPr>
              <p:cNvSpPr txBox="1"/>
              <p:nvPr/>
            </p:nvSpPr>
            <p:spPr>
              <a:xfrm>
                <a:off x="4114800" y="160020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𝑜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3684454-8EC6-8013-3164-75F45A4A3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1600200"/>
                <a:ext cx="304800" cy="369332"/>
              </a:xfrm>
              <a:prstGeom prst="rect">
                <a:avLst/>
              </a:prstGeom>
              <a:blipFill>
                <a:blip r:embed="rId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EE020E2-25FB-21AB-BD31-7023563AE7A2}"/>
                  </a:ext>
                </a:extLst>
              </p:cNvPr>
              <p:cNvSpPr txBox="1"/>
              <p:nvPr/>
            </p:nvSpPr>
            <p:spPr>
              <a:xfrm>
                <a:off x="7010400" y="160020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𝑜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EE020E2-25FB-21AB-BD31-7023563AE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1600200"/>
                <a:ext cx="304800" cy="369332"/>
              </a:xfrm>
              <a:prstGeom prst="rect">
                <a:avLst/>
              </a:prstGeom>
              <a:blipFill>
                <a:blip r:embed="rId5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A75F963-798B-D19C-B732-1328384DA1DD}"/>
                  </a:ext>
                </a:extLst>
              </p:cNvPr>
              <p:cNvSpPr txBox="1"/>
              <p:nvPr/>
            </p:nvSpPr>
            <p:spPr>
              <a:xfrm>
                <a:off x="3124200" y="488846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A75F963-798B-D19C-B732-1328384DA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888468"/>
                <a:ext cx="3048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71E9515-A17E-AF9C-5A31-6BBDB8D5E1CE}"/>
                  </a:ext>
                </a:extLst>
              </p:cNvPr>
              <p:cNvSpPr txBox="1"/>
              <p:nvPr/>
            </p:nvSpPr>
            <p:spPr>
              <a:xfrm>
                <a:off x="4495800" y="441960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𝑈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71E9515-A17E-AF9C-5A31-6BBDB8D5E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419600"/>
                <a:ext cx="304800" cy="369332"/>
              </a:xfrm>
              <a:prstGeom prst="rect">
                <a:avLst/>
              </a:prstGeom>
              <a:blipFill>
                <a:blip r:embed="rId7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A66F249-189B-A574-AB28-DC06B1BE4085}"/>
                  </a:ext>
                </a:extLst>
              </p:cNvPr>
              <p:cNvSpPr txBox="1"/>
              <p:nvPr/>
            </p:nvSpPr>
            <p:spPr>
              <a:xfrm>
                <a:off x="4495800" y="412646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𝑊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A66F249-189B-A574-AB28-DC06B1BE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126468"/>
                <a:ext cx="304800" cy="369332"/>
              </a:xfrm>
              <a:prstGeom prst="rect">
                <a:avLst/>
              </a:prstGeom>
              <a:blipFill>
                <a:blip r:embed="rId8"/>
                <a:stretch>
                  <a:fillRect r="-2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7123EDD-7541-2DEE-CC27-37062E7F6419}"/>
                  </a:ext>
                </a:extLst>
              </p:cNvPr>
              <p:cNvSpPr txBox="1"/>
              <p:nvPr/>
            </p:nvSpPr>
            <p:spPr>
              <a:xfrm>
                <a:off x="7467600" y="4419600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𝑈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7123EDD-7541-2DEE-CC27-37062E7F6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4419600"/>
                <a:ext cx="304800" cy="369332"/>
              </a:xfrm>
              <a:prstGeom prst="rect">
                <a:avLst/>
              </a:prstGeom>
              <a:blipFill>
                <a:blip r:embed="rId9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E175073-5547-FBD3-84E8-0D7CB5BE94E5}"/>
                  </a:ext>
                </a:extLst>
              </p:cNvPr>
              <p:cNvSpPr txBox="1"/>
              <p:nvPr/>
            </p:nvSpPr>
            <p:spPr>
              <a:xfrm>
                <a:off x="7467600" y="412646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𝑊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E175073-5547-FBD3-84E8-0D7CB5BE9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4126468"/>
                <a:ext cx="304800" cy="369332"/>
              </a:xfrm>
              <a:prstGeom prst="rect">
                <a:avLst/>
              </a:prstGeom>
              <a:blipFill>
                <a:blip r:embed="rId10"/>
                <a:stretch>
                  <a:fillRect r="-2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4756787-433F-A5FD-1113-A16F0FACB82E}"/>
                  </a:ext>
                </a:extLst>
              </p:cNvPr>
              <p:cNvSpPr txBox="1"/>
              <p:nvPr/>
            </p:nvSpPr>
            <p:spPr>
              <a:xfrm>
                <a:off x="4267200" y="267866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4756787-433F-A5FD-1113-A16F0FACB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678668"/>
                <a:ext cx="304800" cy="369332"/>
              </a:xfrm>
              <a:prstGeom prst="rect">
                <a:avLst/>
              </a:prstGeom>
              <a:blipFill>
                <a:blip r:embed="rId11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46E3D15-CBD7-BE14-0402-AF7AF473B4E3}"/>
                  </a:ext>
                </a:extLst>
              </p:cNvPr>
              <p:cNvSpPr txBox="1"/>
              <p:nvPr/>
            </p:nvSpPr>
            <p:spPr>
              <a:xfrm>
                <a:off x="7162800" y="267866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46E3D15-CBD7-BE14-0402-AF7AF473B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2678668"/>
                <a:ext cx="304800" cy="369332"/>
              </a:xfrm>
              <a:prstGeom prst="rect">
                <a:avLst/>
              </a:prstGeom>
              <a:blipFill>
                <a:blip r:embed="rId11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FD6087E1-D808-A90D-4475-219164F1140C}"/>
              </a:ext>
            </a:extLst>
          </p:cNvPr>
          <p:cNvSpPr/>
          <p:nvPr/>
        </p:nvSpPr>
        <p:spPr>
          <a:xfrm>
            <a:off x="4191000" y="3886200"/>
            <a:ext cx="381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C63D95-7321-5A6D-C51E-C20007E5C70A}"/>
              </a:ext>
            </a:extLst>
          </p:cNvPr>
          <p:cNvSpPr/>
          <p:nvPr/>
        </p:nvSpPr>
        <p:spPr>
          <a:xfrm>
            <a:off x="4191000" y="4419600"/>
            <a:ext cx="381000" cy="3286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E70EC17-0332-BFE9-77C2-BF935445E1A1}"/>
                  </a:ext>
                </a:extLst>
              </p:cNvPr>
              <p:cNvSpPr txBox="1"/>
              <p:nvPr/>
            </p:nvSpPr>
            <p:spPr>
              <a:xfrm>
                <a:off x="5638800" y="435506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E70EC17-0332-BFE9-77C2-BF935445E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355068"/>
                <a:ext cx="304800" cy="369332"/>
              </a:xfrm>
              <a:prstGeom prst="rect">
                <a:avLst/>
              </a:prstGeom>
              <a:blipFill>
                <a:blip r:embed="rId12"/>
                <a:stretch>
                  <a:fillRect r="-4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9A28318-C698-79AB-9294-7C15A7340A9C}"/>
                  </a:ext>
                </a:extLst>
              </p:cNvPr>
              <p:cNvSpPr txBox="1"/>
              <p:nvPr/>
            </p:nvSpPr>
            <p:spPr>
              <a:xfrm>
                <a:off x="8458200" y="435506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9A28318-C698-79AB-9294-7C15A7340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0" y="4355068"/>
                <a:ext cx="304800" cy="369332"/>
              </a:xfrm>
              <a:prstGeom prst="rect">
                <a:avLst/>
              </a:prstGeom>
              <a:blipFill>
                <a:blip r:embed="rId13"/>
                <a:stretch>
                  <a:fillRect r="-4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674C564E-5A41-2028-AF85-77F7E649EABF}"/>
              </a:ext>
            </a:extLst>
          </p:cNvPr>
          <p:cNvSpPr txBox="1"/>
          <p:nvPr/>
        </p:nvSpPr>
        <p:spPr>
          <a:xfrm>
            <a:off x="909506" y="1074248"/>
            <a:ext cx="12240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例子：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7852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316F5-D682-904A-0B84-FF7D2FAE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78DC71E-8F34-FC2F-F181-83B4C44BED25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.1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循环神经网络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C9AAB3-8534-3F7C-C90E-D31FBAA28A57}"/>
              </a:ext>
            </a:extLst>
          </p:cNvPr>
          <p:cNvSpPr txBox="1"/>
          <p:nvPr/>
        </p:nvSpPr>
        <p:spPr>
          <a:xfrm>
            <a:off x="762001" y="932114"/>
            <a:ext cx="9525000" cy="455125"/>
          </a:xfrm>
          <a:prstGeom prst="rect">
            <a:avLst/>
          </a:prstGeom>
          <a:ln w="12700">
            <a:solidFill>
              <a:srgbClr val="067D7F"/>
            </a:solidFill>
            <a:prstDash val="sysDash"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RNN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在序列很长时存在</a:t>
            </a:r>
            <a:r>
              <a:rPr lang="zh-CN" altLang="en-US" sz="2000" b="1" dirty="0">
                <a:latin typeface="Times New Roman" panose="02020603050405020304" pitchFamily="18" charset="0"/>
                <a:cs typeface="宋体" panose="02010600030101010101" pitchFamily="2" charset="-122"/>
              </a:rPr>
              <a:t>梯度爆炸和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梯度消失</a:t>
            </a:r>
            <a:r>
              <a:rPr lang="zh-CN" altLang="en-US" sz="2000" dirty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  <a:cs typeface="宋体" panose="02010600030101010101" pitchFamily="2" charset="-122"/>
              </a:rPr>
              <a:t>问题，导致</a:t>
            </a:r>
            <a:r>
              <a:rPr lang="zh-CN" altLang="en-US" sz="2000" b="1" dirty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  <a:cs typeface="宋体" panose="02010600030101010101" pitchFamily="2" charset="-122"/>
              </a:rPr>
              <a:t>长期依赖信息</a:t>
            </a:r>
            <a:r>
              <a:rPr lang="zh-CN" altLang="en-US" sz="2000" dirty="0">
                <a:solidFill>
                  <a:srgbClr val="191B1F"/>
                </a:solidFill>
                <a:latin typeface="-apple-system"/>
                <a:ea typeface="宋体" panose="02010600030101010101" pitchFamily="2" charset="-122"/>
                <a:cs typeface="宋体" panose="02010600030101010101" pitchFamily="2" charset="-122"/>
              </a:rPr>
              <a:t>无法得到学习。</a:t>
            </a:r>
            <a:endParaRPr lang="en-US" altLang="zh-CN" sz="2000" dirty="0">
              <a:solidFill>
                <a:srgbClr val="191B1F"/>
              </a:solidFill>
              <a:latin typeface="-apple-system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744B58-1C1F-E6A0-E2D3-ECC3F720CC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14</a:t>
            </a:fld>
            <a:endParaRPr lang="en-US" altLang="zh-CN" spc="-5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7A1DB0B-447D-AF49-096B-60AF1932BDC9}"/>
              </a:ext>
            </a:extLst>
          </p:cNvPr>
          <p:cNvGrpSpPr/>
          <p:nvPr/>
        </p:nvGrpSpPr>
        <p:grpSpPr>
          <a:xfrm>
            <a:off x="152400" y="2005805"/>
            <a:ext cx="3962400" cy="2185195"/>
            <a:chOff x="0" y="2848280"/>
            <a:chExt cx="3962400" cy="2185195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8211BA3-BFA0-34F1-660C-9841528DF48C}"/>
                </a:ext>
              </a:extLst>
            </p:cNvPr>
            <p:cNvGrpSpPr/>
            <p:nvPr/>
          </p:nvGrpSpPr>
          <p:grpSpPr>
            <a:xfrm>
              <a:off x="0" y="2848280"/>
              <a:ext cx="3962400" cy="2185195"/>
              <a:chOff x="3200400" y="1905000"/>
              <a:chExt cx="4285580" cy="2495550"/>
            </a:xfrm>
          </p:grpSpPr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02E60659-450F-3607-10D5-028698E957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786"/>
              <a:stretch>
                <a:fillRect/>
              </a:stretch>
            </p:blipFill>
            <p:spPr>
              <a:xfrm>
                <a:off x="3200400" y="1905000"/>
                <a:ext cx="4285580" cy="2495550"/>
              </a:xfrm>
              <a:prstGeom prst="rect">
                <a:avLst/>
              </a:prstGeom>
              <a:ln>
                <a:noFill/>
              </a:ln>
            </p:spPr>
          </p:pic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24DF1011-480D-1073-A115-33259E9CCEC8}"/>
                  </a:ext>
                </a:extLst>
              </p:cNvPr>
              <p:cNvGrpSpPr/>
              <p:nvPr/>
            </p:nvGrpSpPr>
            <p:grpSpPr>
              <a:xfrm>
                <a:off x="5360961" y="2756796"/>
                <a:ext cx="605825" cy="404771"/>
                <a:chOff x="4036115" y="3524221"/>
                <a:chExt cx="383485" cy="285779"/>
              </a:xfrm>
            </p:grpSpPr>
            <p:pic>
              <p:nvPicPr>
                <p:cNvPr id="21" name="图片 20">
                  <a:extLst>
                    <a:ext uri="{FF2B5EF4-FFF2-40B4-BE49-F238E27FC236}">
                      <a16:creationId xmlns:a16="http://schemas.microsoft.com/office/drawing/2014/main" id="{08675672-019D-A080-6A62-CC9782A4A9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36115" y="3524221"/>
                  <a:ext cx="383485" cy="209579"/>
                </a:xfrm>
                <a:prstGeom prst="rect">
                  <a:avLst/>
                </a:prstGeom>
              </p:spPr>
            </p:pic>
            <p:pic>
              <p:nvPicPr>
                <p:cNvPr id="22" name="图片 21">
                  <a:extLst>
                    <a:ext uri="{FF2B5EF4-FFF2-40B4-BE49-F238E27FC236}">
                      <a16:creationId xmlns:a16="http://schemas.microsoft.com/office/drawing/2014/main" id="{8EC200C9-78EC-81DD-9756-992F6D8177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6614" y="3600421"/>
                  <a:ext cx="282986" cy="209579"/>
                </a:xfrm>
                <a:prstGeom prst="rect">
                  <a:avLst/>
                </a:prstGeom>
              </p:spPr>
            </p:pic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A9DC530A-C2C5-2333-28C4-B7D2A4623471}"/>
                  </a:ext>
                </a:extLst>
              </p:cNvPr>
              <p:cNvGrpSpPr/>
              <p:nvPr/>
            </p:nvGrpSpPr>
            <p:grpSpPr>
              <a:xfrm>
                <a:off x="6544673" y="2844583"/>
                <a:ext cx="372382" cy="285779"/>
                <a:chOff x="4036115" y="3524221"/>
                <a:chExt cx="383485" cy="285779"/>
              </a:xfrm>
            </p:grpSpPr>
            <p:pic>
              <p:nvPicPr>
                <p:cNvPr id="19" name="图片 18">
                  <a:extLst>
                    <a:ext uri="{FF2B5EF4-FFF2-40B4-BE49-F238E27FC236}">
                      <a16:creationId xmlns:a16="http://schemas.microsoft.com/office/drawing/2014/main" id="{4F226695-2B28-B79B-CFB2-ED3C88E30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36115" y="3524221"/>
                  <a:ext cx="383485" cy="209579"/>
                </a:xfrm>
                <a:prstGeom prst="rect">
                  <a:avLst/>
                </a:prstGeom>
              </p:spPr>
            </p:pic>
            <p:pic>
              <p:nvPicPr>
                <p:cNvPr id="20" name="图片 19">
                  <a:extLst>
                    <a:ext uri="{FF2B5EF4-FFF2-40B4-BE49-F238E27FC236}">
                      <a16:creationId xmlns:a16="http://schemas.microsoft.com/office/drawing/2014/main" id="{A961E7BF-8C73-6B21-DB55-168D86F6A8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6614" y="3600421"/>
                  <a:ext cx="282986" cy="209579"/>
                </a:xfrm>
                <a:prstGeom prst="rect">
                  <a:avLst/>
                </a:prstGeom>
              </p:spPr>
            </p:pic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F9C540C6-2C51-6CB6-8860-4E32E3B948A9}"/>
                  </a:ext>
                </a:extLst>
              </p:cNvPr>
              <p:cNvGrpSpPr/>
              <p:nvPr/>
            </p:nvGrpSpPr>
            <p:grpSpPr>
              <a:xfrm>
                <a:off x="4241711" y="2844583"/>
                <a:ext cx="372382" cy="285779"/>
                <a:chOff x="4036115" y="3524221"/>
                <a:chExt cx="383485" cy="285779"/>
              </a:xfrm>
            </p:grpSpPr>
            <p:pic>
              <p:nvPicPr>
                <p:cNvPr id="17" name="图片 16">
                  <a:extLst>
                    <a:ext uri="{FF2B5EF4-FFF2-40B4-BE49-F238E27FC236}">
                      <a16:creationId xmlns:a16="http://schemas.microsoft.com/office/drawing/2014/main" id="{F1DD334B-4F8B-0A6F-A548-0BFAD51DDD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36115" y="3524221"/>
                  <a:ext cx="383485" cy="209579"/>
                </a:xfrm>
                <a:prstGeom prst="rect">
                  <a:avLst/>
                </a:prstGeom>
              </p:spPr>
            </p:pic>
            <p:pic>
              <p:nvPicPr>
                <p:cNvPr id="18" name="图片 17">
                  <a:extLst>
                    <a:ext uri="{FF2B5EF4-FFF2-40B4-BE49-F238E27FC236}">
                      <a16:creationId xmlns:a16="http://schemas.microsoft.com/office/drawing/2014/main" id="{2F513D7C-9DD6-91FD-C61B-7A1E85A9A9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6614" y="3600421"/>
                  <a:ext cx="282986" cy="209579"/>
                </a:xfrm>
                <a:prstGeom prst="rect">
                  <a:avLst/>
                </a:prstGeom>
              </p:spPr>
            </p:pic>
          </p:grpSp>
        </p:grp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376985EB-9376-82D7-0756-7DBA3BC7A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8505" y="2971800"/>
              <a:ext cx="438095" cy="285714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4F9F0856-B2B0-E92B-0DCB-892663E84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2924219"/>
              <a:ext cx="380952" cy="352381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1C5BD102-7DD3-0054-44BD-B3379A4A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921025"/>
              <a:ext cx="352381" cy="352381"/>
            </a:xfrm>
            <a:prstGeom prst="rect">
              <a:avLst/>
            </a:prstGeom>
          </p:spPr>
        </p:pic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DA7FF985-FCBE-4DFA-6E82-93EA6CC90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4200" y="3657600"/>
              <a:ext cx="234120" cy="239440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D249FADF-5F77-EC0D-3053-F0FA9648A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9898" y="3657600"/>
              <a:ext cx="262302" cy="267767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AF6DE5D9-8908-D933-19F4-6A6396472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2417" y="3666660"/>
              <a:ext cx="231094" cy="21954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CDAA0091-1189-ADF2-18B8-4983A318F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395" y="4624454"/>
              <a:ext cx="351569" cy="360358"/>
            </a:xfrm>
            <a:prstGeom prst="rect">
              <a:avLst/>
            </a:prstGeom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E03A7069-FA7C-2851-F8D2-A1A0E05B9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48" y="4648200"/>
              <a:ext cx="380952" cy="380952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F298EA27-06DA-3526-6E8B-7C56E77F2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7205" y="4624454"/>
              <a:ext cx="378376" cy="36035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0486B96-AFC5-E14F-936D-CBA68F88806D}"/>
                  </a:ext>
                </a:extLst>
              </p:cNvPr>
              <p:cNvSpPr txBox="1"/>
              <p:nvPr/>
            </p:nvSpPr>
            <p:spPr>
              <a:xfrm>
                <a:off x="2773729" y="1600200"/>
                <a:ext cx="9600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0486B96-AFC5-E14F-936D-CBA68F888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729" y="1600200"/>
                <a:ext cx="960071" cy="276999"/>
              </a:xfrm>
              <a:prstGeom prst="rect">
                <a:avLst/>
              </a:prstGeom>
              <a:blipFill>
                <a:blip r:embed="rId14"/>
                <a:stretch>
                  <a:fillRect l="-5063" t="-4444" r="-8228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箭头: 右 51">
            <a:extLst>
              <a:ext uri="{FF2B5EF4-FFF2-40B4-BE49-F238E27FC236}">
                <a16:creationId xmlns:a16="http://schemas.microsoft.com/office/drawing/2014/main" id="{6D249805-9AA0-A9FE-D58A-DCE70BA4DCC4}"/>
              </a:ext>
            </a:extLst>
          </p:cNvPr>
          <p:cNvSpPr/>
          <p:nvPr/>
        </p:nvSpPr>
        <p:spPr>
          <a:xfrm rot="16200000">
            <a:off x="3102105" y="1877050"/>
            <a:ext cx="216776" cy="272677"/>
          </a:xfrm>
          <a:prstGeom prst="rightArrow">
            <a:avLst/>
          </a:prstGeom>
          <a:solidFill>
            <a:srgbClr val="FF0000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EE0F0E54-A0CC-84F6-7BCB-9D90B83ED5CA}"/>
              </a:ext>
            </a:extLst>
          </p:cNvPr>
          <p:cNvGrpSpPr/>
          <p:nvPr/>
        </p:nvGrpSpPr>
        <p:grpSpPr>
          <a:xfrm>
            <a:off x="4343400" y="2063451"/>
            <a:ext cx="6318709" cy="1517949"/>
            <a:chOff x="4389822" y="2133600"/>
            <a:chExt cx="6318709" cy="15179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8A54030-3699-E57B-7745-555FF8A3FB18}"/>
                    </a:ext>
                  </a:extLst>
                </p:cNvPr>
                <p:cNvSpPr txBox="1"/>
                <p:nvPr/>
              </p:nvSpPr>
              <p:spPr>
                <a:xfrm>
                  <a:off x="4389822" y="2133600"/>
                  <a:ext cx="1306383" cy="4413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a14:m>
                  <a:r>
                    <a:rPr lang="en-US" altLang="zh-CN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8A54030-3699-E57B-7745-555FF8A3F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9822" y="2133600"/>
                  <a:ext cx="1306383" cy="441339"/>
                </a:xfrm>
                <a:prstGeom prst="rect">
                  <a:avLst/>
                </a:prstGeom>
                <a:blipFill>
                  <a:blip r:embed="rId15"/>
                  <a:stretch>
                    <a:fillRect l="-4673" t="-1370" b="-109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F3B10A0F-269D-7F27-2B5E-62C408F1AE72}"/>
                    </a:ext>
                  </a:extLst>
                </p:cNvPr>
                <p:cNvSpPr txBox="1"/>
                <p:nvPr/>
              </p:nvSpPr>
              <p:spPr>
                <a:xfrm>
                  <a:off x="4389822" y="3200400"/>
                  <a:ext cx="6303329" cy="4511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a14:m>
                  <a:r>
                    <a:rPr lang="en-US" altLang="zh-CN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zh-CN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a14:m>
                  <a:r>
                    <a:rPr lang="en-US" altLang="zh-CN" dirty="0"/>
                    <a:t>  +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a14:m>
                  <a:r>
                    <a:rPr lang="en-US" altLang="zh-CN" dirty="0"/>
                    <a:t>  +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F3B10A0F-269D-7F27-2B5E-62C408F1A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9822" y="3200400"/>
                  <a:ext cx="6303329" cy="451149"/>
                </a:xfrm>
                <a:prstGeom prst="rect">
                  <a:avLst/>
                </a:prstGeom>
                <a:blipFill>
                  <a:blip r:embed="rId16"/>
                  <a:stretch>
                    <a:fillRect l="-967" t="-1333"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CDAA87A-B033-6AF4-19D6-0269E73E7405}"/>
                    </a:ext>
                  </a:extLst>
                </p:cNvPr>
                <p:cNvSpPr txBox="1"/>
                <p:nvPr/>
              </p:nvSpPr>
              <p:spPr>
                <a:xfrm>
                  <a:off x="4405202" y="2667000"/>
                  <a:ext cx="6303329" cy="4511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a14:m>
                  <a:r>
                    <a:rPr lang="en-US" altLang="zh-CN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zh-CN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a14:m>
                  <a:r>
                    <a:rPr lang="en-US" altLang="zh-CN" dirty="0"/>
                    <a:t>  +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a14:m>
                  <a:r>
                    <a:rPr lang="en-US" altLang="zh-CN" dirty="0"/>
                    <a:t>  +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CDAA87A-B033-6AF4-19D6-0269E73E74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5202" y="2667000"/>
                  <a:ext cx="6303329" cy="451149"/>
                </a:xfrm>
                <a:prstGeom prst="rect">
                  <a:avLst/>
                </a:prstGeom>
                <a:blipFill>
                  <a:blip r:embed="rId17"/>
                  <a:stretch>
                    <a:fillRect l="-967" t="-1351" b="-81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D7949E9C-12B9-25E7-6B1C-FC9CAEFA5F8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40" y="4275428"/>
            <a:ext cx="4012984" cy="1820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6CE90EF-34A0-3DFF-7F91-A4CAD0AC09C2}"/>
                  </a:ext>
                </a:extLst>
              </p:cNvPr>
              <p:cNvSpPr txBox="1"/>
              <p:nvPr/>
            </p:nvSpPr>
            <p:spPr>
              <a:xfrm>
                <a:off x="4381640" y="4191000"/>
                <a:ext cx="3462743" cy="509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num>
                      <m:den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nary>
                          </m:e>
                        </m:d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6CE90EF-34A0-3DFF-7F91-A4CAD0AC0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40" y="4191000"/>
                <a:ext cx="3462743" cy="509370"/>
              </a:xfrm>
              <a:prstGeom prst="rect">
                <a:avLst/>
              </a:prstGeom>
              <a:blipFill>
                <a:blip r:embed="rId19"/>
                <a:stretch>
                  <a:fillRect l="-176" b="-3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本框 55">
            <a:extLst>
              <a:ext uri="{FF2B5EF4-FFF2-40B4-BE49-F238E27FC236}">
                <a16:creationId xmlns:a16="http://schemas.microsoft.com/office/drawing/2014/main" id="{F68FCD97-590C-6974-6F58-2D30252916B7}"/>
              </a:ext>
            </a:extLst>
          </p:cNvPr>
          <p:cNvSpPr txBox="1"/>
          <p:nvPr/>
        </p:nvSpPr>
        <p:spPr>
          <a:xfrm>
            <a:off x="4267200" y="373380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以</a:t>
            </a:r>
            <a:r>
              <a:rPr lang="en-US" altLang="zh-CN" dirty="0">
                <a:latin typeface="+mn-ea"/>
              </a:rPr>
              <a:t>U</a:t>
            </a:r>
            <a:r>
              <a:rPr lang="zh-CN" altLang="en-US" dirty="0">
                <a:latin typeface="+mn-ea"/>
              </a:rPr>
              <a:t>为例，则对任意时间步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：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37038D3-389A-77A5-BACF-A10F734C9049}"/>
              </a:ext>
            </a:extLst>
          </p:cNvPr>
          <p:cNvSpPr txBox="1"/>
          <p:nvPr/>
        </p:nvSpPr>
        <p:spPr>
          <a:xfrm>
            <a:off x="4268598" y="1503672"/>
            <a:ext cx="6094602" cy="40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设</a:t>
            </a:r>
            <a:r>
              <a:rPr lang="en-US" altLang="zh-CN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L</a:t>
            </a:r>
            <a:r>
              <a:rPr lang="zh-CN" altLang="en-US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为损失函数，时间步为</a:t>
            </a:r>
            <a:r>
              <a:rPr lang="en-US" altLang="zh-CN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个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，各参数矩阵的偏导数如下</a:t>
            </a:r>
            <a:r>
              <a:rPr lang="en-US" altLang="zh-CN" dirty="0">
                <a:latin typeface="+mn-ea"/>
                <a:cs typeface="宋体" panose="02010600030101010101" pitchFamily="2" charset="-122"/>
              </a:rPr>
              <a:t>:</a:t>
            </a:r>
            <a:endParaRPr lang="zh-CN" altLang="en-US" dirty="0">
              <a:solidFill>
                <a:schemeClr val="tx1"/>
              </a:solidFill>
              <a:uFillTx/>
              <a:latin typeface="+mn-ea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44D1FFC4-87F2-643A-C34E-B46A6508D521}"/>
                  </a:ext>
                </a:extLst>
              </p:cNvPr>
              <p:cNvSpPr txBox="1"/>
              <p:nvPr/>
            </p:nvSpPr>
            <p:spPr>
              <a:xfrm>
                <a:off x="8055271" y="4334487"/>
                <a:ext cx="3666453" cy="319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dirty="0"/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44D1FFC4-87F2-643A-C34E-B46A6508D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271" y="4334487"/>
                <a:ext cx="3666453" cy="319062"/>
              </a:xfrm>
              <a:prstGeom prst="rect">
                <a:avLst/>
              </a:prstGeom>
              <a:blipFill>
                <a:blip r:embed="rId20"/>
                <a:stretch>
                  <a:fillRect l="-3821" t="-25000" b="-32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B96F501-3FBF-61A6-EB9C-B15701BE1F67}"/>
                  </a:ext>
                </a:extLst>
              </p:cNvPr>
              <p:cNvSpPr txBox="1"/>
              <p:nvPr/>
            </p:nvSpPr>
            <p:spPr>
              <a:xfrm>
                <a:off x="4329123" y="4867565"/>
                <a:ext cx="3803221" cy="441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num>
                      <m:den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𝑡𝑎𝑛h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nary>
                          </m:e>
                        </m:d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B96F501-3FBF-61A6-EB9C-B15701BE1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123" y="4867565"/>
                <a:ext cx="3803221" cy="441468"/>
              </a:xfrm>
              <a:prstGeom prst="rect">
                <a:avLst/>
              </a:prstGeom>
              <a:blipFill>
                <a:blip r:embed="rId21"/>
                <a:stretch>
                  <a:fillRect l="-321" t="-93151" r="-321" b="-143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0950A861-2F2B-FBD4-9D36-6AEC5971C355}"/>
                  </a:ext>
                </a:extLst>
              </p:cNvPr>
              <p:cNvSpPr txBox="1"/>
              <p:nvPr/>
            </p:nvSpPr>
            <p:spPr>
              <a:xfrm>
                <a:off x="4267200" y="5476228"/>
                <a:ext cx="7183954" cy="665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，特别是接近</a:t>
                </a:r>
                <a:r>
                  <a:rPr lang="en-US" altLang="zh-CN" sz="1600" dirty="0">
                    <a:latin typeface="+mn-ea"/>
                  </a:rPr>
                  <a:t>0</a:t>
                </a:r>
                <a:r>
                  <a:rPr lang="zh-CN" altLang="en-US" sz="1600" dirty="0">
                    <a:latin typeface="+mn-ea"/>
                  </a:rPr>
                  <a:t>时，在</a:t>
                </a:r>
                <a:r>
                  <a:rPr lang="en-US" altLang="zh-CN" sz="1600" dirty="0">
                    <a:latin typeface="+mn-ea"/>
                  </a:rPr>
                  <a:t>t</a:t>
                </a:r>
                <a:r>
                  <a:rPr lang="zh-CN" altLang="en-US" sz="1600" dirty="0">
                    <a:latin typeface="+mn-ea"/>
                  </a:rPr>
                  <a:t>很大时，</a:t>
                </a:r>
                <a:r>
                  <a:rPr lang="en-US" altLang="zh-CN" sz="16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𝑡𝑎𝑛h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nary>
                  </m:oMath>
                </a14:m>
                <a:r>
                  <a:rPr lang="zh-CN" altLang="en-US" sz="1600" dirty="0">
                    <a:latin typeface="+mn-ea"/>
                  </a:rPr>
                  <a:t>会趋近于</a:t>
                </a:r>
                <a:r>
                  <a:rPr lang="en-US" altLang="zh-CN" sz="1600" dirty="0">
                    <a:latin typeface="+mn-ea"/>
                  </a:rPr>
                  <a:t>0</a:t>
                </a:r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  <a:p>
                <a:r>
                  <a:rPr lang="zh-CN" altLang="en-US" sz="1600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，特别是远大于</a:t>
                </a:r>
                <a:r>
                  <a:rPr lang="en-US" altLang="zh-CN" sz="1600" dirty="0">
                    <a:latin typeface="+mn-ea"/>
                  </a:rPr>
                  <a:t>1</a:t>
                </a:r>
                <a:r>
                  <a:rPr lang="zh-CN" altLang="en-US" sz="1600" dirty="0">
                    <a:latin typeface="+mn-ea"/>
                  </a:rPr>
                  <a:t>时，在</a:t>
                </a:r>
                <a:r>
                  <a:rPr lang="en-US" altLang="zh-CN" sz="1600" dirty="0">
                    <a:latin typeface="+mn-ea"/>
                  </a:rPr>
                  <a:t>t</a:t>
                </a:r>
                <a:r>
                  <a:rPr lang="zh-CN" altLang="en-US" sz="1600" dirty="0">
                    <a:latin typeface="+mn-ea"/>
                  </a:rPr>
                  <a:t>很大时，</a:t>
                </a:r>
                <a:r>
                  <a:rPr lang="en-US" altLang="zh-CN" sz="16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𝑡𝑎𝑛h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nary>
                  </m:oMath>
                </a14:m>
                <a:r>
                  <a:rPr lang="zh-CN" altLang="en-US" sz="1600" dirty="0">
                    <a:latin typeface="+mn-ea"/>
                  </a:rPr>
                  <a:t>会趋近于∞。</a:t>
                </a:r>
                <a:endParaRPr lang="en-US" altLang="zh-CN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0950A861-2F2B-FBD4-9D36-6AEC5971C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5476228"/>
                <a:ext cx="7183954" cy="665310"/>
              </a:xfrm>
              <a:prstGeom prst="rect">
                <a:avLst/>
              </a:prstGeom>
              <a:blipFill>
                <a:blip r:embed="rId22"/>
                <a:stretch>
                  <a:fillRect l="-424" t="-53211" b="-82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411FE0F4-339F-8425-DA27-101B5CC01D6D}"/>
              </a:ext>
            </a:extLst>
          </p:cNvPr>
          <p:cNvSpPr txBox="1"/>
          <p:nvPr/>
        </p:nvSpPr>
        <p:spPr>
          <a:xfrm>
            <a:off x="10789829" y="53874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梯度消失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6913693-F81B-8B8D-E147-93D646E29E63}"/>
              </a:ext>
            </a:extLst>
          </p:cNvPr>
          <p:cNvSpPr txBox="1"/>
          <p:nvPr/>
        </p:nvSpPr>
        <p:spPr>
          <a:xfrm>
            <a:off x="11027638" y="57663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梯度爆炸</a:t>
            </a:r>
          </a:p>
        </p:txBody>
      </p:sp>
    </p:spTree>
    <p:extLst>
      <p:ext uri="{BB962C8B-B14F-4D97-AF65-F5344CB8AC3E}">
        <p14:creationId xmlns:p14="http://schemas.microsoft.com/office/powerpoint/2010/main" val="49894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60CC-C78D-4CAD-4470-72934A17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DA3B2F-3421-573E-6A04-F1CA19AD132E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.1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循环神经网络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6037E7-1726-9D9D-AF3C-D7A0D548B2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15</a:t>
            </a:fld>
            <a:endParaRPr lang="en-US" altLang="zh-CN" spc="-5" dirty="0"/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3D30BB78-81EA-E4DB-1B43-1B5270393F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9" t="4126" r="12408" b="7153"/>
          <a:stretch>
            <a:fillRect/>
          </a:stretch>
        </p:blipFill>
        <p:spPr>
          <a:xfrm>
            <a:off x="3657600" y="1447800"/>
            <a:ext cx="4793965" cy="437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3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76AC-6115-D74A-FFD1-2A6376EC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B60E771-6451-F038-E625-6365CB01D7F0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.1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循环神经网络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3836D7-2728-6C7E-1BC0-C20E660EE4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16</a:t>
            </a:fld>
            <a:endParaRPr lang="en-US" altLang="zh-CN" spc="-5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AD3E75-293E-DCF8-1814-B72DE1F99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12" y="1556619"/>
            <a:ext cx="10358956" cy="4038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3E71FBE-F78D-846D-C3B6-67ADF6B60405}"/>
              </a:ext>
            </a:extLst>
          </p:cNvPr>
          <p:cNvSpPr txBox="1"/>
          <p:nvPr/>
        </p:nvSpPr>
        <p:spPr>
          <a:xfrm>
            <a:off x="1095512" y="1009783"/>
            <a:ext cx="6094602" cy="41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RNN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实现：</a:t>
            </a:r>
            <a:endParaRPr lang="en-US" altLang="zh-CN" sz="1800" dirty="0">
              <a:solidFill>
                <a:srgbClr val="191B1F"/>
              </a:solidFill>
              <a:latin typeface="-apple-system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01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3A60D-5CE9-F195-3071-09548CD5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EC3BFD8B-4CAA-8C98-70B2-BE559768D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3211098"/>
            <a:ext cx="5121550" cy="20013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F9A109-545D-D0F8-F18A-5A9B9B889F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93" y="3211097"/>
            <a:ext cx="5473207" cy="204670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FFD15E9-B7DF-F5BC-84F2-666A7B1B04B3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长短期记忆网络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C8CFC3-66DB-ED8D-385B-6AD62291A500}"/>
              </a:ext>
            </a:extLst>
          </p:cNvPr>
          <p:cNvSpPr txBox="1"/>
          <p:nvPr/>
        </p:nvSpPr>
        <p:spPr>
          <a:xfrm>
            <a:off x="685800" y="1048385"/>
            <a:ext cx="10825512" cy="1881734"/>
          </a:xfrm>
          <a:prstGeom prst="rect">
            <a:avLst/>
          </a:prstGeom>
          <a:ln w="12700">
            <a:solidFill>
              <a:srgbClr val="067D7F"/>
            </a:solidFill>
            <a:prstDash val="sysDash"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长短期记忆网络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latin typeface="-apple-system"/>
              </a:rPr>
              <a:t>（</a:t>
            </a:r>
            <a:r>
              <a:rPr lang="en-US" altLang="zh-CN" sz="2000" b="1" dirty="0">
                <a:solidFill>
                  <a:srgbClr val="191B1F"/>
                </a:solidFill>
                <a:latin typeface="-apple-system"/>
              </a:rPr>
              <a:t>Long Short Term Memory</a:t>
            </a:r>
            <a:r>
              <a:rPr lang="en-US" altLang="zh-CN" sz="2000" b="1" i="0" dirty="0">
                <a:solidFill>
                  <a:srgbClr val="191B1F"/>
                </a:solidFill>
                <a:effectLst/>
                <a:latin typeface="-apple-system"/>
              </a:rPr>
              <a:t>, LSTM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en-US" altLang="zh-CN" dirty="0">
                <a:latin typeface="+mn-ea"/>
                <a:cs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、加入</a:t>
            </a:r>
            <a:r>
              <a:rPr lang="zh-CN" altLang="en-US" b="1" dirty="0">
                <a:latin typeface="+mn-ea"/>
                <a:cs typeface="宋体" panose="02010600030101010101" pitchFamily="2" charset="-122"/>
              </a:rPr>
              <a:t>记忆状态 </a:t>
            </a:r>
            <a:r>
              <a:rPr lang="en-US" altLang="zh-CN" b="1" dirty="0">
                <a:latin typeface="+mn-ea"/>
                <a:cs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细胞状态</a:t>
            </a:r>
            <a:r>
              <a:rPr lang="en-US" altLang="zh-CN" b="1" dirty="0">
                <a:latin typeface="+mn-ea"/>
                <a:cs typeface="宋体" panose="02010600030101010101" pitchFamily="2" charset="-122"/>
              </a:rPr>
              <a:t>)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记忆内容在每个时间步仅做简单的线性运算，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以保存和传输需要的</a:t>
            </a:r>
            <a:r>
              <a:rPr lang="zh-CN" altLang="en-US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长期信息</a:t>
            </a:r>
            <a:r>
              <a:rPr lang="zh-CN" altLang="en-US" dirty="0">
                <a:solidFill>
                  <a:srgbClr val="333333"/>
                </a:solidFill>
                <a:uFillTx/>
                <a:latin typeface="+mn-ea"/>
                <a:cs typeface="宋体" panose="02010600030101010101" pitchFamily="2" charset="-122"/>
              </a:rPr>
              <a:t>；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记忆状态有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</a:rPr>
              <a:t>更直接的梯度传播路径 </a:t>
            </a:r>
            <a:r>
              <a:rPr lang="en-US" altLang="zh-CN" b="1" dirty="0">
                <a:solidFill>
                  <a:srgbClr val="333333"/>
                </a:solidFill>
                <a:latin typeface="+mn-ea"/>
              </a:rPr>
              <a:t>(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</a:rPr>
              <a:t>类似残差连接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+mn-ea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</a:rPr>
              <a:t>，缓解了长期依赖的梯度消失问题</a:t>
            </a:r>
            <a:r>
              <a:rPr lang="zh-CN" altLang="en-US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。</a:t>
            </a:r>
            <a:endParaRPr lang="en-US" altLang="zh-CN" dirty="0">
              <a:solidFill>
                <a:schemeClr val="tx1"/>
              </a:solidFill>
              <a:uFillTx/>
              <a:latin typeface="+mn-ea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+mn-ea"/>
                <a:cs typeface="宋体" panose="02010600030101010101" pitchFamily="2" charset="-122"/>
              </a:rPr>
              <a:t>2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、加入</a:t>
            </a:r>
            <a:r>
              <a:rPr lang="zh-CN" altLang="en-US" b="1" dirty="0">
                <a:latin typeface="+mn-ea"/>
                <a:cs typeface="宋体" panose="02010600030101010101" pitchFamily="2" charset="-122"/>
              </a:rPr>
              <a:t>门控机制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，在每个时间步，通过</a:t>
            </a:r>
            <a:r>
              <a:rPr lang="zh-CN" altLang="en-US" b="1" dirty="0">
                <a:latin typeface="+mn-ea"/>
                <a:cs typeface="宋体" panose="02010600030101010101" pitchFamily="2" charset="-122"/>
              </a:rPr>
              <a:t>遗忘门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对旧信息进行选择性遗忘，通过</a:t>
            </a:r>
            <a:r>
              <a:rPr lang="zh-CN" altLang="en-US" b="1" dirty="0">
                <a:latin typeface="+mn-ea"/>
                <a:cs typeface="宋体" panose="02010600030101010101" pitchFamily="2" charset="-122"/>
              </a:rPr>
              <a:t>输入门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和</a:t>
            </a:r>
            <a:r>
              <a:rPr lang="zh-CN" altLang="en-US" b="1" dirty="0">
                <a:latin typeface="+mn-ea"/>
                <a:cs typeface="宋体" panose="02010600030101010101" pitchFamily="2" charset="-122"/>
              </a:rPr>
              <a:t>输出门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对新输入信和输出信息进行选择性过滤。</a:t>
            </a:r>
            <a:endParaRPr lang="en-US" altLang="zh-CN" dirty="0">
              <a:latin typeface="+mn-ea"/>
              <a:cs typeface="宋体" panose="0201060003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299182-F203-1DB4-6488-CDEE6D838A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17</a:t>
            </a:fld>
            <a:endParaRPr lang="en-US" altLang="zh-CN" spc="-5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1B9774-5FA4-FFDB-0C27-A052E885C3FB}"/>
              </a:ext>
            </a:extLst>
          </p:cNvPr>
          <p:cNvSpPr txBox="1"/>
          <p:nvPr/>
        </p:nvSpPr>
        <p:spPr>
          <a:xfrm>
            <a:off x="6526117" y="322307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LSTM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8B4494-BD66-3BF7-BBA6-45A5908022FC}"/>
              </a:ext>
            </a:extLst>
          </p:cNvPr>
          <p:cNvSpPr txBox="1"/>
          <p:nvPr/>
        </p:nvSpPr>
        <p:spPr>
          <a:xfrm>
            <a:off x="658165" y="322307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RNN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D86E38A-4CB5-CEF0-75B7-93AA809DEBFF}"/>
              </a:ext>
            </a:extLst>
          </p:cNvPr>
          <p:cNvSpPr/>
          <p:nvPr/>
        </p:nvSpPr>
        <p:spPr>
          <a:xfrm>
            <a:off x="5943600" y="4142031"/>
            <a:ext cx="30480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3504762-AC55-171E-91B2-CF272E2EBABB}"/>
              </a:ext>
            </a:extLst>
          </p:cNvPr>
          <p:cNvSpPr/>
          <p:nvPr/>
        </p:nvSpPr>
        <p:spPr>
          <a:xfrm>
            <a:off x="2286000" y="3289066"/>
            <a:ext cx="1676400" cy="197134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6A2702E-6B33-54FE-A6F1-E07DF4B7080B}"/>
              </a:ext>
            </a:extLst>
          </p:cNvPr>
          <p:cNvSpPr/>
          <p:nvPr/>
        </p:nvSpPr>
        <p:spPr>
          <a:xfrm>
            <a:off x="8153400" y="3289066"/>
            <a:ext cx="1676400" cy="189253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E5B0274-8F8A-B107-8CF4-D31E058EF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285" y="5474703"/>
            <a:ext cx="2489829" cy="3811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07AE946-B262-57DA-49CB-3D381F217B0F}"/>
                  </a:ext>
                </a:extLst>
              </p:cNvPr>
              <p:cNvSpPr txBox="1"/>
              <p:nvPr/>
            </p:nvSpPr>
            <p:spPr>
              <a:xfrm>
                <a:off x="9067799" y="3657600"/>
                <a:ext cx="3048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07AE946-B262-57DA-49CB-3D381F217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799" y="3657600"/>
                <a:ext cx="304801" cy="369332"/>
              </a:xfrm>
              <a:prstGeom prst="rect">
                <a:avLst/>
              </a:prstGeom>
              <a:blipFill>
                <a:blip r:embed="rId6"/>
                <a:stretch>
                  <a:fillRect r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AD4BCB6E-4C26-543A-5D4B-ABE465A875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029" y="5218651"/>
            <a:ext cx="2305215" cy="4185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7B006A4-3414-05F7-F771-A0B139E1AF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49"/>
          <a:stretch>
            <a:fillRect/>
          </a:stretch>
        </p:blipFill>
        <p:spPr>
          <a:xfrm>
            <a:off x="6500584" y="5567071"/>
            <a:ext cx="2502201" cy="3491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AF837A7-9CB5-621A-B1E5-7C3342E497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044" y="5553692"/>
            <a:ext cx="1882729" cy="34911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61C3E0D-BA0A-B448-38D1-16A4A96AF2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03"/>
          <a:stretch>
            <a:fillRect/>
          </a:stretch>
        </p:blipFill>
        <p:spPr>
          <a:xfrm>
            <a:off x="6526117" y="5860532"/>
            <a:ext cx="2361513" cy="3967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BC6E92A-9A3F-44C1-1858-37A08D7F6F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49"/>
          <a:stretch>
            <a:fillRect/>
          </a:stretch>
        </p:blipFill>
        <p:spPr>
          <a:xfrm>
            <a:off x="9168164" y="5223099"/>
            <a:ext cx="2502201" cy="34911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FBCEB3-4458-7427-E25C-8ADC38BE25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26"/>
          <a:stretch>
            <a:fillRect/>
          </a:stretch>
        </p:blipFill>
        <p:spPr>
          <a:xfrm>
            <a:off x="9184546" y="5884285"/>
            <a:ext cx="2361513" cy="34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8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C205-7F03-EC0C-C7AD-41E589A5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BB28FB4-6126-3B34-4C31-702027583488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长短期记忆网络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8A5D9F-749B-F2B9-F2BD-5F7B38813896}"/>
              </a:ext>
            </a:extLst>
          </p:cNvPr>
          <p:cNvSpPr txBox="1"/>
          <p:nvPr/>
        </p:nvSpPr>
        <p:spPr>
          <a:xfrm>
            <a:off x="762000" y="1048385"/>
            <a:ext cx="10591800" cy="1481624"/>
          </a:xfrm>
          <a:prstGeom prst="rect">
            <a:avLst/>
          </a:prstGeom>
          <a:ln w="12700">
            <a:solidFill>
              <a:srgbClr val="067D7F"/>
            </a:solidFill>
            <a:prstDash val="sysDash"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b="1" dirty="0">
                <a:latin typeface="+mn-ea"/>
              </a:rPr>
              <a:t>门控机制（</a:t>
            </a:r>
            <a:r>
              <a:rPr lang="en-US" altLang="zh-CN" b="1" dirty="0">
                <a:latin typeface="+mn-ea"/>
              </a:rPr>
              <a:t>Gating Mechanism</a:t>
            </a:r>
            <a:r>
              <a:rPr lang="zh-CN" altLang="en-US" b="1" dirty="0">
                <a:latin typeface="+mn-ea"/>
              </a:rPr>
              <a:t>） </a:t>
            </a:r>
            <a:r>
              <a:rPr lang="zh-CN" altLang="en-US" dirty="0">
                <a:latin typeface="+mn-ea"/>
              </a:rPr>
              <a:t>是一种动态控制信息流的技术，通过“门”动态控制信息的保留和遗忘，从而提升模型的表达能力和计算效率。通常由</a:t>
            </a:r>
            <a:r>
              <a:rPr lang="zh-CN" altLang="en-US" b="0" i="0" dirty="0">
                <a:effectLst/>
                <a:latin typeface="+mn-ea"/>
              </a:rPr>
              <a:t>一个</a:t>
            </a:r>
            <a:r>
              <a:rPr lang="zh-CN" altLang="en-US" b="1" dirty="0">
                <a:latin typeface="+mn-ea"/>
              </a:rPr>
              <a:t>带</a:t>
            </a:r>
            <a:r>
              <a:rPr lang="en-US" altLang="zh-CN" b="1" dirty="0">
                <a:latin typeface="+mn-ea"/>
              </a:rPr>
              <a:t>sigmoid</a:t>
            </a:r>
            <a:r>
              <a:rPr lang="zh-CN" altLang="en-US" b="1" dirty="0">
                <a:latin typeface="+mn-ea"/>
              </a:rPr>
              <a:t>激活函数的</a:t>
            </a:r>
            <a:r>
              <a:rPr lang="zh-CN" altLang="en-US" b="1" i="0" dirty="0">
                <a:effectLst/>
                <a:latin typeface="+mn-ea"/>
              </a:rPr>
              <a:t>神经网络层</a:t>
            </a:r>
            <a:r>
              <a:rPr lang="zh-CN" altLang="en-US" b="0" i="0" dirty="0">
                <a:effectLst/>
                <a:latin typeface="+mn-ea"/>
              </a:rPr>
              <a:t>和一个</a:t>
            </a:r>
            <a:r>
              <a:rPr lang="en-US" altLang="zh-CN" b="1" i="0" dirty="0">
                <a:effectLst/>
                <a:latin typeface="+mn-ea"/>
              </a:rPr>
              <a:t>pointwise</a:t>
            </a:r>
            <a:r>
              <a:rPr lang="zh-CN" altLang="en-US" b="1" i="0" dirty="0">
                <a:effectLst/>
                <a:latin typeface="+mn-ea"/>
              </a:rPr>
              <a:t>乘法</a:t>
            </a:r>
            <a:r>
              <a:rPr lang="zh-CN" altLang="en-US" b="0" i="0" dirty="0">
                <a:effectLst/>
                <a:latin typeface="+mn-ea"/>
              </a:rPr>
              <a:t>操作组成</a:t>
            </a:r>
            <a:r>
              <a:rPr lang="zh-CN" altLang="en-US" dirty="0">
                <a:latin typeface="+mn-ea"/>
              </a:rPr>
              <a:t>。</a:t>
            </a:r>
            <a:r>
              <a:rPr lang="en-US" altLang="zh-CN" b="0" i="0" dirty="0">
                <a:effectLst/>
                <a:latin typeface="+mn-ea"/>
              </a:rPr>
              <a:t>Sigmoid</a:t>
            </a:r>
            <a:r>
              <a:rPr lang="zh-CN" altLang="en-US" b="0" i="0" dirty="0">
                <a:effectLst/>
                <a:latin typeface="+mn-ea"/>
              </a:rPr>
              <a:t>输出 </a:t>
            </a:r>
            <a:r>
              <a:rPr lang="en-US" altLang="zh-CN" b="0" i="0" dirty="0">
                <a:effectLst/>
                <a:latin typeface="+mn-ea"/>
              </a:rPr>
              <a:t>0 </a:t>
            </a:r>
            <a:r>
              <a:rPr lang="zh-CN" altLang="en-US" b="0" i="0" dirty="0">
                <a:effectLst/>
                <a:latin typeface="+mn-ea"/>
              </a:rPr>
              <a:t>到 </a:t>
            </a:r>
            <a:r>
              <a:rPr lang="en-US" altLang="zh-CN" b="0" i="0" dirty="0">
                <a:effectLst/>
                <a:latin typeface="+mn-ea"/>
              </a:rPr>
              <a:t>1 </a:t>
            </a:r>
            <a:r>
              <a:rPr lang="zh-CN" altLang="en-US" b="0" i="0" dirty="0">
                <a:effectLst/>
                <a:latin typeface="+mn-ea"/>
              </a:rPr>
              <a:t>之间的数值，决定了经过门控的向量中每个元素有多少比例可以保留。门控机制应用于</a:t>
            </a:r>
            <a:r>
              <a:rPr lang="en-US" altLang="zh-CN" b="0" i="0" dirty="0">
                <a:effectLst/>
                <a:latin typeface="+mn-ea"/>
              </a:rPr>
              <a:t>LSTM</a:t>
            </a:r>
            <a:r>
              <a:rPr lang="zh-CN" altLang="en-US" b="0" i="0" dirty="0">
                <a:effectLst/>
                <a:latin typeface="+mn-ea"/>
              </a:rPr>
              <a:t>、</a:t>
            </a:r>
            <a:r>
              <a:rPr lang="en-US" altLang="zh-CN" b="0" i="0" dirty="0">
                <a:effectLst/>
                <a:latin typeface="+mn-ea"/>
              </a:rPr>
              <a:t>GRU</a:t>
            </a:r>
            <a:r>
              <a:rPr lang="zh-CN" altLang="en-US" b="0" i="0" dirty="0">
                <a:effectLst/>
                <a:latin typeface="+mn-ea"/>
              </a:rPr>
              <a:t>、</a:t>
            </a:r>
            <a:r>
              <a:rPr lang="en-US" altLang="zh-CN" b="0" i="0" dirty="0">
                <a:effectLst/>
                <a:latin typeface="+mn-ea"/>
              </a:rPr>
              <a:t>LHUC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b="0" i="0" dirty="0">
                <a:effectLst/>
                <a:latin typeface="+mn-ea"/>
              </a:rPr>
              <a:t>MOE</a:t>
            </a:r>
            <a:r>
              <a:rPr lang="zh-CN" altLang="en-US" b="0" i="0" dirty="0">
                <a:effectLst/>
                <a:latin typeface="+mn-ea"/>
              </a:rPr>
              <a:t>等模型结构中。</a:t>
            </a:r>
            <a:endParaRPr lang="zh-CN" altLang="en-US" dirty="0">
              <a:uFillTx/>
              <a:latin typeface="+mn-ea"/>
              <a:cs typeface="宋体" panose="0201060003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0D04F8-2220-E999-EC4A-E9E8A213DB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18</a:t>
            </a:fld>
            <a:endParaRPr lang="en-US" altLang="zh-CN" spc="-5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0BBE27-A5B5-C090-3154-585EEBD248DE}"/>
              </a:ext>
            </a:extLst>
          </p:cNvPr>
          <p:cNvSpPr txBox="1"/>
          <p:nvPr/>
        </p:nvSpPr>
        <p:spPr>
          <a:xfrm>
            <a:off x="1557805" y="584144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门控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5C16F7B-9DE1-7EA9-0AA8-A391DF002E45}"/>
              </a:ext>
            </a:extLst>
          </p:cNvPr>
          <p:cNvGrpSpPr/>
          <p:nvPr/>
        </p:nvGrpSpPr>
        <p:grpSpPr>
          <a:xfrm>
            <a:off x="869726" y="2986521"/>
            <a:ext cx="1885950" cy="2786508"/>
            <a:chOff x="961352" y="2286000"/>
            <a:chExt cx="1885950" cy="2786508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CB50D17-CC4C-536B-A613-4C52FD830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352" y="2767458"/>
              <a:ext cx="1885950" cy="230505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E4CD20C-9F4A-E622-2188-677500A2A819}"/>
                </a:ext>
              </a:extLst>
            </p:cNvPr>
            <p:cNvSpPr txBox="1"/>
            <p:nvPr/>
          </p:nvSpPr>
          <p:spPr>
            <a:xfrm>
              <a:off x="1219200" y="2286000"/>
              <a:ext cx="15757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0" i="0" dirty="0">
                  <a:solidFill>
                    <a:srgbClr val="4D4D4D"/>
                  </a:solidFill>
                  <a:effectLst/>
                  <a:latin typeface="-apple-system"/>
                </a:rPr>
                <a:t>Pointwise</a:t>
              </a:r>
              <a:r>
                <a:rPr lang="zh-CN" altLang="en-US" sz="1800" b="0" i="0" dirty="0">
                  <a:solidFill>
                    <a:srgbClr val="4D4D4D"/>
                  </a:solidFill>
                  <a:effectLst/>
                  <a:latin typeface="-apple-system"/>
                </a:rPr>
                <a:t>乘法</a:t>
              </a:r>
              <a:endParaRPr lang="zh-CN" altLang="en-US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D79FCF6-AA0A-8FE4-34B5-481012060303}"/>
              </a:ext>
            </a:extLst>
          </p:cNvPr>
          <p:cNvGrpSpPr/>
          <p:nvPr/>
        </p:nvGrpSpPr>
        <p:grpSpPr>
          <a:xfrm>
            <a:off x="6922610" y="2936635"/>
            <a:ext cx="3712475" cy="1254365"/>
            <a:chOff x="5735529" y="2971799"/>
            <a:chExt cx="3614666" cy="1254365"/>
          </a:xfrm>
        </p:grpSpPr>
        <p:sp>
          <p:nvSpPr>
            <p:cNvPr id="18" name="双括号 17">
              <a:extLst>
                <a:ext uri="{FF2B5EF4-FFF2-40B4-BE49-F238E27FC236}">
                  <a16:creationId xmlns:a16="http://schemas.microsoft.com/office/drawing/2014/main" id="{18F71B2F-0E77-177D-46D4-D7BA295E8261}"/>
                </a:ext>
              </a:extLst>
            </p:cNvPr>
            <p:cNvSpPr/>
            <p:nvPr/>
          </p:nvSpPr>
          <p:spPr>
            <a:xfrm>
              <a:off x="5735529" y="2971801"/>
              <a:ext cx="1427271" cy="1225947"/>
            </a:xfrm>
            <a:prstGeom prst="bracketPair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2    2    2    2    2</a:t>
              </a:r>
            </a:p>
            <a:p>
              <a:pPr algn="ctr"/>
              <a:r>
                <a:rPr lang="en-US" altLang="zh-CN" sz="1400" dirty="0"/>
                <a:t>1    1    1    1    1</a:t>
              </a:r>
            </a:p>
            <a:p>
              <a:pPr algn="ctr"/>
              <a:r>
                <a:rPr lang="en-US" altLang="zh-CN" sz="1400" dirty="0"/>
                <a:t>1    1    1    1    1</a:t>
              </a:r>
            </a:p>
            <a:p>
              <a:pPr algn="ctr"/>
              <a:r>
                <a:rPr lang="en-US" altLang="zh-CN" sz="1400" dirty="0"/>
                <a:t>-1   0    0    0   -1</a:t>
              </a:r>
            </a:p>
            <a:p>
              <a:pPr algn="ctr"/>
              <a:r>
                <a:rPr lang="en-US" altLang="zh-CN" sz="1400" dirty="0"/>
                <a:t>0    1    0    1    0</a:t>
              </a:r>
            </a:p>
          </p:txBody>
        </p:sp>
        <p:sp>
          <p:nvSpPr>
            <p:cNvPr id="21" name="双括号 20">
              <a:extLst>
                <a:ext uri="{FF2B5EF4-FFF2-40B4-BE49-F238E27FC236}">
                  <a16:creationId xmlns:a16="http://schemas.microsoft.com/office/drawing/2014/main" id="{E2DCECB0-681E-94EF-2FB4-BD7FB31A2647}"/>
                </a:ext>
              </a:extLst>
            </p:cNvPr>
            <p:cNvSpPr/>
            <p:nvPr/>
          </p:nvSpPr>
          <p:spPr>
            <a:xfrm>
              <a:off x="7239000" y="2971800"/>
              <a:ext cx="457200" cy="1225947"/>
            </a:xfrm>
            <a:prstGeom prst="bracketPair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1.5</a:t>
              </a:r>
            </a:p>
            <a:p>
              <a:pPr algn="ctr"/>
              <a:r>
                <a:rPr lang="en-US" altLang="zh-CN" sz="1400" dirty="0"/>
                <a:t>0.1</a:t>
              </a:r>
            </a:p>
            <a:p>
              <a:pPr algn="ctr"/>
              <a:r>
                <a:rPr lang="en-US" altLang="zh-CN" sz="1400" dirty="0"/>
                <a:t>0.6</a:t>
              </a:r>
            </a:p>
            <a:p>
              <a:pPr algn="ctr"/>
              <a:r>
                <a:rPr lang="en-US" altLang="zh-CN" sz="1400" dirty="0"/>
                <a:t>0.0</a:t>
              </a:r>
            </a:p>
            <a:p>
              <a:pPr algn="ctr"/>
              <a:r>
                <a:rPr lang="en-US" altLang="zh-CN" sz="1400" dirty="0"/>
                <a:t>2.1</a:t>
              </a:r>
              <a:endParaRPr lang="zh-CN" altLang="en-US" sz="1400" dirty="0"/>
            </a:p>
          </p:txBody>
        </p:sp>
        <p:sp>
          <p:nvSpPr>
            <p:cNvPr id="23" name="双括号 22">
              <a:extLst>
                <a:ext uri="{FF2B5EF4-FFF2-40B4-BE49-F238E27FC236}">
                  <a16:creationId xmlns:a16="http://schemas.microsoft.com/office/drawing/2014/main" id="{BA421951-46C4-B865-D2D5-A3775F053495}"/>
                </a:ext>
              </a:extLst>
            </p:cNvPr>
            <p:cNvSpPr/>
            <p:nvPr/>
          </p:nvSpPr>
          <p:spPr>
            <a:xfrm>
              <a:off x="8836447" y="3000217"/>
              <a:ext cx="513748" cy="1225947"/>
            </a:xfrm>
            <a:prstGeom prst="bracketPair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8.6</a:t>
              </a:r>
            </a:p>
            <a:p>
              <a:pPr algn="ctr"/>
              <a:r>
                <a:rPr lang="en-US" altLang="zh-CN" sz="1400" dirty="0"/>
                <a:t>4.3</a:t>
              </a:r>
            </a:p>
            <a:p>
              <a:pPr algn="ctr"/>
              <a:r>
                <a:rPr lang="en-US" altLang="zh-CN" sz="1400" dirty="0"/>
                <a:t>4.3</a:t>
              </a:r>
            </a:p>
            <a:p>
              <a:pPr algn="ctr"/>
              <a:r>
                <a:rPr lang="en-US" altLang="zh-CN" sz="1400" dirty="0"/>
                <a:t>-3.6</a:t>
              </a:r>
            </a:p>
            <a:p>
              <a:pPr algn="ctr"/>
              <a:r>
                <a:rPr lang="en-US" altLang="zh-CN" sz="1400" dirty="0"/>
                <a:t>0.1</a:t>
              </a:r>
              <a:endParaRPr lang="zh-CN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875F168-DF7D-56D8-32B7-FCFF7B76B598}"/>
                    </a:ext>
                  </a:extLst>
                </p:cNvPr>
                <p:cNvSpPr txBox="1"/>
                <p:nvPr/>
              </p:nvSpPr>
              <p:spPr>
                <a:xfrm>
                  <a:off x="8484522" y="3416196"/>
                  <a:ext cx="20203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875F168-DF7D-56D8-32B7-FCFF7B76B5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4522" y="3416196"/>
                  <a:ext cx="20203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7647" r="-1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双括号 26">
              <a:extLst>
                <a:ext uri="{FF2B5EF4-FFF2-40B4-BE49-F238E27FC236}">
                  <a16:creationId xmlns:a16="http://schemas.microsoft.com/office/drawing/2014/main" id="{414F4F5B-7791-1B8F-8D4C-C47CC4043660}"/>
                </a:ext>
              </a:extLst>
            </p:cNvPr>
            <p:cNvSpPr/>
            <p:nvPr/>
          </p:nvSpPr>
          <p:spPr>
            <a:xfrm>
              <a:off x="8040149" y="2971799"/>
              <a:ext cx="353018" cy="1225947"/>
            </a:xfrm>
            <a:prstGeom prst="bracketPair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</a:p>
            <a:p>
              <a:pPr algn="ctr"/>
              <a:r>
                <a:rPr lang="en-US" altLang="zh-CN" sz="1400" dirty="0"/>
                <a:t>0</a:t>
              </a:r>
            </a:p>
            <a:p>
              <a:pPr algn="ctr"/>
              <a:r>
                <a:rPr lang="en-US" altLang="zh-CN" sz="1400" dirty="0"/>
                <a:t>0</a:t>
              </a:r>
            </a:p>
            <a:p>
              <a:pPr algn="ctr"/>
              <a:r>
                <a:rPr lang="en-US" altLang="zh-CN" sz="1400" dirty="0"/>
                <a:t>0</a:t>
              </a:r>
            </a:p>
            <a:p>
              <a:pPr algn="ctr"/>
              <a:r>
                <a:rPr lang="en-US" altLang="zh-CN" sz="1400" dirty="0"/>
                <a:t>0</a:t>
              </a:r>
              <a:endParaRPr lang="zh-CN" alt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54C2E899-874E-6AC7-A0C2-1E4A28D3ED73}"/>
                    </a:ext>
                  </a:extLst>
                </p:cNvPr>
                <p:cNvSpPr txBox="1"/>
                <p:nvPr/>
              </p:nvSpPr>
              <p:spPr>
                <a:xfrm>
                  <a:off x="7754905" y="3426786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54C2E899-874E-6AC7-A0C2-1E4A28D3E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4905" y="3426786"/>
                  <a:ext cx="22602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1053" r="-18421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071339C0-61CA-6EEF-1113-02D98C836016}"/>
              </a:ext>
            </a:extLst>
          </p:cNvPr>
          <p:cNvGrpSpPr/>
          <p:nvPr/>
        </p:nvGrpSpPr>
        <p:grpSpPr>
          <a:xfrm>
            <a:off x="2927650" y="3251885"/>
            <a:ext cx="2832044" cy="2597634"/>
            <a:chOff x="3027044" y="3181241"/>
            <a:chExt cx="2832044" cy="2601324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89EE972-7F9C-9474-848F-5DE0C106B67D}"/>
                </a:ext>
              </a:extLst>
            </p:cNvPr>
            <p:cNvGrpSpPr/>
            <p:nvPr/>
          </p:nvGrpSpPr>
          <p:grpSpPr>
            <a:xfrm>
              <a:off x="3027044" y="3181241"/>
              <a:ext cx="2832044" cy="2601324"/>
              <a:chOff x="3721156" y="3440668"/>
              <a:chExt cx="2832044" cy="26013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6014773-6592-112E-E102-7BB063C1E111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3440668"/>
                    <a:ext cx="2438400" cy="2601324"/>
                  </a:xfrm>
                  <a:prstGeom prst="rect">
                    <a:avLst/>
                  </a:prstGeom>
                  <a:noFill/>
                  <a:ln w="28575">
                    <a:solidFill>
                      <a:schemeClr val="accent6">
                        <a:lumMod val="75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dirty="0"/>
                      <a:t>数学表达式：</a:t>
                    </a:r>
                    <a:endParaRPr lang="en-US" altLang="zh-CN" dirty="0"/>
                  </a:p>
                  <a:p>
                    <a:endParaRPr lang="en-US" altLang="zh-CN" dirty="0"/>
                  </a:p>
                  <a:p>
                    <a:endParaRPr lang="en-US" altLang="zh-CN" dirty="0"/>
                  </a:p>
                  <a:p>
                    <a:endParaRPr lang="en-US" altLang="zh-CN" dirty="0"/>
                  </a:p>
                  <a:p>
                    <a:endParaRPr lang="en-US" altLang="zh-CN" dirty="0"/>
                  </a:p>
                  <a:p>
                    <a14:m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a14:m>
                    <a:r>
                      <a:rPr lang="zh-CN" altLang="en-US" dirty="0"/>
                      <a:t>是</a:t>
                    </a:r>
                    <a:r>
                      <a:rPr lang="en-US" altLang="zh-CN" dirty="0"/>
                      <a:t>sigmoid</a:t>
                    </a:r>
                    <a:r>
                      <a:rPr lang="zh-CN" altLang="en-US" dirty="0"/>
                      <a:t>函数</a:t>
                    </a:r>
                    <a:endParaRPr lang="en-US" altLang="zh-CN" dirty="0"/>
                  </a:p>
                  <a:p>
                    <a14:m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zh-CN" altLang="en-US" dirty="0"/>
                      <a:t>是留存比例向量</a:t>
                    </a:r>
                    <a:endParaRPr lang="en-US" altLang="zh-CN" dirty="0"/>
                  </a:p>
                  <a:p>
                    <a14:m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oMath>
                    </a14:m>
                    <a:r>
                      <a:rPr lang="zh-CN" altLang="en-US" dirty="0"/>
                      <a:t>是经过门控前的向量</a:t>
                    </a:r>
                    <a:endParaRPr lang="en-US" altLang="zh-CN" dirty="0"/>
                  </a:p>
                  <a:p>
                    <a14:m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oMath>
                    </a14:m>
                    <a:r>
                      <a:rPr lang="zh-CN" altLang="en-US" dirty="0"/>
                      <a:t>是经过门控后的向量</a:t>
                    </a:r>
                    <a:endParaRPr lang="en-US" altLang="zh-CN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6014773-6592-112E-E102-7BB063C1E1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3440668"/>
                    <a:ext cx="2438400" cy="26013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728" t="-1389" b="-926"/>
                    </a:stretch>
                  </a:blipFill>
                  <a:ln w="28575">
                    <a:solidFill>
                      <a:schemeClr val="accent6">
                        <a:lumMod val="7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0CCBC099-9760-9C64-9BE7-D13AF712038B}"/>
                      </a:ext>
                    </a:extLst>
                  </p:cNvPr>
                  <p:cNvSpPr txBox="1"/>
                  <p:nvPr/>
                </p:nvSpPr>
                <p:spPr>
                  <a:xfrm>
                    <a:off x="3721156" y="3864775"/>
                    <a:ext cx="2590800" cy="78688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oMath>
                      </m:oMathPara>
                    </a14:m>
                    <a:endParaRPr lang="en-US" altLang="zh-CN" b="0" i="1" dirty="0">
                      <a:latin typeface="Cambria Math" panose="02040503050406030204" pitchFamily="18" charset="0"/>
                    </a:endParaRPr>
                  </a:p>
                  <a:p>
                    <a:pPr>
                      <a:lnSpc>
                        <a:spcPts val="1000"/>
                      </a:lnSpc>
                    </a:pPr>
                    <a:endParaRPr lang="en-US" altLang="zh-CN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0CCBC099-9760-9C64-9BE7-D13AF71203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21156" y="3864775"/>
                    <a:ext cx="2590800" cy="78688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3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C0A949E7-AD25-BC1D-6578-8B177B042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4358" y="4484132"/>
              <a:ext cx="486471" cy="386966"/>
            </a:xfrm>
            <a:prstGeom prst="rect">
              <a:avLst/>
            </a:prstGeom>
          </p:spPr>
        </p:pic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24745912-DB7A-0C0C-DB33-CA56AAB1259F}"/>
              </a:ext>
            </a:extLst>
          </p:cNvPr>
          <p:cNvGrpSpPr/>
          <p:nvPr/>
        </p:nvGrpSpPr>
        <p:grpSpPr>
          <a:xfrm>
            <a:off x="5952997" y="4638799"/>
            <a:ext cx="2189272" cy="1228601"/>
            <a:chOff x="5943600" y="4506789"/>
            <a:chExt cx="2189272" cy="122860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BA009B1-9FAD-B137-82CE-0297CDDAF9FB}"/>
                </a:ext>
              </a:extLst>
            </p:cNvPr>
            <p:cNvGrpSpPr/>
            <p:nvPr/>
          </p:nvGrpSpPr>
          <p:grpSpPr>
            <a:xfrm>
              <a:off x="6191990" y="4506789"/>
              <a:ext cx="912443" cy="1225947"/>
              <a:chOff x="10014035" y="2888589"/>
              <a:chExt cx="912443" cy="1225947"/>
            </a:xfrm>
          </p:grpSpPr>
          <p:sp>
            <p:nvSpPr>
              <p:cNvPr id="30" name="双括号 29">
                <a:extLst>
                  <a:ext uri="{FF2B5EF4-FFF2-40B4-BE49-F238E27FC236}">
                    <a16:creationId xmlns:a16="http://schemas.microsoft.com/office/drawing/2014/main" id="{FF46075D-647B-7CC8-1432-65B8124775C5}"/>
                  </a:ext>
                </a:extLst>
              </p:cNvPr>
              <p:cNvSpPr/>
              <p:nvPr/>
            </p:nvSpPr>
            <p:spPr>
              <a:xfrm>
                <a:off x="10240365" y="2888589"/>
                <a:ext cx="539191" cy="1225947"/>
              </a:xfrm>
              <a:prstGeom prst="bracketPair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/>
                  <a:t>8.6</a:t>
                </a:r>
              </a:p>
              <a:p>
                <a:pPr algn="ctr"/>
                <a:r>
                  <a:rPr lang="en-US" altLang="zh-CN" sz="1400" dirty="0"/>
                  <a:t>4.3</a:t>
                </a:r>
              </a:p>
              <a:p>
                <a:pPr algn="ctr"/>
                <a:r>
                  <a:rPr lang="en-US" altLang="zh-CN" sz="1400" dirty="0"/>
                  <a:t>4.3</a:t>
                </a:r>
              </a:p>
              <a:p>
                <a:pPr algn="ctr"/>
                <a:r>
                  <a:rPr lang="en-US" altLang="zh-CN" sz="1400" dirty="0"/>
                  <a:t>-3.6</a:t>
                </a:r>
              </a:p>
              <a:p>
                <a:pPr algn="ctr"/>
                <a:r>
                  <a:rPr lang="en-US" altLang="zh-CN" sz="1400" dirty="0"/>
                  <a:t>0.1</a:t>
                </a:r>
                <a:endParaRPr lang="zh-CN" altLang="en-US" sz="1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6C8F1B87-2824-8204-AE6E-13C8CD6E84DE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035" y="3194447"/>
                    <a:ext cx="149513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oMath>
                      </m:oMathPara>
                    </a14:m>
                    <a:endParaRPr lang="zh-CN" altLang="en-US" sz="4000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6C8F1B87-2824-8204-AE6E-13C8CD6E84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035" y="3194447"/>
                    <a:ext cx="149513" cy="61555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6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F79911E0-28CA-5927-F1A0-6BBCAC6E3B67}"/>
                      </a:ext>
                    </a:extLst>
                  </p:cNvPr>
                  <p:cNvSpPr txBox="1"/>
                  <p:nvPr/>
                </p:nvSpPr>
                <p:spPr>
                  <a:xfrm>
                    <a:off x="10807187" y="3194447"/>
                    <a:ext cx="119291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4000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F79911E0-28CA-5927-F1A0-6BBCAC6E3B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07187" y="3194447"/>
                    <a:ext cx="119291" cy="61555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1322723-C688-1138-D019-1846FDAE4F14}"/>
                    </a:ext>
                  </a:extLst>
                </p:cNvPr>
                <p:cNvSpPr txBox="1"/>
                <p:nvPr/>
              </p:nvSpPr>
              <p:spPr>
                <a:xfrm>
                  <a:off x="7239000" y="5011298"/>
                  <a:ext cx="20203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1322723-C688-1138-D019-1846FDAE4F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5011298"/>
                  <a:ext cx="20203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8182" r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33A36642-327E-C8BA-C089-9BFCEF479740}"/>
                    </a:ext>
                  </a:extLst>
                </p:cNvPr>
                <p:cNvSpPr txBox="1"/>
                <p:nvPr/>
              </p:nvSpPr>
              <p:spPr>
                <a:xfrm>
                  <a:off x="5943600" y="4935098"/>
                  <a:ext cx="25596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33A36642-327E-C8BA-C089-9BFCEF4797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0" y="4935098"/>
                  <a:ext cx="255968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16667" r="-119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双括号 40">
              <a:extLst>
                <a:ext uri="{FF2B5EF4-FFF2-40B4-BE49-F238E27FC236}">
                  <a16:creationId xmlns:a16="http://schemas.microsoft.com/office/drawing/2014/main" id="{ABC76B21-DBEE-E8BE-9394-D13706E49CD2}"/>
                </a:ext>
              </a:extLst>
            </p:cNvPr>
            <p:cNvSpPr/>
            <p:nvPr/>
          </p:nvSpPr>
          <p:spPr>
            <a:xfrm>
              <a:off x="7543800" y="4509443"/>
              <a:ext cx="589072" cy="1225947"/>
            </a:xfrm>
            <a:prstGeom prst="bracketPair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0.99</a:t>
              </a:r>
            </a:p>
            <a:p>
              <a:pPr algn="ctr"/>
              <a:r>
                <a:rPr lang="en-US" altLang="zh-CN" sz="1400" dirty="0"/>
                <a:t>0.98</a:t>
              </a:r>
            </a:p>
            <a:p>
              <a:pPr algn="ctr"/>
              <a:r>
                <a:rPr lang="en-US" altLang="zh-CN" sz="1400" dirty="0"/>
                <a:t>0.98</a:t>
              </a:r>
            </a:p>
            <a:p>
              <a:pPr algn="ctr"/>
              <a:r>
                <a:rPr lang="en-US" altLang="zh-CN" sz="1400" dirty="0"/>
                <a:t>0.02</a:t>
              </a:r>
            </a:p>
            <a:p>
              <a:pPr algn="ctr"/>
              <a:r>
                <a:rPr lang="en-US" altLang="zh-CN" sz="1400" dirty="0"/>
                <a:t>0.52</a:t>
              </a:r>
              <a:endParaRPr lang="zh-CN" altLang="en-US" sz="1400" dirty="0"/>
            </a:p>
          </p:txBody>
        </p:sp>
      </p:grpSp>
      <p:sp>
        <p:nvSpPr>
          <p:cNvPr id="48" name="箭头: 右 47">
            <a:extLst>
              <a:ext uri="{FF2B5EF4-FFF2-40B4-BE49-F238E27FC236}">
                <a16:creationId xmlns:a16="http://schemas.microsoft.com/office/drawing/2014/main" id="{9725015B-4E75-DF34-FEF5-D6663468F157}"/>
              </a:ext>
            </a:extLst>
          </p:cNvPr>
          <p:cNvSpPr/>
          <p:nvPr/>
        </p:nvSpPr>
        <p:spPr>
          <a:xfrm>
            <a:off x="8345747" y="5161221"/>
            <a:ext cx="263900" cy="204452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4401775-5890-DF5C-87D2-CA28D76B03E3}"/>
              </a:ext>
            </a:extLst>
          </p:cNvPr>
          <p:cNvGrpSpPr/>
          <p:nvPr/>
        </p:nvGrpSpPr>
        <p:grpSpPr>
          <a:xfrm>
            <a:off x="8763000" y="4619014"/>
            <a:ext cx="2426057" cy="1245733"/>
            <a:chOff x="8763000" y="4487004"/>
            <a:chExt cx="2426057" cy="1245733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1DFF4AD-84F8-722C-E6EC-6A05524C2EEF}"/>
                </a:ext>
              </a:extLst>
            </p:cNvPr>
            <p:cNvGrpSpPr/>
            <p:nvPr/>
          </p:nvGrpSpPr>
          <p:grpSpPr>
            <a:xfrm>
              <a:off x="8763000" y="4506790"/>
              <a:ext cx="1371600" cy="1225947"/>
              <a:chOff x="8763000" y="4506790"/>
              <a:chExt cx="1371600" cy="1225947"/>
            </a:xfrm>
          </p:grpSpPr>
          <p:sp>
            <p:nvSpPr>
              <p:cNvPr id="19" name="双括号 18">
                <a:extLst>
                  <a:ext uri="{FF2B5EF4-FFF2-40B4-BE49-F238E27FC236}">
                    <a16:creationId xmlns:a16="http://schemas.microsoft.com/office/drawing/2014/main" id="{4EE57511-8AA3-955A-83BA-0245E40B0030}"/>
                  </a:ext>
                </a:extLst>
              </p:cNvPr>
              <p:cNvSpPr/>
              <p:nvPr/>
            </p:nvSpPr>
            <p:spPr>
              <a:xfrm>
                <a:off x="9677400" y="4506790"/>
                <a:ext cx="457200" cy="1225947"/>
              </a:xfrm>
              <a:prstGeom prst="bracketPair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/>
                  <a:t>1.5</a:t>
                </a:r>
              </a:p>
              <a:p>
                <a:pPr algn="ctr"/>
                <a:r>
                  <a:rPr lang="en-US" altLang="zh-CN" sz="1400" dirty="0"/>
                  <a:t>2.4</a:t>
                </a:r>
              </a:p>
              <a:p>
                <a:pPr algn="ctr"/>
                <a:r>
                  <a:rPr lang="en-US" altLang="zh-CN" sz="1400" dirty="0"/>
                  <a:t>9.0</a:t>
                </a:r>
              </a:p>
              <a:p>
                <a:pPr algn="ctr"/>
                <a:r>
                  <a:rPr lang="en-US" altLang="zh-CN" sz="1400" dirty="0"/>
                  <a:t>6.2</a:t>
                </a:r>
              </a:p>
              <a:p>
                <a:pPr algn="ctr"/>
                <a:r>
                  <a:rPr lang="en-US" altLang="zh-CN" sz="1400" dirty="0"/>
                  <a:t>8.8</a:t>
                </a:r>
                <a:endParaRPr lang="zh-CN" altLang="en-US" sz="1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2D881C57-CC09-D49F-8B42-67F07C097EA2}"/>
                      </a:ext>
                    </a:extLst>
                  </p:cNvPr>
                  <p:cNvSpPr txBox="1"/>
                  <p:nvPr/>
                </p:nvSpPr>
                <p:spPr>
                  <a:xfrm>
                    <a:off x="9372600" y="4965131"/>
                    <a:ext cx="25285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2D881C57-CC09-D49F-8B42-67F07C097E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72600" y="4965131"/>
                    <a:ext cx="252854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7" name="双括号 46">
                <a:extLst>
                  <a:ext uri="{FF2B5EF4-FFF2-40B4-BE49-F238E27FC236}">
                    <a16:creationId xmlns:a16="http://schemas.microsoft.com/office/drawing/2014/main" id="{D72C0B22-36C0-01C1-928C-E7F34073E24D}"/>
                  </a:ext>
                </a:extLst>
              </p:cNvPr>
              <p:cNvSpPr/>
              <p:nvPr/>
            </p:nvSpPr>
            <p:spPr>
              <a:xfrm>
                <a:off x="8763000" y="4506790"/>
                <a:ext cx="589072" cy="1225947"/>
              </a:xfrm>
              <a:prstGeom prst="bracketPair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/>
                  <a:t>0.99</a:t>
                </a:r>
              </a:p>
              <a:p>
                <a:pPr algn="ctr"/>
                <a:r>
                  <a:rPr lang="en-US" altLang="zh-CN" sz="1400" dirty="0"/>
                  <a:t>0.98</a:t>
                </a:r>
              </a:p>
              <a:p>
                <a:pPr algn="ctr"/>
                <a:r>
                  <a:rPr lang="en-US" altLang="zh-CN" sz="1400" dirty="0"/>
                  <a:t>0.98</a:t>
                </a:r>
              </a:p>
              <a:p>
                <a:pPr algn="ctr"/>
                <a:r>
                  <a:rPr lang="en-US" altLang="zh-CN" sz="1400" dirty="0"/>
                  <a:t>0.02</a:t>
                </a:r>
              </a:p>
              <a:p>
                <a:pPr algn="ctr"/>
                <a:r>
                  <a:rPr lang="en-US" altLang="zh-CN" sz="1400" dirty="0"/>
                  <a:t>0.52</a:t>
                </a:r>
                <a:endParaRPr lang="zh-CN" altLang="en-US" sz="14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C71B408B-9774-1D2E-7941-0AAB3EF8C8D0}"/>
                    </a:ext>
                  </a:extLst>
                </p:cNvPr>
                <p:cNvSpPr txBox="1"/>
                <p:nvPr/>
              </p:nvSpPr>
              <p:spPr>
                <a:xfrm>
                  <a:off x="10287000" y="4970273"/>
                  <a:ext cx="20203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C71B408B-9774-1D2E-7941-0AAB3EF8C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7000" y="4970273"/>
                  <a:ext cx="20203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1212" r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双括号 51">
              <a:extLst>
                <a:ext uri="{FF2B5EF4-FFF2-40B4-BE49-F238E27FC236}">
                  <a16:creationId xmlns:a16="http://schemas.microsoft.com/office/drawing/2014/main" id="{E956C4C4-F2B6-699D-0716-5BF35792391D}"/>
                </a:ext>
              </a:extLst>
            </p:cNvPr>
            <p:cNvSpPr/>
            <p:nvPr/>
          </p:nvSpPr>
          <p:spPr>
            <a:xfrm>
              <a:off x="10599985" y="4487004"/>
              <a:ext cx="589072" cy="1225947"/>
            </a:xfrm>
            <a:prstGeom prst="bracketPair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1.48</a:t>
              </a:r>
            </a:p>
            <a:p>
              <a:pPr algn="ctr"/>
              <a:r>
                <a:rPr lang="en-US" altLang="zh-CN" sz="1400" dirty="0"/>
                <a:t>2.35</a:t>
              </a:r>
            </a:p>
            <a:p>
              <a:pPr algn="ctr"/>
              <a:r>
                <a:rPr lang="en-US" altLang="zh-CN" sz="1400" dirty="0"/>
                <a:t>8.82</a:t>
              </a:r>
            </a:p>
            <a:p>
              <a:pPr algn="ctr"/>
              <a:r>
                <a:rPr lang="en-US" altLang="zh-CN" sz="1400" dirty="0"/>
                <a:t>0.16</a:t>
              </a:r>
            </a:p>
            <a:p>
              <a:pPr algn="ctr"/>
              <a:r>
                <a:rPr lang="en-US" altLang="zh-CN" sz="1400" dirty="0"/>
                <a:t>4.57</a:t>
              </a:r>
              <a:endParaRPr lang="zh-CN" altLang="en-US" sz="1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DD5B0FD-F06D-D998-7930-A6122D0D63F9}"/>
                  </a:ext>
                </a:extLst>
              </p:cNvPr>
              <p:cNvSpPr txBox="1"/>
              <p:nvPr/>
            </p:nvSpPr>
            <p:spPr>
              <a:xfrm>
                <a:off x="7515238" y="4126468"/>
                <a:ext cx="3530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DD5B0FD-F06D-D998-7930-A6122D0D6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238" y="4126468"/>
                <a:ext cx="35301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A1599A5-86C6-3720-0447-FDC780E3B750}"/>
                  </a:ext>
                </a:extLst>
              </p:cNvPr>
              <p:cNvSpPr txBox="1"/>
              <p:nvPr/>
            </p:nvSpPr>
            <p:spPr>
              <a:xfrm>
                <a:off x="8504096" y="4114800"/>
                <a:ext cx="3984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A1599A5-86C6-3720-0447-FDC780E3B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096" y="4114800"/>
                <a:ext cx="39840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0F70B35E-2E8D-81B0-AF3C-6BB19FEF4EEE}"/>
                  </a:ext>
                </a:extLst>
              </p:cNvPr>
              <p:cNvSpPr txBox="1"/>
              <p:nvPr/>
            </p:nvSpPr>
            <p:spPr>
              <a:xfrm>
                <a:off x="9387526" y="4181051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0F70B35E-2E8D-81B0-AF3C-6BB19FEF4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526" y="4181051"/>
                <a:ext cx="182999" cy="276999"/>
              </a:xfrm>
              <a:prstGeom prst="rect">
                <a:avLst/>
              </a:prstGeom>
              <a:blipFill>
                <a:blip r:embed="rId17"/>
                <a:stretch>
                  <a:fillRect l="-33333" r="-26667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246625F6-61C5-4060-0F34-A617E2C73076}"/>
                  </a:ext>
                </a:extLst>
              </p:cNvPr>
              <p:cNvSpPr txBox="1"/>
              <p:nvPr/>
            </p:nvSpPr>
            <p:spPr>
              <a:xfrm>
                <a:off x="7681021" y="5791200"/>
                <a:ext cx="2822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246625F6-61C5-4060-0F34-A617E2C73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021" y="5791200"/>
                <a:ext cx="282295" cy="369332"/>
              </a:xfrm>
              <a:prstGeom prst="rect">
                <a:avLst/>
              </a:prstGeom>
              <a:blipFill>
                <a:blip r:embed="rId18"/>
                <a:stretch>
                  <a:fillRect r="-8696"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21A5424-D7B6-8C7B-F50E-3DBA189851FC}"/>
                  </a:ext>
                </a:extLst>
              </p:cNvPr>
              <p:cNvSpPr txBox="1"/>
              <p:nvPr/>
            </p:nvSpPr>
            <p:spPr>
              <a:xfrm>
                <a:off x="8937905" y="5802868"/>
                <a:ext cx="2822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21A5424-D7B6-8C7B-F50E-3DBA18985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905" y="5802868"/>
                <a:ext cx="282295" cy="369332"/>
              </a:xfrm>
              <a:prstGeom prst="rect">
                <a:avLst/>
              </a:prstGeom>
              <a:blipFill>
                <a:blip r:embed="rId19"/>
                <a:stretch>
                  <a:fillRect r="-6383"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D182D49A-C034-81D6-FF6E-9B487904BAC0}"/>
                  </a:ext>
                </a:extLst>
              </p:cNvPr>
              <p:cNvSpPr txBox="1"/>
              <p:nvPr/>
            </p:nvSpPr>
            <p:spPr>
              <a:xfrm>
                <a:off x="9699905" y="5853757"/>
                <a:ext cx="457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D182D49A-C034-81D6-FF6E-9B487904B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905" y="5853757"/>
                <a:ext cx="45720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B5489B3-9864-F28B-CD88-189221C33349}"/>
                  </a:ext>
                </a:extLst>
              </p:cNvPr>
              <p:cNvSpPr txBox="1"/>
              <p:nvPr/>
            </p:nvSpPr>
            <p:spPr>
              <a:xfrm>
                <a:off x="10695319" y="5841446"/>
                <a:ext cx="398404" cy="38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B5489B3-9864-F28B-CD88-189221C33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319" y="5841446"/>
                <a:ext cx="398404" cy="381643"/>
              </a:xfrm>
              <a:prstGeom prst="rect">
                <a:avLst/>
              </a:prstGeom>
              <a:blipFill>
                <a:blip r:embed="rId21"/>
                <a:stretch>
                  <a:fillRect t="-4762" r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84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E6F6-945E-A348-7D56-FB45570E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54D06B-60A0-798A-FC87-EDFF6116F92C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长短期记忆网络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30410C-8B1E-6E6D-98CD-1E1EEEC565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19</a:t>
            </a:fld>
            <a:endParaRPr lang="en-US" altLang="zh-CN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6F18990-7808-4684-D5E6-BBBD1E936624}"/>
                  </a:ext>
                </a:extLst>
              </p:cNvPr>
              <p:cNvSpPr txBox="1"/>
              <p:nvPr/>
            </p:nvSpPr>
            <p:spPr>
              <a:xfrm>
                <a:off x="851324" y="1295400"/>
                <a:ext cx="1587076" cy="1323439"/>
              </a:xfrm>
              <a:prstGeom prst="rect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+mn-ea"/>
                  </a:rPr>
                  <a:t>计算经过遗忘门的每个元素的留存比例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向量的每个元素值范围为</a:t>
                </a:r>
                <a:r>
                  <a:rPr lang="en-US" altLang="zh-CN" sz="1600" dirty="0">
                    <a:latin typeface="+mn-ea"/>
                  </a:rPr>
                  <a:t>0-1</a:t>
                </a:r>
                <a:r>
                  <a:rPr lang="zh-CN" altLang="en-US" sz="1600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6F18990-7808-4684-D5E6-BBBD1E936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24" y="1295400"/>
                <a:ext cx="1587076" cy="1323439"/>
              </a:xfrm>
              <a:prstGeom prst="rect">
                <a:avLst/>
              </a:prstGeom>
              <a:blipFill>
                <a:blip r:embed="rId3"/>
                <a:stretch>
                  <a:fillRect l="-1908" t="-913" r="-14122" b="-4110"/>
                </a:stretch>
              </a:blipFill>
              <a:ln w="12700">
                <a:solidFill>
                  <a:schemeClr val="accent6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1EAD7D-DFEF-EF01-4C9A-0C9A7BB03D32}"/>
                  </a:ext>
                </a:extLst>
              </p:cNvPr>
              <p:cNvSpPr txBox="1"/>
              <p:nvPr/>
            </p:nvSpPr>
            <p:spPr>
              <a:xfrm>
                <a:off x="9056554" y="795731"/>
                <a:ext cx="1971084" cy="2198102"/>
              </a:xfrm>
              <a:prstGeom prst="rect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  <a:prstDash val="lg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+mn-ea"/>
                  </a:rPr>
                  <a:t>1</a:t>
                </a:r>
                <a:r>
                  <a:rPr lang="zh-CN" altLang="en-US" sz="1600" dirty="0">
                    <a:latin typeface="+mn-ea"/>
                  </a:rPr>
                  <a:t>、计算经过输入门的每个元素的留存比例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向量的每个元素值范围为</a:t>
                </a:r>
                <a:r>
                  <a:rPr lang="en-US" altLang="zh-CN" sz="1600" dirty="0">
                    <a:latin typeface="+mn-ea"/>
                  </a:rPr>
                  <a:t>0-1</a:t>
                </a:r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  <a:p>
                <a:pPr>
                  <a:lnSpc>
                    <a:spcPts val="1000"/>
                  </a:lnSpc>
                </a:pPr>
                <a:endParaRPr lang="en-US" altLang="zh-CN" sz="1600" dirty="0">
                  <a:latin typeface="+mn-ea"/>
                </a:endParaRPr>
              </a:p>
              <a:p>
                <a:r>
                  <a:rPr lang="en-US" altLang="zh-CN" sz="1600" dirty="0">
                    <a:latin typeface="+mn-ea"/>
                  </a:rPr>
                  <a:t>2</a:t>
                </a:r>
                <a:r>
                  <a:rPr lang="zh-CN" altLang="en-US" sz="1600" dirty="0">
                    <a:latin typeface="+mn-ea"/>
                  </a:rPr>
                  <a:t>、基于新输入信息和隐藏状态，用神经网络层更新当前最新信息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zh-CN" altLang="en-US" sz="16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91EAD7D-DFEF-EF01-4C9A-0C9A7BB03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554" y="795731"/>
                <a:ext cx="1971084" cy="2198102"/>
              </a:xfrm>
              <a:prstGeom prst="rect">
                <a:avLst/>
              </a:prstGeom>
              <a:blipFill>
                <a:blip r:embed="rId4"/>
                <a:stretch>
                  <a:fillRect l="-1538" t="-552" r="-8615" b="-2210"/>
                </a:stretch>
              </a:blipFill>
              <a:ln w="12700">
                <a:solidFill>
                  <a:schemeClr val="accent6">
                    <a:lumMod val="75000"/>
                  </a:schemeClr>
                </a:solidFill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4CC2BCD-790E-881D-D149-1DE340007095}"/>
                  </a:ext>
                </a:extLst>
              </p:cNvPr>
              <p:cNvSpPr txBox="1"/>
              <p:nvPr/>
            </p:nvSpPr>
            <p:spPr>
              <a:xfrm>
                <a:off x="851324" y="3200400"/>
                <a:ext cx="1607087" cy="2562305"/>
              </a:xfrm>
              <a:prstGeom prst="rect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+mn-ea"/>
                  </a:rPr>
                  <a:t>1</a:t>
                </a:r>
                <a:r>
                  <a:rPr lang="zh-CN" altLang="en-US" sz="1600" dirty="0">
                    <a:latin typeface="+mn-ea"/>
                  </a:rPr>
                  <a:t>、遗忘门控制上一时刻的记忆单元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哪些信息融入当前时刻的记忆状态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1600" dirty="0">
                  <a:latin typeface="+mn-ea"/>
                </a:endParaRPr>
              </a:p>
              <a:p>
                <a:endParaRPr lang="en-US" altLang="zh-CN" sz="1600" dirty="0">
                  <a:latin typeface="+mn-ea"/>
                </a:endParaRPr>
              </a:p>
              <a:p>
                <a:r>
                  <a:rPr lang="en-US" altLang="zh-CN" sz="1600" dirty="0">
                    <a:latin typeface="+mn-ea"/>
                  </a:rPr>
                  <a:t>2</a:t>
                </a:r>
                <a:r>
                  <a:rPr lang="zh-CN" altLang="en-US" sz="1600" dirty="0">
                    <a:latin typeface="+mn-ea"/>
                  </a:rPr>
                  <a:t>、输入门控制最新信息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1600" dirty="0">
                    <a:latin typeface="+mn-ea"/>
                  </a:rPr>
                  <a:t>哪些部分融入当前时刻的记忆状态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4CC2BCD-790E-881D-D149-1DE340007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24" y="3200400"/>
                <a:ext cx="1607087" cy="2562305"/>
              </a:xfrm>
              <a:prstGeom prst="rect">
                <a:avLst/>
              </a:prstGeom>
              <a:blipFill>
                <a:blip r:embed="rId5"/>
                <a:stretch>
                  <a:fillRect l="-1887" t="-474" r="-14340" b="-1659"/>
                </a:stretch>
              </a:blipFill>
              <a:ln w="12700">
                <a:solidFill>
                  <a:schemeClr val="accent6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9D0B72D-0EFF-0548-CAC9-4E9BAC295683}"/>
                  </a:ext>
                </a:extLst>
              </p:cNvPr>
              <p:cNvSpPr txBox="1"/>
              <p:nvPr/>
            </p:nvSpPr>
            <p:spPr>
              <a:xfrm>
                <a:off x="9085797" y="3479765"/>
                <a:ext cx="2057400" cy="2190343"/>
              </a:xfrm>
              <a:prstGeom prst="rect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  <a:prstDash val="lg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+mn-ea"/>
                  </a:rPr>
                  <a:t>1</a:t>
                </a:r>
                <a:r>
                  <a:rPr lang="zh-CN" altLang="en-US" sz="1600" dirty="0">
                    <a:latin typeface="+mn-ea"/>
                  </a:rPr>
                  <a:t>、计算经过输出门的每个元素的留存比例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向量的每个元素值范围为</a:t>
                </a:r>
                <a:r>
                  <a:rPr lang="en-US" altLang="zh-CN" sz="1600" dirty="0">
                    <a:latin typeface="+mn-ea"/>
                  </a:rPr>
                  <a:t>0-1</a:t>
                </a:r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  <a:p>
                <a:pPr>
                  <a:lnSpc>
                    <a:spcPts val="1000"/>
                  </a:lnSpc>
                </a:pPr>
                <a:endParaRPr lang="en-US" altLang="zh-CN" sz="1600" dirty="0">
                  <a:latin typeface="+mn-ea"/>
                </a:endParaRPr>
              </a:p>
              <a:p>
                <a:r>
                  <a:rPr lang="en-US" altLang="zh-CN" sz="1600" dirty="0">
                    <a:latin typeface="+mn-ea"/>
                  </a:rPr>
                  <a:t>2</a:t>
                </a:r>
                <a:r>
                  <a:rPr lang="zh-CN" altLang="en-US" sz="1600" dirty="0">
                    <a:latin typeface="+mn-ea"/>
                  </a:rPr>
                  <a:t>、输出门控制记忆状态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经</a:t>
                </a:r>
                <a:r>
                  <a:rPr lang="en-US" altLang="zh-CN" sz="1600" dirty="0">
                    <a:latin typeface="+mn-ea"/>
                  </a:rPr>
                  <a:t>tanh</a:t>
                </a:r>
                <a:r>
                  <a:rPr lang="zh-CN" altLang="en-US" sz="1600" dirty="0">
                    <a:latin typeface="+mn-ea"/>
                  </a:rPr>
                  <a:t>激活函数后，哪些信息输出为隐藏状态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9D0B72D-0EFF-0548-CAC9-4E9BAC295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797" y="3479765"/>
                <a:ext cx="2057400" cy="2190343"/>
              </a:xfrm>
              <a:prstGeom prst="rect">
                <a:avLst/>
              </a:prstGeom>
              <a:blipFill>
                <a:blip r:embed="rId6"/>
                <a:stretch>
                  <a:fillRect l="-1176" t="-554" b="-2216"/>
                </a:stretch>
              </a:blipFill>
              <a:ln w="12700">
                <a:solidFill>
                  <a:schemeClr val="accent6">
                    <a:lumMod val="75000"/>
                  </a:schemeClr>
                </a:solidFill>
                <a:prstDash val="lg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4E8F9CA2-7DBE-44B7-D09E-0AE25B00B9DD}"/>
              </a:ext>
            </a:extLst>
          </p:cNvPr>
          <p:cNvSpPr/>
          <p:nvPr/>
        </p:nvSpPr>
        <p:spPr>
          <a:xfrm>
            <a:off x="162090" y="1033789"/>
            <a:ext cx="48923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zh-CN" alt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7A3D19-0769-0AA6-1A6B-044B100F478D}"/>
              </a:ext>
            </a:extLst>
          </p:cNvPr>
          <p:cNvSpPr/>
          <p:nvPr/>
        </p:nvSpPr>
        <p:spPr>
          <a:xfrm>
            <a:off x="11110067" y="632026"/>
            <a:ext cx="48923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zh-CN" alt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1748DA-ADBC-DF65-4753-6703DE707337}"/>
              </a:ext>
            </a:extLst>
          </p:cNvPr>
          <p:cNvSpPr/>
          <p:nvPr/>
        </p:nvSpPr>
        <p:spPr>
          <a:xfrm>
            <a:off x="218687" y="3075057"/>
            <a:ext cx="48923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zh-CN" alt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3F793D-7E0C-FCC3-2BBB-DEE6E7EFBC1F}"/>
              </a:ext>
            </a:extLst>
          </p:cNvPr>
          <p:cNvSpPr/>
          <p:nvPr/>
        </p:nvSpPr>
        <p:spPr>
          <a:xfrm>
            <a:off x="11143197" y="3188702"/>
            <a:ext cx="48923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zh-CN" alt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8BAC4BD-12AE-C299-18CD-AB0D9F0930FC}"/>
              </a:ext>
            </a:extLst>
          </p:cNvPr>
          <p:cNvGrpSpPr/>
          <p:nvPr/>
        </p:nvGrpSpPr>
        <p:grpSpPr>
          <a:xfrm>
            <a:off x="2655875" y="822962"/>
            <a:ext cx="2989236" cy="2338800"/>
            <a:chOff x="2655875" y="822962"/>
            <a:chExt cx="2989236" cy="233880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0DD5DA9-E52D-5044-EE72-43DD1B8F2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5875" y="822962"/>
              <a:ext cx="2989236" cy="1920238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1DE40FF-BC62-ECAA-CA60-7D286BE9A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885" y="2743200"/>
              <a:ext cx="2305215" cy="418562"/>
            </a:xfrm>
            <a:prstGeom prst="rect">
              <a:avLst/>
            </a:prstGeom>
          </p:spPr>
        </p:pic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556CB15D-FEDA-24FC-8769-FE8010A56D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922" y="667679"/>
            <a:ext cx="2749729" cy="192023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FE184F5-4EF8-DDCB-8DC1-C4ECAFDCF8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265" y="2528747"/>
            <a:ext cx="2502201" cy="63301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3825242-F19C-A455-80B9-0C572CFC07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950" y="3321852"/>
            <a:ext cx="2989236" cy="1958226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EA18F612-5B1D-5C6B-213A-C5CBB207A1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733" y="5320993"/>
            <a:ext cx="1882729" cy="34911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AF67D9EC-6B46-3200-F057-CE025FCC5B6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123" y="3276600"/>
            <a:ext cx="2989235" cy="1967334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DCAE6449-3140-C0E9-424A-E527DF6C378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5181600"/>
            <a:ext cx="2361513" cy="71872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B22639B8-ACE4-0441-6324-9B95FEF6F5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463" y="5896964"/>
            <a:ext cx="3631515" cy="72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9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9FE28-8C5C-FF06-E39C-ED66AB41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AB67BEF-5DAC-713C-6A8C-984B688AAD93}"/>
              </a:ext>
            </a:extLst>
          </p:cNvPr>
          <p:cNvGrpSpPr/>
          <p:nvPr/>
        </p:nvGrpSpPr>
        <p:grpSpPr>
          <a:xfrm>
            <a:off x="6455820" y="1905000"/>
            <a:ext cx="3957149" cy="1536697"/>
            <a:chOff x="3405257" y="246560"/>
            <a:chExt cx="5281543" cy="193052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1F4EFEC-676D-0B17-99DD-0D73BCC1C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0123" y="575213"/>
              <a:ext cx="1882729" cy="349115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DC67EE4-A8B0-AC9E-8605-423042832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49"/>
            <a:stretch>
              <a:fillRect/>
            </a:stretch>
          </p:blipFill>
          <p:spPr>
            <a:xfrm>
              <a:off x="6184599" y="879354"/>
              <a:ext cx="2502201" cy="349115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EAC2325-41EE-3635-4E3D-9298AD93C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426"/>
            <a:stretch>
              <a:fillRect/>
            </a:stretch>
          </p:blipFill>
          <p:spPr>
            <a:xfrm>
              <a:off x="6207853" y="309931"/>
              <a:ext cx="2361513" cy="349115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AC14BD52-70B5-7C53-6F48-FB295BE43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4471" y="1172225"/>
              <a:ext cx="2305215" cy="418562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387EB1F-6401-0B23-7BF3-FAF2458AA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849"/>
            <a:stretch>
              <a:fillRect/>
            </a:stretch>
          </p:blipFill>
          <p:spPr>
            <a:xfrm>
              <a:off x="6172200" y="1496542"/>
              <a:ext cx="2502201" cy="349115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E218F93-51EF-F478-D173-348363C9D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803"/>
            <a:stretch>
              <a:fillRect/>
            </a:stretch>
          </p:blipFill>
          <p:spPr>
            <a:xfrm>
              <a:off x="6207854" y="1730201"/>
              <a:ext cx="2361513" cy="396713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C7071C09-CD4C-B514-541B-1C9518FF1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991" r="577" b="15801"/>
            <a:stretch>
              <a:fillRect/>
            </a:stretch>
          </p:blipFill>
          <p:spPr>
            <a:xfrm>
              <a:off x="3405257" y="246560"/>
              <a:ext cx="2529480" cy="1930526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6439724-6812-837B-EFD5-C91EC39202D9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长短期记忆网络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098C-CE0A-03A6-142B-AABCA5F8E5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20</a:t>
            </a:fld>
            <a:endParaRPr lang="en-US" altLang="zh-CN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885877F-E0F6-6350-53CE-0E9F9D842AC0}"/>
                  </a:ext>
                </a:extLst>
              </p:cNvPr>
              <p:cNvSpPr txBox="1"/>
              <p:nvPr/>
            </p:nvSpPr>
            <p:spPr>
              <a:xfrm>
                <a:off x="762000" y="932114"/>
                <a:ext cx="10668000" cy="923330"/>
              </a:xfrm>
              <a:prstGeom prst="rect">
                <a:avLst/>
              </a:prstGeom>
              <a:ln w="12700">
                <a:solidFill>
                  <a:srgbClr val="067D7F"/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+mn-ea"/>
                    <a:cs typeface="宋体" panose="02010600030101010101" pitchFamily="2" charset="-122"/>
                  </a:rPr>
                  <a:t>1</a:t>
                </a:r>
                <a:r>
                  <a:rPr lang="zh-CN" altLang="en-US" dirty="0">
                    <a:latin typeface="+mn-ea"/>
                    <a:cs typeface="宋体" panose="02010600030101010101" pitchFamily="2" charset="-122"/>
                  </a:rPr>
                  <a:t>、通过</a:t>
                </a:r>
                <a:r>
                  <a:rPr lang="zh-CN" altLang="en-US" b="1" dirty="0">
                    <a:latin typeface="+mn-ea"/>
                    <a:cs typeface="宋体" panose="02010600030101010101" pitchFamily="2" charset="-122"/>
                  </a:rPr>
                  <a:t>记忆状态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cs typeface="宋体" panose="02010600030101010101" pitchFamily="2" charset="-122"/>
                  </a:rPr>
                  <a:t>的结构设计，缓解</a:t>
                </a:r>
                <a:r>
                  <a:rPr lang="zh-CN" altLang="en-US" b="1" dirty="0">
                    <a:latin typeface="+mn-ea"/>
                    <a:cs typeface="宋体" panose="02010600030101010101" pitchFamily="2" charset="-122"/>
                  </a:rPr>
                  <a:t>梯度消失</a:t>
                </a:r>
                <a:r>
                  <a:rPr lang="zh-CN" altLang="en-US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问题，使得</a:t>
                </a:r>
                <a:r>
                  <a:rPr lang="zh-CN" altLang="en-US" b="1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长期依赖信息</a:t>
                </a:r>
                <a:r>
                  <a:rPr lang="zh-CN" altLang="en-US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得到学习和保存。</a:t>
                </a:r>
                <a:endParaRPr lang="en-US" altLang="zh-CN" dirty="0">
                  <a:solidFill>
                    <a:srgbClr val="191B1F"/>
                  </a:solidFill>
                  <a:latin typeface="+mn-ea"/>
                  <a:cs typeface="宋体" panose="02010600030101010101" pitchFamily="2" charset="-122"/>
                </a:endParaRPr>
              </a:p>
              <a:p>
                <a:r>
                  <a:rPr lang="en-US" altLang="zh-CN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2</a:t>
                </a:r>
                <a:r>
                  <a:rPr lang="zh-CN" altLang="en-US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、通过遗忘门设计，选择性遗忘不需要的旧信息，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中包含有用信息的位置对应的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会很接近</a:t>
                </a:r>
                <a:r>
                  <a:rPr lang="en-US" altLang="zh-CN" b="1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1</a:t>
                </a:r>
                <a:r>
                  <a:rPr lang="zh-CN" altLang="en-US" b="1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，需遗忘信息的位置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很接近</a:t>
                </a:r>
                <a:r>
                  <a:rPr lang="en-US" altLang="zh-CN" b="1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0</a:t>
                </a:r>
                <a:r>
                  <a:rPr lang="zh-CN" altLang="en-US" dirty="0">
                    <a:solidFill>
                      <a:srgbClr val="191B1F"/>
                    </a:solidFill>
                    <a:latin typeface="+mn-ea"/>
                    <a:cs typeface="宋体" panose="02010600030101010101" pitchFamily="2" charset="-122"/>
                  </a:rPr>
                  <a:t>。</a:t>
                </a:r>
                <a:endParaRPr lang="en-US" altLang="zh-CN" dirty="0">
                  <a:solidFill>
                    <a:srgbClr val="191B1F"/>
                  </a:solidFill>
                  <a:latin typeface="+mn-ea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885877F-E0F6-6350-53CE-0E9F9D842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932114"/>
                <a:ext cx="10668000" cy="923330"/>
              </a:xfrm>
              <a:prstGeom prst="rect">
                <a:avLst/>
              </a:prstGeom>
              <a:blipFill>
                <a:blip r:embed="rId8"/>
                <a:stretch>
                  <a:fillRect l="-400" t="-4575" b="-7843"/>
                </a:stretch>
              </a:blipFill>
              <a:ln w="12700">
                <a:solidFill>
                  <a:srgbClr val="067D7F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E3B494F-ED11-5851-362A-46726C12EF23}"/>
                  </a:ext>
                </a:extLst>
              </p:cNvPr>
              <p:cNvSpPr txBox="1"/>
              <p:nvPr/>
            </p:nvSpPr>
            <p:spPr>
              <a:xfrm>
                <a:off x="838200" y="2908383"/>
                <a:ext cx="11049000" cy="3340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4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altLang="zh-CN" sz="1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sz="1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altLang="zh-CN" sz="14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sz="1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4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sz="1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4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en-US" altLang="zh-CN" sz="14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400" b="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E3B494F-ED11-5851-362A-46726C12E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08383"/>
                <a:ext cx="11049000" cy="33400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1C8B2F-D7BE-FD8A-B68C-8A4B450B5FA6}"/>
                  </a:ext>
                </a:extLst>
              </p:cNvPr>
              <p:cNvSpPr txBox="1"/>
              <p:nvPr/>
            </p:nvSpPr>
            <p:spPr>
              <a:xfrm>
                <a:off x="2520226" y="2445068"/>
                <a:ext cx="9087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1C8B2F-D7BE-FD8A-B68C-8A4B450B5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226" y="2445068"/>
                <a:ext cx="908774" cy="276999"/>
              </a:xfrm>
              <a:prstGeom prst="rect">
                <a:avLst/>
              </a:prstGeom>
              <a:blipFill>
                <a:blip r:embed="rId10"/>
                <a:stretch>
                  <a:fillRect l="-5333" t="-2174" r="-8000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B3F7ABA-B775-B767-D487-2D6DADAF7A99}"/>
                  </a:ext>
                </a:extLst>
              </p:cNvPr>
              <p:cNvSpPr txBox="1"/>
              <p:nvPr/>
            </p:nvSpPr>
            <p:spPr>
              <a:xfrm>
                <a:off x="926756" y="2438400"/>
                <a:ext cx="1074460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B3F7ABA-B775-B767-D487-2D6DADAF7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756" y="2438400"/>
                <a:ext cx="1074460" cy="299569"/>
              </a:xfrm>
              <a:prstGeom prst="rect">
                <a:avLst/>
              </a:prstGeom>
              <a:blipFill>
                <a:blip r:embed="rId11"/>
                <a:stretch>
                  <a:fillRect l="-5114" r="-1136" b="-22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箭头: 右 38">
            <a:extLst>
              <a:ext uri="{FF2B5EF4-FFF2-40B4-BE49-F238E27FC236}">
                <a16:creationId xmlns:a16="http://schemas.microsoft.com/office/drawing/2014/main" id="{8CE1C77B-042E-BEA4-B9B8-59D72AD6CFC9}"/>
              </a:ext>
            </a:extLst>
          </p:cNvPr>
          <p:cNvSpPr/>
          <p:nvPr/>
        </p:nvSpPr>
        <p:spPr>
          <a:xfrm>
            <a:off x="2139226" y="2509591"/>
            <a:ext cx="233600" cy="16632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7B9E8A9-BCCA-C85D-F99E-AA1FB5D5820D}"/>
              </a:ext>
            </a:extLst>
          </p:cNvPr>
          <p:cNvSpPr txBox="1"/>
          <p:nvPr/>
        </p:nvSpPr>
        <p:spPr>
          <a:xfrm>
            <a:off x="4114800" y="5737449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+mn-ea"/>
              </a:rPr>
              <a:t>绿色</a:t>
            </a:r>
            <a:r>
              <a:rPr lang="zh-CN" altLang="en-US" sz="1600" dirty="0">
                <a:latin typeface="+mn-ea"/>
              </a:rPr>
              <a:t>部分可以展开为蓝色部分和红色部分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solidFill>
                  <a:srgbClr val="0000FF"/>
                </a:solidFill>
                <a:latin typeface="+mn-ea"/>
              </a:rPr>
              <a:t>蓝色</a:t>
            </a:r>
            <a:r>
              <a:rPr lang="zh-CN" altLang="en-US" sz="1600" dirty="0">
                <a:latin typeface="+mn-ea"/>
              </a:rPr>
              <a:t>部分通过记忆状态传播梯度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红色</a:t>
            </a:r>
            <a:r>
              <a:rPr lang="zh-CN" altLang="en-US" sz="1600" dirty="0">
                <a:latin typeface="+mn-ea"/>
              </a:rPr>
              <a:t>部分通过隐藏状态传播梯度，和</a:t>
            </a:r>
            <a:r>
              <a:rPr lang="en-US" altLang="zh-CN" sz="1600" dirty="0">
                <a:latin typeface="+mn-ea"/>
              </a:rPr>
              <a:t>RNN</a:t>
            </a:r>
            <a:r>
              <a:rPr lang="zh-CN" altLang="en-US" sz="1600" dirty="0">
                <a:latin typeface="+mn-ea"/>
              </a:rPr>
              <a:t>一样，都可能出现梯度消失</a:t>
            </a:r>
            <a:endParaRPr lang="en-US" altLang="zh-CN" sz="16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5C84140-FDB8-0190-D1CC-65FE5686FA1A}"/>
                  </a:ext>
                </a:extLst>
              </p:cNvPr>
              <p:cNvSpPr txBox="1"/>
              <p:nvPr/>
            </p:nvSpPr>
            <p:spPr>
              <a:xfrm>
                <a:off x="838200" y="1981200"/>
                <a:ext cx="3398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+mn-ea"/>
                  </a:rPr>
                  <a:t>设</a:t>
                </a:r>
                <a:r>
                  <a:rPr lang="en-US" altLang="zh-CN" dirty="0">
                    <a:latin typeface="+mn-ea"/>
                  </a:rPr>
                  <a:t>L</a:t>
                </a:r>
                <a:r>
                  <a:rPr lang="zh-CN" altLang="en-US" dirty="0">
                    <a:latin typeface="+mn-ea"/>
                  </a:rPr>
                  <a:t>为损失函数，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为预测结果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5C84140-FDB8-0190-D1CC-65FE5686F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3398046" cy="369332"/>
              </a:xfrm>
              <a:prstGeom prst="rect">
                <a:avLst/>
              </a:prstGeom>
              <a:blipFill>
                <a:blip r:embed="rId12"/>
                <a:stretch>
                  <a:fillRect l="-1616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38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D3AE6-D91B-2BBF-2EDB-A331BBDD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02BC618-5434-80C0-D57D-71AC64F03C24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长短期记忆网络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6C99D0-6917-D622-4C41-DBB55CBFB0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21</a:t>
            </a:fld>
            <a:endParaRPr lang="en-US" altLang="zh-CN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956DB19-CB90-EF13-E5BA-A502656783F5}"/>
                  </a:ext>
                </a:extLst>
              </p:cNvPr>
              <p:cNvSpPr txBox="1"/>
              <p:nvPr/>
            </p:nvSpPr>
            <p:spPr>
              <a:xfrm>
                <a:off x="838200" y="1066800"/>
                <a:ext cx="9203175" cy="29401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⋯∙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altLang="zh-CN" b="0" i="1" dirty="0">
                  <a:latin typeface="+mn-ea"/>
                </a:endParaRPr>
              </a:p>
              <a:p>
                <a:endParaRPr lang="en-US" altLang="zh-CN" b="0" i="1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𝑡𝑎𝑛h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altLang="zh-CN" i="1" dirty="0">
                  <a:solidFill>
                    <a:srgbClr val="0000FF"/>
                  </a:solidFill>
                  <a:latin typeface="+mn-ea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956DB19-CB90-EF13-E5BA-A50265678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66800"/>
                <a:ext cx="9203175" cy="2940164"/>
              </a:xfrm>
              <a:prstGeom prst="rect">
                <a:avLst/>
              </a:prstGeom>
              <a:blipFill>
                <a:blip r:embed="rId3"/>
                <a:stretch>
                  <a:fillRect l="-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DFEDBA0-DCF5-8A1B-5DB4-42CD35FBC7A5}"/>
                  </a:ext>
                </a:extLst>
              </p:cNvPr>
              <p:cNvSpPr txBox="1"/>
              <p:nvPr/>
            </p:nvSpPr>
            <p:spPr>
              <a:xfrm>
                <a:off x="598764" y="4114800"/>
                <a:ext cx="10831236" cy="1669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0000FF"/>
                    </a:solidFill>
                    <a:latin typeface="+mn-ea"/>
                  </a:rPr>
                  <a:t>蓝色部分</a:t>
                </a:r>
                <a:r>
                  <a:rPr lang="zh-CN" altLang="en-US" dirty="0">
                    <a:latin typeface="+mn-ea"/>
                  </a:rPr>
                  <a:t>的偏导数</a:t>
                </a:r>
                <a:r>
                  <a:rPr lang="zh-CN" altLang="en-US" b="1" dirty="0">
                    <a:latin typeface="+mn-ea"/>
                  </a:rPr>
                  <a:t>没有了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𝒕𝒂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𝒏𝒉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zh-CN" altLang="en-US" b="1" dirty="0">
                    <a:latin typeface="+mn-ea"/>
                  </a:rPr>
                  <a:t>累乘</a:t>
                </a:r>
                <a:r>
                  <a:rPr lang="zh-CN" altLang="en-US" dirty="0">
                    <a:latin typeface="+mn-ea"/>
                  </a:rPr>
                  <a:t>，代之以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累乘。</m:t>
                    </m:r>
                  </m:oMath>
                </a14:m>
                <a:r>
                  <a:rPr lang="zh-CN" altLang="en-US" dirty="0"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全为</a:t>
                </a:r>
                <a:r>
                  <a:rPr lang="en-US" altLang="zh-CN" dirty="0">
                    <a:latin typeface="+mn-ea"/>
                  </a:rPr>
                  <a:t>1</a:t>
                </a:r>
                <a:r>
                  <a:rPr lang="zh-CN" altLang="en-US" dirty="0">
                    <a:latin typeface="+mn-ea"/>
                  </a:rPr>
                  <a:t>，记忆状态的信息无任何衰减地传递，保证了模型可以传播和学习全部长期信息。而</a:t>
                </a:r>
                <a:r>
                  <a:rPr lang="en-US" altLang="zh-CN" dirty="0">
                    <a:latin typeface="+mn-ea"/>
                  </a:rPr>
                  <a:t>1997</a:t>
                </a:r>
                <a:r>
                  <a:rPr lang="zh-CN" altLang="en-US" dirty="0">
                    <a:latin typeface="+mn-ea"/>
                  </a:rPr>
                  <a:t>年</a:t>
                </a:r>
                <a:r>
                  <a:rPr lang="en-US" altLang="zh-CN" dirty="0">
                    <a:latin typeface="+mn-ea"/>
                  </a:rPr>
                  <a:t>Hochreiter</a:t>
                </a:r>
                <a:r>
                  <a:rPr lang="zh-CN" altLang="en-US" dirty="0">
                    <a:latin typeface="+mn-ea"/>
                  </a:rPr>
                  <a:t>和</a:t>
                </a:r>
                <a:r>
                  <a:rPr lang="en-US" altLang="zh-CN" dirty="0" err="1">
                    <a:latin typeface="+mn-ea"/>
                  </a:rPr>
                  <a:t>Schmidhuber</a:t>
                </a:r>
                <a:r>
                  <a:rPr lang="zh-CN" altLang="en-US" dirty="0">
                    <a:latin typeface="+mn-ea"/>
                  </a:rPr>
                  <a:t>提出</a:t>
                </a:r>
                <a:r>
                  <a:rPr lang="en-US" altLang="zh-CN" dirty="0">
                    <a:latin typeface="+mn-ea"/>
                  </a:rPr>
                  <a:t>LSTM</a:t>
                </a:r>
                <a:r>
                  <a:rPr lang="zh-CN" altLang="en-US" dirty="0">
                    <a:latin typeface="+mn-ea"/>
                  </a:rPr>
                  <a:t>时则没有遗忘门，即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全为</a:t>
                </a:r>
                <a:r>
                  <a:rPr lang="en-US" altLang="zh-CN" dirty="0">
                    <a:latin typeface="+mn-ea"/>
                  </a:rPr>
                  <a:t>1</a:t>
                </a:r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ts val="1500"/>
                  </a:lnSpc>
                </a:pPr>
                <a:endParaRPr lang="en-US" altLang="zh-CN" dirty="0">
                  <a:latin typeface="+mn-ea"/>
                </a:endParaRPr>
              </a:p>
              <a:p>
                <a:r>
                  <a:rPr lang="en-US" altLang="zh-CN" dirty="0">
                    <a:latin typeface="+mn-ea"/>
                  </a:rPr>
                  <a:t>2000</a:t>
                </a:r>
                <a:r>
                  <a:rPr lang="zh-CN" altLang="en-US" dirty="0">
                    <a:latin typeface="+mn-ea"/>
                  </a:rPr>
                  <a:t>年</a:t>
                </a:r>
                <a:r>
                  <a:rPr lang="en-US" altLang="zh-CN" dirty="0">
                    <a:latin typeface="+mn-ea"/>
                  </a:rPr>
                  <a:t>Gers</a:t>
                </a:r>
                <a:r>
                  <a:rPr lang="zh-CN" altLang="en-US" dirty="0">
                    <a:latin typeface="+mn-ea"/>
                  </a:rPr>
                  <a:t>加入了遗忘门，让模型主动学习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latin typeface="+mn-ea"/>
                  </a:rPr>
                  <a:t>并发现只记忆有用的长期信息，比保留全部长期信息和完全不要长期信息都要好！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DFEDBA0-DCF5-8A1B-5DB4-42CD35FBC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64" y="4114800"/>
                <a:ext cx="10831236" cy="1669688"/>
              </a:xfrm>
              <a:prstGeom prst="rect">
                <a:avLst/>
              </a:prstGeom>
              <a:blipFill>
                <a:blip r:embed="rId4"/>
                <a:stretch>
                  <a:fillRect l="-450" t="-2555" r="-2589" b="-4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5E8C7D5-F89A-47B7-E22A-57B1B696E42C}"/>
                  </a:ext>
                </a:extLst>
              </p:cNvPr>
              <p:cNvSpPr txBox="1"/>
              <p:nvPr/>
            </p:nvSpPr>
            <p:spPr>
              <a:xfrm>
                <a:off x="571500" y="1077985"/>
                <a:ext cx="5775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将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蓝色</a:t>
                </a:r>
                <a:r>
                  <a:rPr lang="zh-CN" altLang="en-US" dirty="0"/>
                  <a:t>部分全部代回式中，红色部分记为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则有：</a:t>
                </a: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5E8C7D5-F89A-47B7-E22A-57B1B696E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077985"/>
                <a:ext cx="5775940" cy="369332"/>
              </a:xfrm>
              <a:prstGeom prst="rect">
                <a:avLst/>
              </a:prstGeom>
              <a:blipFill>
                <a:blip r:embed="rId5"/>
                <a:stretch>
                  <a:fillRect l="-950" t="-15000" r="-211" b="-2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6B90F55F-AC0E-E684-6C28-BCE1C2F2BDD3}"/>
              </a:ext>
            </a:extLst>
          </p:cNvPr>
          <p:cNvCxnSpPr>
            <a:cxnSpLocks/>
          </p:cNvCxnSpPr>
          <p:nvPr/>
        </p:nvCxnSpPr>
        <p:spPr>
          <a:xfrm>
            <a:off x="6781800" y="1981200"/>
            <a:ext cx="609600" cy="473279"/>
          </a:xfrm>
          <a:prstGeom prst="bentConnector3">
            <a:avLst>
              <a:gd name="adj1" fmla="val 9954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4F8D7D3-EB4E-B15D-2863-A3C9047B6827}"/>
              </a:ext>
            </a:extLst>
          </p:cNvPr>
          <p:cNvSpPr txBox="1"/>
          <p:nvPr/>
        </p:nvSpPr>
        <p:spPr>
          <a:xfrm>
            <a:off x="605755" y="5986768"/>
            <a:ext cx="9060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LSTM</a:t>
            </a:r>
            <a:r>
              <a:rPr lang="zh-CN" altLang="en-US" dirty="0">
                <a:latin typeface="+mn-ea"/>
              </a:rPr>
              <a:t>原论文：</a:t>
            </a:r>
            <a:r>
              <a:rPr lang="en-US" altLang="zh-CN" dirty="0">
                <a:latin typeface="+mn-ea"/>
                <a:hlinkClick r:id="rId6"/>
              </a:rPr>
              <a:t>https://deeplearning.cs.cmu.edu/F23/document/readings/LSTM.pdf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186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F881-B932-D334-D3E7-D3F5617C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C88EF50-C877-5292-8AAB-0D6EDDEDC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458" y="2961368"/>
            <a:ext cx="4080542" cy="100103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C70269A-BE50-57B1-B90D-52D3201E63E7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长短期记忆网络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9154A6-EE97-0A96-D11A-248B58EE73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22</a:t>
            </a:fld>
            <a:endParaRPr lang="en-US" altLang="zh-CN" spc="-5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41F233-4508-0B9A-2FDB-8D2070B43D05}"/>
              </a:ext>
            </a:extLst>
          </p:cNvPr>
          <p:cNvSpPr txBox="1"/>
          <p:nvPr/>
        </p:nvSpPr>
        <p:spPr>
          <a:xfrm>
            <a:off x="762000" y="953869"/>
            <a:ext cx="10058400" cy="1015663"/>
          </a:xfrm>
          <a:prstGeom prst="rect">
            <a:avLst/>
          </a:prstGeom>
          <a:ln w="12700">
            <a:solidFill>
              <a:srgbClr val="067D7F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cs typeface="宋体" panose="02010600030101010101" pitchFamily="2" charset="-122"/>
              </a:rPr>
              <a:t>LSTM</a:t>
            </a:r>
            <a:r>
              <a:rPr lang="zh-CN" altLang="en-US" sz="2000" dirty="0">
                <a:latin typeface="+mn-ea"/>
                <a:cs typeface="宋体" panose="02010600030101010101" pitchFamily="2" charset="-122"/>
              </a:rPr>
              <a:t>本身无法缓解梯度爆炸问题，</a:t>
            </a:r>
            <a:r>
              <a:rPr lang="zh-CN" altLang="en-US" sz="2000" dirty="0">
                <a:latin typeface="+mn-ea"/>
              </a:rPr>
              <a:t>实际训练时遇到</a:t>
            </a:r>
            <a:r>
              <a:rPr lang="zh-CN" altLang="en-US" sz="2000" dirty="0">
                <a:latin typeface="+mn-ea"/>
                <a:cs typeface="宋体" panose="02010600030101010101" pitchFamily="2" charset="-122"/>
              </a:rPr>
              <a:t>梯度爆炸</a:t>
            </a:r>
            <a:r>
              <a:rPr lang="zh-CN" altLang="en-US" sz="2000" dirty="0">
                <a:latin typeface="+mn-ea"/>
              </a:rPr>
              <a:t>会因为偏导数大小超过计算机处理范围，出现</a:t>
            </a:r>
            <a:r>
              <a:rPr lang="en-US" altLang="zh-CN" sz="2000" dirty="0" err="1">
                <a:latin typeface="+mn-ea"/>
              </a:rPr>
              <a:t>NaN</a:t>
            </a:r>
            <a:r>
              <a:rPr lang="zh-CN" altLang="en-US" sz="2000" dirty="0">
                <a:latin typeface="+mn-ea"/>
              </a:rPr>
              <a:t>错误。</a:t>
            </a:r>
            <a:r>
              <a:rPr lang="zh-CN" altLang="en-US" sz="2000" dirty="0">
                <a:latin typeface="+mn-ea"/>
                <a:cs typeface="宋体" panose="02010600030101010101" pitchFamily="2" charset="-122"/>
              </a:rPr>
              <a:t>通常可通过</a:t>
            </a:r>
            <a:r>
              <a:rPr lang="zh-CN" altLang="en-US" sz="2000" b="1" dirty="0">
                <a:latin typeface="+mn-ea"/>
                <a:cs typeface="宋体" panose="02010600030101010101" pitchFamily="2" charset="-122"/>
              </a:rPr>
              <a:t>梯度裁剪</a:t>
            </a:r>
            <a:r>
              <a:rPr lang="en-US" altLang="zh-CN" sz="2000" b="1" dirty="0">
                <a:latin typeface="+mn-ea"/>
                <a:cs typeface="宋体" panose="02010600030101010101" pitchFamily="2" charset="-122"/>
              </a:rPr>
              <a:t>(</a:t>
            </a:r>
            <a:r>
              <a:rPr lang="en-US" altLang="zh-CN" sz="2000" b="1" dirty="0">
                <a:latin typeface="+mn-ea"/>
              </a:rPr>
              <a:t>Gradient Clipping</a:t>
            </a:r>
            <a:r>
              <a:rPr lang="en-US" altLang="zh-CN" sz="2000" b="1" dirty="0">
                <a:latin typeface="+mn-ea"/>
                <a:cs typeface="宋体" panose="02010600030101010101" pitchFamily="2" charset="-122"/>
              </a:rPr>
              <a:t>)</a:t>
            </a:r>
            <a:r>
              <a:rPr lang="zh-CN" altLang="en-US" sz="2000" dirty="0">
                <a:latin typeface="+mn-ea"/>
                <a:cs typeface="宋体" panose="02010600030101010101" pitchFamily="2" charset="-122"/>
              </a:rPr>
              <a:t>和</a:t>
            </a:r>
            <a:r>
              <a:rPr lang="zh-CN" altLang="en-US" sz="2000" b="1" dirty="0">
                <a:latin typeface="+mn-ea"/>
                <a:cs typeface="宋体" panose="02010600030101010101" pitchFamily="2" charset="-122"/>
              </a:rPr>
              <a:t>参数正则化</a:t>
            </a:r>
            <a:r>
              <a:rPr lang="en-US" altLang="zh-CN" sz="2000" b="1" dirty="0">
                <a:latin typeface="+mn-ea"/>
                <a:cs typeface="宋体" panose="02010600030101010101" pitchFamily="2" charset="-122"/>
              </a:rPr>
              <a:t>(Regularization)</a:t>
            </a:r>
            <a:r>
              <a:rPr lang="zh-CN" altLang="en-US" sz="2000" dirty="0">
                <a:latin typeface="+mn-ea"/>
                <a:cs typeface="宋体" panose="02010600030101010101" pitchFamily="2" charset="-122"/>
              </a:rPr>
              <a:t>来解决。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8E2815-CAF5-5283-7828-2EF45AB21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19" y="3285818"/>
            <a:ext cx="5232168" cy="20481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0CB79F9-E246-331E-E55C-5E1EBFFB6CBE}"/>
              </a:ext>
            </a:extLst>
          </p:cNvPr>
          <p:cNvSpPr txBox="1"/>
          <p:nvPr/>
        </p:nvSpPr>
        <p:spPr>
          <a:xfrm>
            <a:off x="755008" y="2142818"/>
            <a:ext cx="5036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</a:t>
            </a:r>
            <a:r>
              <a:rPr lang="zh-CN" altLang="en-US" b="1" dirty="0"/>
              <a:t>、梯度裁剪：</a:t>
            </a:r>
            <a:r>
              <a:rPr lang="zh-CN" altLang="en-US" dirty="0"/>
              <a:t>思想是设置一个梯度剪切阈值，然后更新梯度的时候，如果梯度超过这个阈值，那么就将其强制限制在这个范围之内，以防止梯度爆炸。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C4E0A1-8773-15AB-940F-CFD4D315559B}"/>
              </a:ext>
            </a:extLst>
          </p:cNvPr>
          <p:cNvSpPr txBox="1"/>
          <p:nvPr/>
        </p:nvSpPr>
        <p:spPr>
          <a:xfrm>
            <a:off x="6435058" y="2142818"/>
            <a:ext cx="438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、参数正则化：</a:t>
            </a:r>
            <a:r>
              <a:rPr lang="zh-CN" altLang="en-US" dirty="0"/>
              <a:t>将神经网络权重的范数加入损失函数，以限制权重大小，从而限制梯度大小。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97B61A5-BCCF-5ADC-0DA1-9236431357E8}"/>
                  </a:ext>
                </a:extLst>
              </p:cNvPr>
              <p:cNvSpPr txBox="1"/>
              <p:nvPr/>
            </p:nvSpPr>
            <p:spPr>
              <a:xfrm>
                <a:off x="6539037" y="3756560"/>
                <a:ext cx="2743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0" i="0" dirty="0">
                    <a:solidFill>
                      <a:srgbClr val="191B1F"/>
                    </a:solidFill>
                    <a:effectLst/>
                    <a:latin typeface="-apple-system"/>
                  </a:rPr>
                  <a:t>其中</a:t>
                </a:r>
                <a:r>
                  <a:rPr lang="zh-CN" altLang="en-US" dirty="0">
                    <a:solidFill>
                      <a:srgbClr val="191B1F"/>
                    </a:solidFill>
                    <a:latin typeface="-apple-system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b="0" i="0" dirty="0">
                    <a:solidFill>
                      <a:srgbClr val="191B1F"/>
                    </a:solidFill>
                    <a:effectLst/>
                    <a:latin typeface="-apple-system"/>
                  </a:rPr>
                  <a:t>是正则化系数。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97B61A5-BCCF-5ADC-0DA1-923643135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037" y="3756560"/>
                <a:ext cx="2743200" cy="369332"/>
              </a:xfrm>
              <a:prstGeom prst="rect">
                <a:avLst/>
              </a:prstGeom>
              <a:blipFill>
                <a:blip r:embed="rId5"/>
                <a:stretch>
                  <a:fillRect l="-2000" t="-13115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62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AA7D-0B57-64FE-0B98-5D39A171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F30BE5-A75E-891B-0672-6D119C650DEA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长短期记忆网络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3D8681-BB1A-4308-21B4-42CD172E3B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23</a:t>
            </a:fld>
            <a:endParaRPr lang="en-US" altLang="zh-CN" spc="-5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D0F186A-3178-0078-747F-37620CA6E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276" y="1524000"/>
            <a:ext cx="10601326" cy="40386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E184856-80A8-CECF-A64C-54F5C46127E3}"/>
              </a:ext>
            </a:extLst>
          </p:cNvPr>
          <p:cNvSpPr txBox="1"/>
          <p:nvPr/>
        </p:nvSpPr>
        <p:spPr>
          <a:xfrm>
            <a:off x="1095512" y="1009783"/>
            <a:ext cx="6094602" cy="41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LSTM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实现：</a:t>
            </a:r>
            <a:endParaRPr lang="en-US" altLang="zh-CN" sz="1800" dirty="0">
              <a:solidFill>
                <a:srgbClr val="191B1F"/>
              </a:solidFill>
              <a:latin typeface="-apple-system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899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F4FC-09CE-2E60-9C24-857B9405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3A5A1B0-C8C6-068B-B8C7-1274D7C8E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792" y="2971800"/>
            <a:ext cx="3105413" cy="232121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2910C97-56A2-30DD-CAB6-39D8B16E6452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门控循环单元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F55FDA7-0122-AB2C-BDF9-90FB9C17ABA2}"/>
                  </a:ext>
                </a:extLst>
              </p:cNvPr>
              <p:cNvSpPr txBox="1"/>
              <p:nvPr/>
            </p:nvSpPr>
            <p:spPr>
              <a:xfrm>
                <a:off x="762000" y="1048385"/>
                <a:ext cx="10744200" cy="1881734"/>
              </a:xfrm>
              <a:prstGeom prst="rect">
                <a:avLst/>
              </a:prstGeom>
              <a:ln w="12700">
                <a:solidFill>
                  <a:srgbClr val="067D7F"/>
                </a:solidFill>
                <a:prstDash val="sysDash"/>
              </a:ln>
            </p:spPr>
            <p:txBody>
              <a:bodyPr wrap="square">
                <a:spAutoFit/>
              </a:bodyPr>
              <a:lstStyle/>
              <a:p>
                <a:pPr indent="0" fontAlgn="auto">
                  <a:lnSpc>
                    <a:spcPct val="130000"/>
                  </a:lnSpc>
                </a:pPr>
                <a:r>
                  <a:rPr lang="zh-CN" altLang="en-US" sz="2000" b="1" dirty="0">
                    <a:latin typeface="+mn-ea"/>
                    <a:cs typeface="宋体" panose="02010600030101010101" pitchFamily="2" charset="-122"/>
                  </a:rPr>
                  <a:t>门控循环单元</a:t>
                </a:r>
                <a:r>
                  <a:rPr lang="zh-CN" altLang="en-US" sz="2000" b="1" i="0" dirty="0">
                    <a:solidFill>
                      <a:srgbClr val="191B1F"/>
                    </a:solidFill>
                    <a:effectLst/>
                    <a:latin typeface="+mn-ea"/>
                  </a:rPr>
                  <a:t>（</a:t>
                </a:r>
                <a:r>
                  <a:rPr lang="en-US" altLang="zh-CN" sz="2000" b="1" dirty="0">
                    <a:solidFill>
                      <a:srgbClr val="191B1F"/>
                    </a:solidFill>
                    <a:latin typeface="+mn-ea"/>
                  </a:rPr>
                  <a:t>Gated Recurrent Unit</a:t>
                </a:r>
                <a:r>
                  <a:rPr lang="en-US" altLang="zh-CN" sz="2000" b="1" i="0" dirty="0">
                    <a:solidFill>
                      <a:srgbClr val="191B1F"/>
                    </a:solidFill>
                    <a:effectLst/>
                    <a:latin typeface="+mn-ea"/>
                  </a:rPr>
                  <a:t>, GRU</a:t>
                </a:r>
                <a:r>
                  <a:rPr lang="zh-CN" altLang="en-US" sz="2000" b="1" dirty="0">
                    <a:latin typeface="+mn-ea"/>
                    <a:cs typeface="宋体" panose="02010600030101010101" pitchFamily="2" charset="-122"/>
                  </a:rPr>
                  <a:t>）</a:t>
                </a:r>
                <a:endParaRPr lang="en-US" altLang="zh-CN" sz="2000" b="1" dirty="0">
                  <a:latin typeface="+mn-ea"/>
                  <a:cs typeface="宋体" panose="02010600030101010101" pitchFamily="2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宋体" panose="02010600030101010101" pitchFamily="2" charset="-122"/>
                  </a:rPr>
                  <a:t>对</a:t>
                </a:r>
                <a:r>
                  <a:rPr lang="en-US" altLang="zh-CN" dirty="0">
                    <a:solidFill>
                      <a:schemeClr val="tx1"/>
                    </a:solidFill>
                    <a:uFillTx/>
                    <a:latin typeface="+mn-ea"/>
                    <a:cs typeface="宋体" panose="02010600030101010101" pitchFamily="2" charset="-122"/>
                  </a:rPr>
                  <a:t>LSTM</a:t>
                </a: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宋体" panose="02010600030101010101" pitchFamily="2" charset="-122"/>
                  </a:rPr>
                  <a:t>进行简化，将记忆状态和隐藏状态合并，</a:t>
                </a:r>
                <a:r>
                  <a:rPr lang="zh-CN" altLang="en-US">
                    <a:latin typeface="+mn-ea"/>
                    <a:cs typeface="宋体" panose="02010600030101010101" pitchFamily="2" charset="-122"/>
                  </a:rPr>
                  <a:t>合并后新的</a:t>
                </a:r>
                <a:r>
                  <a:rPr lang="zh-CN" altLang="en-US" dirty="0">
                    <a:latin typeface="+mn-ea"/>
                    <a:cs typeface="宋体" panose="02010600030101010101" pitchFamily="2" charset="-122"/>
                  </a:rPr>
                  <a:t>隐藏状态保持原梯度传播路径，以缓解梯度消失问题。</a:t>
                </a: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宋体" panose="02010600030101010101" pitchFamily="2" charset="-122"/>
                  </a:rPr>
                  <a:t>将遗忘门和输入门合并为</a:t>
                </a:r>
                <a:r>
                  <a:rPr lang="zh-CN" altLang="en-US" b="1" dirty="0">
                    <a:solidFill>
                      <a:schemeClr val="tx1"/>
                    </a:solidFill>
                    <a:uFillTx/>
                    <a:latin typeface="+mn-ea"/>
                    <a:cs typeface="宋体" panose="02010600030101010101" pitchFamily="2" charset="-122"/>
                  </a:rPr>
                  <a:t>更新门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宋体" panose="02010600030101010101" pitchFamily="2" charset="-122"/>
                  </a:rPr>
                  <a:t>，</a:t>
                </a:r>
                <a:r>
                  <a:rPr lang="zh-CN" altLang="en-US" dirty="0">
                    <a:latin typeface="+mn-ea"/>
                  </a:rPr>
                  <a:t>用于控制输出信息中当前输入和历史信息的融合权重；</a:t>
                </a: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宋体" panose="02010600030101010101" pitchFamily="2" charset="-122"/>
                  </a:rPr>
                  <a:t>输出门替换为</a:t>
                </a:r>
                <a:r>
                  <a:rPr lang="zh-CN" altLang="en-US" b="1" dirty="0">
                    <a:solidFill>
                      <a:schemeClr val="tx1"/>
                    </a:solidFill>
                    <a:uFillTx/>
                    <a:latin typeface="+mn-ea"/>
                    <a:cs typeface="宋体" panose="02010600030101010101" pitchFamily="2" charset="-122"/>
                  </a:rPr>
                  <a:t>重置门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，用于控制历史信息对当前输入的影响。</a:t>
                </a:r>
                <a:r>
                  <a:rPr lang="zh-CN" altLang="en-US" dirty="0">
                    <a:latin typeface="+mn-ea"/>
                    <a:cs typeface="宋体" panose="02010600030101010101" pitchFamily="2" charset="-122"/>
                  </a:rPr>
                  <a:t>使得</a:t>
                </a:r>
                <a:r>
                  <a:rPr lang="zh-CN" altLang="en-US" dirty="0">
                    <a:solidFill>
                      <a:schemeClr val="tx1"/>
                    </a:solidFill>
                    <a:uFillTx/>
                    <a:latin typeface="+mn-ea"/>
                    <a:cs typeface="宋体" panose="02010600030101010101" pitchFamily="2" charset="-122"/>
                  </a:rPr>
                  <a:t>模型参数量更少，所需训练数据更少，训练和推理速度更快。</a:t>
                </a:r>
                <a:endParaRPr lang="en-US" altLang="zh-CN" dirty="0">
                  <a:solidFill>
                    <a:schemeClr val="tx1"/>
                  </a:solidFill>
                  <a:uFillTx/>
                  <a:latin typeface="+mn-ea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F55FDA7-0122-AB2C-BDF9-90FB9C17A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048385"/>
                <a:ext cx="10744200" cy="1881734"/>
              </a:xfrm>
              <a:prstGeom prst="rect">
                <a:avLst/>
              </a:prstGeom>
              <a:blipFill>
                <a:blip r:embed="rId4"/>
                <a:stretch>
                  <a:fillRect l="-510" r="-113" b="-3537"/>
                </a:stretch>
              </a:blipFill>
              <a:ln w="12700">
                <a:solidFill>
                  <a:srgbClr val="067D7F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382761-D7D3-ED0B-9378-12A06DD4AA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625276" y="5850255"/>
            <a:ext cx="804724" cy="245745"/>
          </a:xfrm>
        </p:spPr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24</a:t>
            </a:fld>
            <a:endParaRPr lang="en-US" altLang="zh-CN" spc="-5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5D7AA1-B6BD-643A-F481-2A9868885405}"/>
              </a:ext>
            </a:extLst>
          </p:cNvPr>
          <p:cNvSpPr txBox="1"/>
          <p:nvPr/>
        </p:nvSpPr>
        <p:spPr>
          <a:xfrm>
            <a:off x="6533602" y="321206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GRU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41557E-29CC-9114-711D-C47E515DA7A1}"/>
              </a:ext>
            </a:extLst>
          </p:cNvPr>
          <p:cNvSpPr txBox="1"/>
          <p:nvPr/>
        </p:nvSpPr>
        <p:spPr>
          <a:xfrm>
            <a:off x="947457" y="32120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LSTM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6149B10-8729-2E76-4E10-DD6FCBAECF05}"/>
              </a:ext>
            </a:extLst>
          </p:cNvPr>
          <p:cNvSpPr/>
          <p:nvPr/>
        </p:nvSpPr>
        <p:spPr>
          <a:xfrm>
            <a:off x="5649890" y="4011179"/>
            <a:ext cx="446110" cy="4846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00F6F61-BFFF-7FF7-A0B3-726C60E85E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1" r="577" b="15801"/>
          <a:stretch>
            <a:fillRect/>
          </a:stretch>
        </p:blipFill>
        <p:spPr>
          <a:xfrm>
            <a:off x="1671240" y="3105094"/>
            <a:ext cx="2820590" cy="215270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C9D7EE1-56FF-5270-7B7E-302DD3357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5209806"/>
            <a:ext cx="2305215" cy="41856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EC0435F-56B6-D150-910D-81564AAF5E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49"/>
          <a:stretch>
            <a:fillRect/>
          </a:stretch>
        </p:blipFill>
        <p:spPr>
          <a:xfrm>
            <a:off x="897955" y="5558226"/>
            <a:ext cx="2502201" cy="3491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012F0BD-B237-8CC0-3967-CCE6DF26D6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680" y="5544847"/>
            <a:ext cx="1882729" cy="34911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7E6A494-870B-9802-D872-ED0B69FFE0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03"/>
          <a:stretch>
            <a:fillRect/>
          </a:stretch>
        </p:blipFill>
        <p:spPr>
          <a:xfrm>
            <a:off x="923488" y="5851687"/>
            <a:ext cx="2361513" cy="39671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A1EBE4A-145C-0246-72DB-32752836E7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49"/>
          <a:stretch>
            <a:fillRect/>
          </a:stretch>
        </p:blipFill>
        <p:spPr>
          <a:xfrm>
            <a:off x="3352800" y="5214254"/>
            <a:ext cx="2502201" cy="34911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E7A0C56-0D5D-34ED-37CE-DD89E0FF01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26"/>
          <a:stretch>
            <a:fillRect/>
          </a:stretch>
        </p:blipFill>
        <p:spPr>
          <a:xfrm>
            <a:off x="3369182" y="5875440"/>
            <a:ext cx="2361513" cy="349115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49928341-B7C0-08F9-2813-CE35E9DB15F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5338649"/>
            <a:ext cx="2085091" cy="69934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F52F7ED-E9A1-2309-E457-0F928D2BCF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547" y="5290652"/>
            <a:ext cx="2469299" cy="75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9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0C9FC-8158-1E99-4D06-7B381A30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F19DF2C-7E74-1189-898F-DF30D5973F71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门控循环单元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A26EC79-0C24-CC26-323D-C1956C2DE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69083"/>
              </p:ext>
            </p:extLst>
          </p:nvPr>
        </p:nvGraphicFramePr>
        <p:xfrm>
          <a:off x="1447800" y="1828800"/>
          <a:ext cx="7848600" cy="201315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12514199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3518355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670103345"/>
                    </a:ext>
                  </a:extLst>
                </a:gridCol>
              </a:tblGrid>
              <a:tr h="331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/>
                        <a:t>特性</a:t>
                      </a:r>
                    </a:p>
                  </a:txBody>
                  <a:tcPr marL="82960" marR="82960" marT="41480" marB="4148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GRU</a:t>
                      </a:r>
                    </a:p>
                  </a:txBody>
                  <a:tcPr marL="82960" marR="82960" marT="41480" marB="4148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LSTM</a:t>
                      </a:r>
                    </a:p>
                  </a:txBody>
                  <a:tcPr marL="82960" marR="82960" marT="41480" marB="4148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482215"/>
                  </a:ext>
                </a:extLst>
              </a:tr>
              <a:tr h="353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门控数量</a:t>
                      </a:r>
                    </a:p>
                  </a:txBody>
                  <a:tcPr marL="82960" marR="82960" marT="41480" marB="4148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/>
                        <a:t>2</a:t>
                      </a:r>
                      <a:r>
                        <a:rPr lang="zh-CN" altLang="en-US" sz="1600" dirty="0"/>
                        <a:t>个门（更新门、重置门）</a:t>
                      </a:r>
                    </a:p>
                  </a:txBody>
                  <a:tcPr marL="82960" marR="82960" marT="41480" marB="4148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/>
                        <a:t>3</a:t>
                      </a:r>
                      <a:r>
                        <a:rPr lang="zh-CN" altLang="en-US" sz="1600" dirty="0"/>
                        <a:t>个门（输入门、遗忘门、输出门）</a:t>
                      </a:r>
                    </a:p>
                  </a:txBody>
                  <a:tcPr marL="82960" marR="82960" marT="41480" marB="4148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69563620"/>
                  </a:ext>
                </a:extLst>
              </a:tr>
              <a:tr h="331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记忆状态</a:t>
                      </a:r>
                    </a:p>
                  </a:txBody>
                  <a:tcPr marL="82960" marR="82960" marT="41480" marB="41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无单独记忆状态</a:t>
                      </a:r>
                    </a:p>
                  </a:txBody>
                  <a:tcPr marL="82960" marR="82960" marT="41480" marB="41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有独立的记忆状态</a:t>
                      </a:r>
                      <a:endParaRPr lang="en-US" sz="1600" dirty="0"/>
                    </a:p>
                  </a:txBody>
                  <a:tcPr marL="82960" marR="82960" marT="41480" marB="41480" anchor="ctr"/>
                </a:tc>
                <a:extLst>
                  <a:ext uri="{0D108BD9-81ED-4DB2-BD59-A6C34878D82A}">
                    <a16:rowId xmlns:a16="http://schemas.microsoft.com/office/drawing/2014/main" val="2538483467"/>
                  </a:ext>
                </a:extLst>
              </a:tr>
              <a:tr h="331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参数数量</a:t>
                      </a:r>
                    </a:p>
                  </a:txBody>
                  <a:tcPr marL="82960" marR="82960" marT="41480" marB="41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约减少</a:t>
                      </a:r>
                      <a:r>
                        <a:rPr lang="en-US" altLang="zh-CN" sz="1600" dirty="0"/>
                        <a:t>33%</a:t>
                      </a:r>
                    </a:p>
                  </a:txBody>
                  <a:tcPr marL="82960" marR="82960" marT="41480" marB="41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参数较多</a:t>
                      </a:r>
                    </a:p>
                  </a:txBody>
                  <a:tcPr marL="82960" marR="82960" marT="41480" marB="41480" anchor="ctr"/>
                </a:tc>
                <a:extLst>
                  <a:ext uri="{0D108BD9-81ED-4DB2-BD59-A6C34878D82A}">
                    <a16:rowId xmlns:a16="http://schemas.microsoft.com/office/drawing/2014/main" val="1490814610"/>
                  </a:ext>
                </a:extLst>
              </a:tr>
              <a:tr h="331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计算速度</a:t>
                      </a:r>
                    </a:p>
                  </a:txBody>
                  <a:tcPr marL="82960" marR="82960" marT="41480" marB="41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快</a:t>
                      </a:r>
                      <a:r>
                        <a:rPr lang="en-US" altLang="zh-CN" sz="1600"/>
                        <a:t>20-30%</a:t>
                      </a:r>
                    </a:p>
                  </a:txBody>
                  <a:tcPr marL="82960" marR="82960" marT="41480" marB="41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相对较慢</a:t>
                      </a:r>
                    </a:p>
                  </a:txBody>
                  <a:tcPr marL="82960" marR="82960" marT="41480" marB="41480" anchor="ctr"/>
                </a:tc>
                <a:extLst>
                  <a:ext uri="{0D108BD9-81ED-4DB2-BD59-A6C34878D82A}">
                    <a16:rowId xmlns:a16="http://schemas.microsoft.com/office/drawing/2014/main" val="608136036"/>
                  </a:ext>
                </a:extLst>
              </a:tr>
              <a:tr h="331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长序列表现</a:t>
                      </a:r>
                    </a:p>
                  </a:txBody>
                  <a:tcPr marL="82960" marR="82960" marT="41480" marB="41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适合中等长度序列</a:t>
                      </a:r>
                    </a:p>
                  </a:txBody>
                  <a:tcPr marL="82960" marR="82960" marT="41480" marB="41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更适合超长序列</a:t>
                      </a:r>
                    </a:p>
                  </a:txBody>
                  <a:tcPr marL="82960" marR="82960" marT="41480" marB="41480" anchor="ctr"/>
                </a:tc>
                <a:extLst>
                  <a:ext uri="{0D108BD9-81ED-4DB2-BD59-A6C34878D82A}">
                    <a16:rowId xmlns:a16="http://schemas.microsoft.com/office/drawing/2014/main" val="31899146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30EC6E7-545F-D2ED-928A-A8AA31FF8F9D}"/>
              </a:ext>
            </a:extLst>
          </p:cNvPr>
          <p:cNvSpPr txBox="1"/>
          <p:nvPr/>
        </p:nvSpPr>
        <p:spPr>
          <a:xfrm>
            <a:off x="1447800" y="4419600"/>
            <a:ext cx="9220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cs typeface="宋体" panose="02010600030101010101" pitchFamily="2" charset="-122"/>
              </a:rPr>
              <a:t>学习</a:t>
            </a:r>
            <a:r>
              <a:rPr lang="zh-CN" altLang="en-US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</a:rPr>
              <a:t>文章：</a:t>
            </a:r>
            <a:r>
              <a:rPr lang="en-US" altLang="zh-CN" dirty="0">
                <a:solidFill>
                  <a:schemeClr val="tx1"/>
                </a:solidFill>
                <a:uFillTx/>
                <a:latin typeface="+mn-ea"/>
                <a:cs typeface="宋体" panose="02010600030101010101" pitchFamily="2" charset="-122"/>
                <a:hlinkClick r:id="rId3"/>
              </a:rPr>
              <a:t>Written Memories: Understanding, Deriving and Extending the LSTM</a:t>
            </a:r>
            <a:endParaRPr lang="en-US" altLang="zh-CN" dirty="0">
              <a:solidFill>
                <a:schemeClr val="tx1"/>
              </a:solidFill>
              <a:uFillTx/>
              <a:latin typeface="+mn-ea"/>
              <a:cs typeface="宋体" panose="02010600030101010101" pitchFamily="2" charset="-122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  <a:cs typeface="宋体" panose="02010600030101010101" pitchFamily="2" charset="-122"/>
              </a:rPr>
              <a:t>GRU</a:t>
            </a:r>
            <a:r>
              <a:rPr lang="zh-CN" altLang="en-US" dirty="0">
                <a:latin typeface="+mn-ea"/>
                <a:cs typeface="宋体" panose="02010600030101010101" pitchFamily="2" charset="-122"/>
              </a:rPr>
              <a:t>原论文：</a:t>
            </a:r>
            <a:r>
              <a:rPr lang="en-US" altLang="zh-CN" dirty="0">
                <a:latin typeface="+mn-ea"/>
                <a:cs typeface="宋体" panose="02010600030101010101" pitchFamily="2" charset="-122"/>
                <a:hlinkClick r:id="rId4"/>
              </a:rPr>
              <a:t>https://arxiv.org/pdf/1406.1078</a:t>
            </a:r>
            <a:endParaRPr lang="en-US" altLang="zh-CN" dirty="0">
              <a:latin typeface="+mn-ea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150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DD15-B24D-4AD5-C81B-1E1A1BC5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92004C8-1F35-B414-0B29-816CC5B82A14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+mn-ea"/>
              </a:rPr>
              <a:t>门控循环单元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DA0C3C-417D-FD98-473A-2B2CC8A89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524000"/>
            <a:ext cx="9343569" cy="381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3CA652A-D3F4-1FB8-031F-D69BBA1ACA23}"/>
              </a:ext>
            </a:extLst>
          </p:cNvPr>
          <p:cNvSpPr txBox="1"/>
          <p:nvPr/>
        </p:nvSpPr>
        <p:spPr>
          <a:xfrm>
            <a:off x="1095512" y="1009783"/>
            <a:ext cx="6094602" cy="41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GRU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实现：</a:t>
            </a:r>
            <a:endParaRPr lang="en-US" altLang="zh-CN" sz="1800" dirty="0">
              <a:solidFill>
                <a:srgbClr val="191B1F"/>
              </a:solidFill>
              <a:latin typeface="-apple-system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28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066B-FBC5-2D49-27CF-4DC506B0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7665383-1EEF-3E0E-4A39-6EFC45C098F5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4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双向循环神经网络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21E180-9309-709C-F3DF-27CBFC03D9E7}"/>
              </a:ext>
            </a:extLst>
          </p:cNvPr>
          <p:cNvSpPr txBox="1"/>
          <p:nvPr/>
        </p:nvSpPr>
        <p:spPr>
          <a:xfrm>
            <a:off x="762000" y="953869"/>
            <a:ext cx="10058400" cy="1946687"/>
          </a:xfrm>
          <a:prstGeom prst="rect">
            <a:avLst/>
          </a:prstGeom>
          <a:ln w="12700">
            <a:solidFill>
              <a:srgbClr val="067D7F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RNN/LSTM/GRU</a:t>
            </a:r>
            <a:r>
              <a:rPr lang="zh-CN" altLang="en-US" dirty="0">
                <a:latin typeface="+mn-ea"/>
              </a:rPr>
              <a:t>都只能依据之前时刻的时序信息来预测下一时刻的输出，但在有些问题中，当前时刻的输出不仅和之前的状态有关，还可能和未来的状态有关系。比如做机器翻译、序列标注等任务时，当前词的含义不仅需要根据前文来判断，还需要考虑它后面的内容，真正做到</a:t>
            </a:r>
            <a:r>
              <a:rPr lang="zh-CN" altLang="en-US" b="1" dirty="0">
                <a:latin typeface="+mn-ea"/>
              </a:rPr>
              <a:t>基于上下文判断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>
              <a:lnSpc>
                <a:spcPts val="1000"/>
              </a:lnSpc>
            </a:pP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双向循环神经网络（</a:t>
            </a:r>
            <a:r>
              <a:rPr lang="en-US" altLang="zh-CN" b="1" dirty="0">
                <a:latin typeface="+mn-ea"/>
              </a:rPr>
              <a:t>Bidirectional</a:t>
            </a:r>
            <a:r>
              <a:rPr lang="en-US" altLang="zh-CN" dirty="0">
                <a:latin typeface="+mn-ea"/>
              </a:rPr>
              <a:t> </a:t>
            </a:r>
            <a:r>
              <a:rPr lang="en-US" altLang="zh-CN" b="1" dirty="0">
                <a:latin typeface="+mn-ea"/>
              </a:rPr>
              <a:t>RNN/LSTM/GRU</a:t>
            </a:r>
            <a:r>
              <a:rPr lang="zh-CN" altLang="en-US" dirty="0">
                <a:latin typeface="+mn-ea"/>
              </a:rPr>
              <a:t>）由正反两个方向的</a:t>
            </a:r>
            <a:r>
              <a:rPr lang="en-US" altLang="zh-CN" dirty="0">
                <a:latin typeface="+mn-ea"/>
              </a:rPr>
              <a:t>RNN/LSTM/GRU</a:t>
            </a:r>
            <a:r>
              <a:rPr lang="zh-CN" altLang="en-US" dirty="0">
                <a:latin typeface="+mn-ea"/>
              </a:rPr>
              <a:t>组合而成，每个位置的输出由其</a:t>
            </a:r>
            <a:r>
              <a:rPr lang="zh-CN" altLang="en-US" b="1" dirty="0">
                <a:latin typeface="+mn-ea"/>
              </a:rPr>
              <a:t>前后两个方向</a:t>
            </a:r>
            <a:r>
              <a:rPr lang="zh-CN" altLang="en-US" dirty="0">
                <a:latin typeface="+mn-ea"/>
              </a:rPr>
              <a:t>的状态共同决定。其中，</a:t>
            </a:r>
            <a:r>
              <a:rPr lang="zh-CN" altLang="en-US" dirty="0"/>
              <a:t>反向</a:t>
            </a:r>
            <a:r>
              <a:rPr lang="zh-CN" altLang="en-US" dirty="0">
                <a:latin typeface="+mn-ea"/>
              </a:rPr>
              <a:t>神经网络</a:t>
            </a:r>
            <a:r>
              <a:rPr lang="zh-CN" altLang="en-US" dirty="0"/>
              <a:t>层的计算过程与正向相同，但是</a:t>
            </a:r>
            <a:r>
              <a:rPr lang="zh-CN" altLang="en-US" b="1" dirty="0"/>
              <a:t>输入序列的方向相反</a:t>
            </a:r>
            <a:r>
              <a:rPr lang="zh-CN" altLang="en-US" dirty="0"/>
              <a:t>，并且其对应的</a:t>
            </a:r>
            <a:r>
              <a:rPr lang="zh-CN" altLang="en-US" b="1" dirty="0"/>
              <a:t>权重矩阵和偏置项独立于正向层</a:t>
            </a:r>
            <a:r>
              <a:rPr lang="zh-CN" altLang="en-US" dirty="0"/>
              <a:t>。</a:t>
            </a:r>
            <a:endParaRPr lang="en-US" altLang="zh-CN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8475B06-7C0B-78A4-24B5-2368360B6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37" y="2971800"/>
            <a:ext cx="6705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3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FB3C3-88AF-95D8-AEC1-C839535C8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6B95DE-5A3F-8831-850E-27EA269243BC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4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双向循环神经网络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D28E60-8987-6A09-442B-8D44A7F33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820" y="914637"/>
            <a:ext cx="8315325" cy="51911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E270EE1-218C-4122-0185-FF88F0F6DB0F}"/>
              </a:ext>
            </a:extLst>
          </p:cNvPr>
          <p:cNvSpPr txBox="1"/>
          <p:nvPr/>
        </p:nvSpPr>
        <p:spPr>
          <a:xfrm>
            <a:off x="979543" y="1066800"/>
            <a:ext cx="3810000" cy="45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序列生成任务（</a:t>
            </a:r>
            <a:r>
              <a:rPr lang="zh-CN" altLang="en-US" sz="2000" b="1" dirty="0">
                <a:latin typeface="Times New Roman" panose="02020603050405020304" pitchFamily="18" charset="0"/>
                <a:cs typeface="宋体" panose="02010600030101010101" pitchFamily="2" charset="-122"/>
              </a:rPr>
              <a:t>翻译、标注等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000" b="1" dirty="0">
              <a:solidFill>
                <a:srgbClr val="191B1F"/>
              </a:solidFill>
              <a:latin typeface="-apple-system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583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09E78-109F-10F9-6316-AA7338C2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3598C04-1BD1-4D57-6253-FB5B0AF37917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4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双向循环神经网络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9EDEA8-38FA-169B-4971-BB9ECC44F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897160"/>
            <a:ext cx="9334500" cy="52006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AB57B04-9BAD-DDC8-893B-32ECB0C50E62}"/>
              </a:ext>
            </a:extLst>
          </p:cNvPr>
          <p:cNvSpPr txBox="1"/>
          <p:nvPr/>
        </p:nvSpPr>
        <p:spPr>
          <a:xfrm>
            <a:off x="996321" y="1063426"/>
            <a:ext cx="3880479" cy="45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分类、判别任务（如情感分析）</a:t>
            </a:r>
            <a:endParaRPr lang="en-US" altLang="zh-CN" sz="2000" b="1" dirty="0">
              <a:solidFill>
                <a:srgbClr val="191B1F"/>
              </a:solidFill>
              <a:latin typeface="-apple-system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484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B7F1-EE56-A6B3-ED10-A8B837767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0AD382A-AC17-AADE-0E79-4C76A55BE48F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3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.</a:t>
            </a:r>
            <a:r>
              <a:rPr lang="en-US" altLang="zh-CN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4 </a:t>
            </a:r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双向循环神经网络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F87FBD-9506-E222-6888-027A9B01A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295400"/>
            <a:ext cx="9088118" cy="53919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D43CE26-AB90-7BA2-ABC0-33112BD92593}"/>
              </a:ext>
            </a:extLst>
          </p:cNvPr>
          <p:cNvSpPr txBox="1"/>
          <p:nvPr/>
        </p:nvSpPr>
        <p:spPr>
          <a:xfrm>
            <a:off x="1600200" y="838523"/>
            <a:ext cx="6094602" cy="41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3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Bi-LSTM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实现：</a:t>
            </a:r>
            <a:endParaRPr lang="en-US" altLang="zh-CN" sz="1800" dirty="0">
              <a:solidFill>
                <a:srgbClr val="191B1F"/>
              </a:solidFill>
              <a:latin typeface="-apple-system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E9E874-C263-E6CE-88A1-3411794E04F5}"/>
              </a:ext>
            </a:extLst>
          </p:cNvPr>
          <p:cNvSpPr/>
          <p:nvPr/>
        </p:nvSpPr>
        <p:spPr>
          <a:xfrm>
            <a:off x="2133600" y="3474147"/>
            <a:ext cx="2819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47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93C9E1-EDBA-7ACB-711E-4F8E820D30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31</a:t>
            </a:fld>
            <a:endParaRPr lang="en-US" altLang="zh-CN" spc="-5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B95-47C6-C116-A9FE-7A15A2FF1AAD}"/>
              </a:ext>
            </a:extLst>
          </p:cNvPr>
          <p:cNvSpPr txBox="1"/>
          <p:nvPr/>
        </p:nvSpPr>
        <p:spPr>
          <a:xfrm>
            <a:off x="989330" y="252000"/>
            <a:ext cx="944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循环神经网络总结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25F222-371A-AA7E-7AEB-7640F2DE56B3}"/>
              </a:ext>
            </a:extLst>
          </p:cNvPr>
          <p:cNvSpPr txBox="1"/>
          <p:nvPr/>
        </p:nvSpPr>
        <p:spPr>
          <a:xfrm>
            <a:off x="1219200" y="2209800"/>
            <a:ext cx="87863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用途：</a:t>
            </a:r>
            <a:r>
              <a:rPr lang="zh-CN" altLang="en-US" sz="2000" dirty="0">
                <a:latin typeface="+mn-ea"/>
              </a:rPr>
              <a:t>预测、分类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r>
              <a:rPr lang="zh-CN" altLang="en-US" sz="2000" b="1" dirty="0">
                <a:latin typeface="+mn-ea"/>
              </a:rPr>
              <a:t>特性：</a:t>
            </a:r>
            <a:endParaRPr lang="en-US" altLang="zh-CN" sz="2000" b="1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、通过</a:t>
            </a:r>
            <a:r>
              <a:rPr lang="zh-CN" altLang="en-US" sz="2000" b="1" dirty="0">
                <a:latin typeface="+mn-ea"/>
              </a:rPr>
              <a:t>循环连接</a:t>
            </a:r>
            <a:r>
              <a:rPr lang="zh-CN" altLang="en-US" sz="2000" dirty="0">
                <a:latin typeface="+mn-ea"/>
              </a:rPr>
              <a:t>设计，串联地处理时序数据，每个时刻</a:t>
            </a:r>
            <a:r>
              <a:rPr lang="zh-CN" altLang="en-US" sz="2000" b="1" dirty="0">
                <a:latin typeface="+mn-ea"/>
              </a:rPr>
              <a:t>共享</a:t>
            </a:r>
            <a:r>
              <a:rPr lang="zh-CN" altLang="en-US" sz="2000" dirty="0">
                <a:latin typeface="+mn-ea"/>
              </a:rPr>
              <a:t>神经网络参数</a:t>
            </a:r>
            <a:endParaRPr lang="en-US" altLang="zh-CN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>
                <a:latin typeface="+mn-ea"/>
              </a:rPr>
              <a:t>、通过</a:t>
            </a:r>
            <a:r>
              <a:rPr lang="zh-CN" altLang="en-US" sz="2000" b="1" dirty="0">
                <a:latin typeface="+mn-ea"/>
              </a:rPr>
              <a:t>记忆状态</a:t>
            </a:r>
            <a:r>
              <a:rPr lang="zh-CN" altLang="en-US" sz="2000" dirty="0">
                <a:latin typeface="+mn-ea"/>
              </a:rPr>
              <a:t>的</a:t>
            </a:r>
            <a:r>
              <a:rPr lang="zh-CN" altLang="en-US" sz="2000" b="1" dirty="0">
                <a:solidFill>
                  <a:srgbClr val="333333"/>
                </a:solidFill>
                <a:latin typeface="+mn-ea"/>
              </a:rPr>
              <a:t>梯度传播路径</a:t>
            </a:r>
            <a:r>
              <a:rPr lang="zh-CN" altLang="en-US" sz="2000" dirty="0">
                <a:solidFill>
                  <a:srgbClr val="333333"/>
                </a:solidFill>
                <a:latin typeface="+mn-ea"/>
              </a:rPr>
              <a:t>优化（类似残差连接），解决梯度衰减问题</a:t>
            </a:r>
            <a:endParaRPr lang="en-US" altLang="zh-CN" sz="2000" dirty="0">
              <a:solidFill>
                <a:srgbClr val="333333"/>
              </a:solidFill>
              <a:latin typeface="+mn-ea"/>
            </a:endParaRPr>
          </a:p>
          <a:p>
            <a:r>
              <a:rPr lang="en-US" altLang="zh-CN" sz="2000" dirty="0">
                <a:solidFill>
                  <a:srgbClr val="333333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rgbClr val="333333"/>
                </a:solidFill>
                <a:latin typeface="+mn-ea"/>
              </a:rPr>
              <a:t>、通过</a:t>
            </a:r>
            <a:r>
              <a:rPr lang="zh-CN" altLang="en-US" sz="2000" b="1" dirty="0">
                <a:solidFill>
                  <a:srgbClr val="333333"/>
                </a:solidFill>
                <a:latin typeface="+mn-ea"/>
              </a:rPr>
              <a:t>门控机制</a:t>
            </a:r>
            <a:r>
              <a:rPr lang="zh-CN" altLang="en-US" sz="2000" dirty="0">
                <a:solidFill>
                  <a:srgbClr val="333333"/>
                </a:solidFill>
                <a:latin typeface="+mn-ea"/>
              </a:rPr>
              <a:t>，过滤不需要的信息，保留有用的信息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507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6200" y="2514637"/>
            <a:ext cx="11963400" cy="525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noProof="0" dirty="0">
                <a:ln>
                  <a:noFill/>
                </a:ln>
                <a:solidFill>
                  <a:srgbClr val="067D8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</a:t>
            </a:r>
            <a:r>
              <a:rPr lang="zh-CN" altLang="en-US" sz="5400" dirty="0">
                <a:solidFill>
                  <a:srgbClr val="067D8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代码</a:t>
            </a:r>
            <a:r>
              <a:rPr lang="zh-CN" altLang="en-US" sz="5400" noProof="0" dirty="0">
                <a:ln>
                  <a:noFill/>
                </a:ln>
                <a:solidFill>
                  <a:srgbClr val="067D8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实现案例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67D8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1060A-B4F9-43A1-9C54-EEC2C3C9E745}" type="slidenum">
              <a:rPr lang="zh-CN" altLang="en-US">
                <a:solidFill>
                  <a:srgbClr val="003366"/>
                </a:solidFill>
              </a:rPr>
              <a:t>32</a:t>
            </a:fld>
            <a:endParaRPr lang="en-US" altLang="zh-CN">
              <a:solidFill>
                <a:srgbClr val="003366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3BCFB9-EF45-B72F-81AD-95E7C11EA798}"/>
              </a:ext>
            </a:extLst>
          </p:cNvPr>
          <p:cNvSpPr txBox="1"/>
          <p:nvPr/>
        </p:nvSpPr>
        <p:spPr>
          <a:xfrm>
            <a:off x="3352800" y="3440668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见代码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lstm-ts-pred.ipynb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lstm-ts-classify.ipynb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" y="2514637"/>
            <a:ext cx="12192000" cy="525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dirty="0">
                <a:solidFill>
                  <a:srgbClr val="067D8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</a:t>
            </a:r>
            <a:r>
              <a:rPr sz="5400" noProof="0" dirty="0">
                <a:ln>
                  <a:noFill/>
                </a:ln>
                <a:solidFill>
                  <a:srgbClr val="067D8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5400" noProof="0" dirty="0">
                <a:ln>
                  <a:noFill/>
                </a:ln>
                <a:solidFill>
                  <a:srgbClr val="067D8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领域进展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67D8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41060A-B4F9-43A1-9C54-EEC2C3C9E745}" type="slidenum">
              <a:rPr lang="zh-CN" altLang="en-US">
                <a:solidFill>
                  <a:srgbClr val="003366"/>
                </a:solidFill>
              </a:rPr>
              <a:t>33</a:t>
            </a:fld>
            <a:endParaRPr lang="en-US" altLang="zh-CN">
              <a:solidFill>
                <a:srgbClr val="00336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400E9-ACF9-6C13-05B1-45A2BFBB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7DFC7ED-A47C-0865-1F4C-4BBD776A1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529200"/>
            <a:ext cx="4855895" cy="5799600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E47A5C0C-DF92-3117-7949-41F2B06A24B7}"/>
              </a:ext>
            </a:extLst>
          </p:cNvPr>
          <p:cNvSpPr>
            <a:spLocks noGrp="1"/>
          </p:cNvSpPr>
          <p:nvPr/>
        </p:nvSpPr>
        <p:spPr>
          <a:xfrm>
            <a:off x="1048385" y="144000"/>
            <a:ext cx="10470515" cy="679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Transformer</a:t>
            </a:r>
            <a:endParaRPr lang="zh-CN" altLang="en-US" sz="3600" dirty="0">
              <a:solidFill>
                <a:srgbClr val="115522"/>
              </a:solidFill>
              <a:latin typeface="Times New Roman" panose="02020603050405020304" pitchFamily="18" charset="0"/>
              <a:ea typeface="思源宋体 CN Heavy" panose="020209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154F2D-3F93-DB43-57DE-A61B417F16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34</a:t>
            </a:fld>
            <a:endParaRPr lang="en-US" altLang="zh-CN" spc="-5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441589-3A1A-522C-2A90-32DEFDC7F6F3}"/>
              </a:ext>
            </a:extLst>
          </p:cNvPr>
          <p:cNvSpPr txBox="1"/>
          <p:nvPr/>
        </p:nvSpPr>
        <p:spPr>
          <a:xfrm>
            <a:off x="7198894" y="1676400"/>
            <a:ext cx="40025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RWKV</a:t>
            </a:r>
          </a:p>
          <a:p>
            <a:endParaRPr lang="en-US" altLang="zh-CN" dirty="0"/>
          </a:p>
          <a:p>
            <a:r>
              <a:rPr lang="zh-CN" altLang="en-US" dirty="0"/>
              <a:t>论文：</a:t>
            </a:r>
            <a:r>
              <a:rPr lang="en-US" altLang="zh-CN" dirty="0">
                <a:hlinkClick r:id="rId4"/>
              </a:rPr>
              <a:t>https://arxiv.org/pdf/1706.03762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7329B1-88BA-2275-25E4-7BE7FA0C4958}"/>
              </a:ext>
            </a:extLst>
          </p:cNvPr>
          <p:cNvSpPr txBox="1"/>
          <p:nvPr/>
        </p:nvSpPr>
        <p:spPr>
          <a:xfrm>
            <a:off x="7198894" y="2999229"/>
            <a:ext cx="39036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自注意力、交叉注意力、多头注意力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位置编码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编码器、解码器</a:t>
            </a:r>
          </a:p>
        </p:txBody>
      </p:sp>
    </p:spTree>
    <p:extLst>
      <p:ext uri="{BB962C8B-B14F-4D97-AF65-F5344CB8AC3E}">
        <p14:creationId xmlns:p14="http://schemas.microsoft.com/office/powerpoint/2010/main" val="160472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/>
        </p:nvSpPr>
        <p:spPr>
          <a:xfrm>
            <a:off x="1048385" y="144000"/>
            <a:ext cx="10470515" cy="679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Informer</a:t>
            </a:r>
            <a:endParaRPr lang="zh-CN" altLang="en-US" sz="3600" dirty="0">
              <a:solidFill>
                <a:srgbClr val="115522"/>
              </a:solidFill>
              <a:latin typeface="Times New Roman" panose="02020603050405020304" pitchFamily="18" charset="0"/>
              <a:ea typeface="思源宋体 CN Heavy" panose="020209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35</a:t>
            </a:fld>
            <a:endParaRPr lang="en-US" altLang="zh-CN" spc="-5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F55DCF-570A-16FC-E412-B687C7DE9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98" y="990600"/>
            <a:ext cx="6400800" cy="50479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03E3A80-BEC5-06FB-D365-AE7E95FEB9A9}"/>
              </a:ext>
            </a:extLst>
          </p:cNvPr>
          <p:cNvSpPr txBox="1"/>
          <p:nvPr/>
        </p:nvSpPr>
        <p:spPr>
          <a:xfrm>
            <a:off x="6630530" y="1676400"/>
            <a:ext cx="529824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论文：</a:t>
            </a:r>
            <a:r>
              <a:rPr lang="en-US" altLang="zh-CN" dirty="0">
                <a:hlinkClick r:id="rId4"/>
              </a:rPr>
              <a:t>https://arxiv.org/pdf/2012.07436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Github</a:t>
            </a:r>
            <a:r>
              <a:rPr lang="zh-CN" altLang="en-US" dirty="0"/>
              <a:t>：</a:t>
            </a:r>
            <a:r>
              <a:rPr lang="en-US" altLang="zh-CN" dirty="0">
                <a:hlinkClick r:id="rId5"/>
              </a:rPr>
              <a:t>https://github.com/zhouhaoyi/Informer2020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en-US" b="1" dirty="0"/>
              <a:t>概率稀疏注意力，减少耗时和内存，适应超长序列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卷积下采样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同时预测多步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AC23-11F4-E489-5551-6CE07159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171CB2D1-683D-38F9-FE5B-9B518E7676FD}"/>
              </a:ext>
            </a:extLst>
          </p:cNvPr>
          <p:cNvSpPr>
            <a:spLocks noGrp="1"/>
          </p:cNvSpPr>
          <p:nvPr/>
        </p:nvSpPr>
        <p:spPr>
          <a:xfrm>
            <a:off x="1048385" y="144000"/>
            <a:ext cx="10470515" cy="679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PGN</a:t>
            </a:r>
            <a:r>
              <a:rPr lang="zh-CN" altLang="en-US" sz="360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和</a:t>
            </a:r>
            <a:r>
              <a:rPr lang="en-US" altLang="zh-CN" sz="360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TPGN</a:t>
            </a:r>
            <a:endParaRPr lang="zh-CN" altLang="en-US" sz="3600" dirty="0">
              <a:solidFill>
                <a:srgbClr val="115522"/>
              </a:solidFill>
              <a:latin typeface="Times New Roman" panose="02020603050405020304" pitchFamily="18" charset="0"/>
              <a:ea typeface="思源宋体 CN Heavy" panose="020209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1DCE15-21F6-6EA2-47F0-5C0355741D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36</a:t>
            </a:fld>
            <a:endParaRPr lang="en-US" altLang="zh-CN" spc="-5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A80D0F-E7A9-2713-F008-D6E7F5A43001}"/>
              </a:ext>
            </a:extLst>
          </p:cNvPr>
          <p:cNvSpPr txBox="1"/>
          <p:nvPr/>
        </p:nvSpPr>
        <p:spPr>
          <a:xfrm>
            <a:off x="816838" y="1312381"/>
            <a:ext cx="1021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论文：</a:t>
            </a:r>
            <a:r>
              <a:rPr lang="en-US" altLang="zh-CN" dirty="0">
                <a:hlinkClick r:id="rId3"/>
              </a:rPr>
              <a:t>https://neurips.cc/virtual/2024/poster/92992</a:t>
            </a:r>
            <a:r>
              <a:rPr lang="en-US" altLang="zh-CN" dirty="0"/>
              <a:t>    </a:t>
            </a:r>
            <a:r>
              <a:rPr lang="en-US" altLang="zh-CN" dirty="0" err="1"/>
              <a:t>Github</a:t>
            </a:r>
            <a:r>
              <a:rPr lang="zh-CN" altLang="en-US" dirty="0"/>
              <a:t>：</a:t>
            </a:r>
            <a:r>
              <a:rPr lang="en-US" altLang="zh-CN" dirty="0">
                <a:hlinkClick r:id="rId4"/>
              </a:rPr>
              <a:t>https://github.com/Water2sea/TPGN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并行门控网络，将信息传播路径缩短到</a:t>
            </a:r>
            <a:r>
              <a:rPr lang="en-US" altLang="zh-CN" b="1" dirty="0"/>
              <a:t>1</a:t>
            </a:r>
            <a:r>
              <a:rPr lang="zh-CN" altLang="en-US" b="1" dirty="0"/>
              <a:t>步；长期信息提取</a:t>
            </a:r>
            <a:r>
              <a:rPr lang="en-US" altLang="zh-CN" b="1" dirty="0"/>
              <a:t>+</a:t>
            </a:r>
            <a:r>
              <a:rPr lang="zh-CN" altLang="en-US" b="1" dirty="0"/>
              <a:t>短期信息提取。</a:t>
            </a:r>
            <a:endParaRPr lang="zh-CN" altLang="en-US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2B7C1430-76FC-4F70-D89F-751BE7FEA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8" y="2743200"/>
            <a:ext cx="11705484" cy="247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78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65F2F763-C95A-F433-68B3-9F5CCE46E2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r="13575" b="10862"/>
          <a:stretch>
            <a:fillRect/>
          </a:stretch>
        </p:blipFill>
        <p:spPr bwMode="auto">
          <a:xfrm>
            <a:off x="533400" y="1725240"/>
            <a:ext cx="80267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标题 8"/>
          <p:cNvSpPr>
            <a:spLocks noGrp="1"/>
          </p:cNvSpPr>
          <p:nvPr/>
        </p:nvSpPr>
        <p:spPr>
          <a:xfrm>
            <a:off x="1048385" y="144000"/>
            <a:ext cx="10470515" cy="679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solidFill>
                  <a:srgbClr val="115522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rPr>
              <a:t>HSTU</a:t>
            </a:r>
            <a:endParaRPr lang="zh-CN" altLang="en-US" sz="3600" dirty="0">
              <a:solidFill>
                <a:srgbClr val="115522"/>
              </a:solidFill>
              <a:latin typeface="Times New Roman" panose="02020603050405020304" pitchFamily="18" charset="0"/>
              <a:ea typeface="思源宋体 CN Heavy" panose="020209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37</a:t>
            </a:fld>
            <a:endParaRPr lang="en-US" altLang="zh-CN" spc="-5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2F20F1-F6FE-7CDC-5374-B4ABCDD87188}"/>
              </a:ext>
            </a:extLst>
          </p:cNvPr>
          <p:cNvSpPr txBox="1"/>
          <p:nvPr/>
        </p:nvSpPr>
        <p:spPr>
          <a:xfrm>
            <a:off x="3200400" y="737628"/>
            <a:ext cx="6449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论文：</a:t>
            </a:r>
            <a:r>
              <a:rPr lang="en-US" altLang="zh-CN" dirty="0">
                <a:hlinkClick r:id="rId4"/>
              </a:rPr>
              <a:t>https://arxiv.org/pdf/2402.17152</a:t>
            </a:r>
            <a:endParaRPr lang="en-US" altLang="zh-CN" dirty="0"/>
          </a:p>
          <a:p>
            <a:r>
              <a:rPr lang="en-US" altLang="zh-CN" dirty="0" err="1"/>
              <a:t>Github:</a:t>
            </a:r>
            <a:r>
              <a:rPr lang="en-US" altLang="zh-CN" dirty="0" err="1">
                <a:hlinkClick r:id="rId5"/>
              </a:rPr>
              <a:t>https</a:t>
            </a:r>
            <a:r>
              <a:rPr lang="en-US" altLang="zh-CN" dirty="0">
                <a:hlinkClick r:id="rId5"/>
              </a:rPr>
              <a:t>://github.com/meta-</a:t>
            </a:r>
            <a:r>
              <a:rPr lang="en-US" altLang="zh-CN" dirty="0" err="1">
                <a:hlinkClick r:id="rId5"/>
              </a:rPr>
              <a:t>recsys</a:t>
            </a:r>
            <a:r>
              <a:rPr lang="en-US" altLang="zh-CN" dirty="0">
                <a:hlinkClick r:id="rId5"/>
              </a:rPr>
              <a:t>/generative-recommenders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68398E-C27B-2455-AA6D-3C6D6328816F}"/>
              </a:ext>
            </a:extLst>
          </p:cNvPr>
          <p:cNvSpPr txBox="1"/>
          <p:nvPr/>
        </p:nvSpPr>
        <p:spPr>
          <a:xfrm>
            <a:off x="8280551" y="2362200"/>
            <a:ext cx="297228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主序列</a:t>
            </a:r>
            <a:r>
              <a:rPr lang="en-US" altLang="zh-CN" b="1" dirty="0"/>
              <a:t>+</a:t>
            </a:r>
            <a:r>
              <a:rPr lang="zh-CN" altLang="en-US" b="1" dirty="0"/>
              <a:t>辅助序列</a:t>
            </a:r>
            <a:r>
              <a:rPr lang="en-US" altLang="zh-CN" b="1" dirty="0"/>
              <a:t>+</a:t>
            </a:r>
            <a:r>
              <a:rPr lang="zh-CN" altLang="en-US" b="1" dirty="0"/>
              <a:t>静态特征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Attention</a:t>
            </a:r>
            <a:r>
              <a:rPr lang="zh-CN" altLang="en-US" b="1" dirty="0"/>
              <a:t>优化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工程性能大幅提升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生成式推荐 </a:t>
            </a:r>
            <a:r>
              <a:rPr lang="en-US" altLang="zh-CN" b="1" dirty="0"/>
              <a:t>-&gt; </a:t>
            </a:r>
            <a:r>
              <a:rPr lang="en-US" altLang="zh-CN" dirty="0"/>
              <a:t>scaling law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0169" y="0"/>
            <a:ext cx="12192000" cy="6858000"/>
          </a:xfrm>
          <a:prstGeom prst="rect">
            <a:avLst/>
          </a:prstGeom>
        </p:spPr>
      </p:pic>
      <p:pic>
        <p:nvPicPr>
          <p:cNvPr id="4" name="图片 3" descr="图片包含 游戏机, 画, 食物, 标志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53620" y="2345095"/>
            <a:ext cx="10387025" cy="1106805"/>
          </a:xfrm>
          <a:prstGeom prst="rect">
            <a:avLst/>
          </a:prstGeom>
          <a:noFill/>
          <a:effectLst>
            <a:outerShdw blurRad="25400" dist="50800" dir="600000" algn="tl" rotWithShape="0">
              <a:schemeClr val="accent1">
                <a:lumMod val="60000"/>
                <a:lumOff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rgbClr val="115522"/>
                </a:solidFill>
                <a:latin typeface="微软雅黑" panose="020B0503020204020204" charset="-122"/>
                <a:ea typeface="微软雅黑" panose="020B0503020204020204" charset="-122"/>
              </a:rPr>
              <a:t>谢  谢  ！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t>38</a:t>
            </a:fld>
            <a:endParaRPr lang="en-US" altLang="zh-CN"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04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50496062992124,&quot;left&quot;:291.9685039370079,&quot;top&quot;:86.84858267716535,&quot;width&quot;:568.721574803149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TEM_CNT" val="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DQzNDE0NTk0NDc2IiwKCSJHcm91cElkIiA6ICIzODY0MjczNjgiLAoJIkltYWdlIiA6ICJpVkJPUncwS0dnb0FBQUFOU1VoRVVnQUFBM0lBQUFFQ0NBSUFBQUEwQ0hKZUFBQUFBWE5TUjBJQXJzNGM2UUFBSUFCSlJFRlVlSnp0M1hkY1U5Zi9QL0NiQkpLd2tZMWFSRkJRb1NJdEt0YWlZQlVSMGRaVmNlSWVkV3RWNnE3VktvcFdLMFZicWRzNkVDZWlWQnhZRVJWcWhhcGxpQ0lJdU5nUXN1L3ZqL1A3M2tjK2dDaHdJUkJlenovNlNHN1dPL1I2ODdybm5zR2hhWm9DQUFBQUFLZ2Zycm9MQUFBQUFBQk5nRmdKQUFBQUFDeEFyQVFBQUFBQUZpQldBZ0FBQUFBTEVDc0JBQUFBZ0FXSWxRQUFBQURBQXNSS0FBQUFBR0FCWWlVQUFBQUFzQUN4RWdBQUFBQllnRmdKQUFBQUFDeEFyQVFBQUFBQUZpQldBZ0FBQUFBTEVDc0JBQUFBZ0FXSWxRQUFBQURBQXNSS0FBQUFBR0FCWWlVQUFBQUFzQUN4RWdBQUFBQllnRmdKQUFBQUFDeEFyQVFBQUFBQUZpQldBZ0FBQUFBTEVDc0JBQUFBZ0FXSWxRQUFBQURBQXNSS0FBQUFBR0FCWWlVQUFBQUFzQUN4RWdBQUFBQllnRmdKQUFBQUFDeEFyQVFBQUFBQUZpQldBZ0FBQUFBTEVDc0JBQUFBZ0FXSWxRQUFBQURBQXNSS0FBQUFBR0FCWWlVQUFBQUFzQUN4RWdBQUFBQllnRmdKQUFBQUFDeEFyQVFBQUFBQUZtaXB1d0FBYUR3dlg3NTg4ZUtGdXFzQWFBdzZPanFPam81YVd2aVpBMmc4K1BjRzBGTGs1dWF1VzdjdU16TlQzWVVBTkFhQlFEQm56aHdmSHg5MUZ3TFFnaUJXQXJRVXVibTVtWm1aK2ZuNU9qbzZQQjVQM2VVQU5DQ1JTS1JVS3A4OWUwYlROSWZEVVhjNUFDMEZZaVZBeTZLam96Tjc5bXhIUjBkMUZ3TFFnSDc4OGNmbno1OXpPQnhrU29ER2hGZ0owTEx3ZUR4SFIwYzNOemQxRndMUWdQVDA5Q2lLVWlxVmFLMEVhRXdZQ1E0QUFBQUFMRUNzQkFBQUFBQVdJRllDQUFBQUFBc1FLd0VBQUFDQUJZaVZBQUFBQU1BQ3hFb0FBQUFBWUFGaUpRQUFBQUN3QUxFU0FBQUFBRmlBV0FrQUFBQUFMRUNzQkFBQUFBQVdJRllDQUFBQUFBc1FLd0VBQUFDQUJZaVZBQUFBQU1BQ3hFb0FBQUFBWUFGaUpRQUFBQUN3QUxFU0FBQUFBRmlBV0FrQUFBQUFMRUNzQkFBQUFBQVdJRllDQUFBQUFBc1FLd0VBQUFDQUJZaVZBQUFBQU1BQ0xYVVhBQUFBVUYraG9hRVZGUlhNM1pjdlgxSVVkZmZ1WFpGSXhPRnd5RVl6TTdPQWdBRDExUWlnK1JBckFRQ2cyY3ZQeno5NzlteWxqUThmUG56NDhDRnpkL0xreVkxZUYwRExnb3ZnQUFEUTdBMGVQSmpjb0dtNjBrUE1saUZEaGpSNlhRQXRDMklsQUFBMGU3YTJ0dTNhdGF2aENaMDZkYXI1Q1FCUWY0aVZBQURRN09ucDZYMzg4Y2ZrdG1xREpYUGIxOWRYVGFVQnRDQ0lsUUFBME93SkJBSm5aMmVoVUZqdG80YUdoajE2OUdqMG9nQmFITVJLQUFEUUJNN096a1pHUnVRMmFhUWsvK1Z3T0owN2R6WTFOVlYzZ1FDYUQ3RVNBQUEwZ2IyOXZZMk5UZFh0SEE3SDJkblowTkJRSFVVQnRDeUlsUUFBb0FuNGZIN2Z2bjJaV1NvWk9qbzZ6czdPV2xxWVVBK2d3U0ZXQWdDQWhoZzRjQ0FUSDVuQk9nWUdCazVPVG1xdEM2Q2xRS3dFQUFBTllXSmk0dTd1cnRwZ3llRndYRjFkMGJFU29IRWdWZ0lBZ09hb091ZjVWMTk5cGFaYUFGb2N4RW9BQU5BY0xpNHVyVnExSWcyV0hBN0gxTlMwZS9mdTZpNEtvS1ZBckFRQUFNMmhyNi9mclZzMzVpNnpxQ01BTkFMRVNnQUEwQnhDb2JCejU4NDhIby9ENFdocGFmWHQyMWZkRlFHMElJaVZBQUNnT1RnY1R0ZXVYWTJOalNtSzZ0aXhvN1cxdGJvckFtaEJFQ3NCQUVDamRPN2MyZExTa3FJb0psOENRT05BckFRQUFJMmlyNi92N3U0dUZBcWRuWjBGQW9HNnl3Rm9RUkFyQVFCQTAvVHYzMTlmWDkvWjJWbmRoUUMwTEJ4bUhZSkdWbGhZbUphV2xwV1ZsWldWVlZaV3BwWWFvR1o2ZW5vMk5qWWZmZlNSbzZPamlZbUp1c3RSZytMaTR2VDA5T3pzN09mUG54Y1hGNnU3blBvU2lVUzV1YmswVGJkcDAwWlhWMWZkNWRTWHJxNHUyVC90N2UzSkZVK29XWXM2NnRJMC9mang0eTVkdWxSZHk3RUpFZ2dFSDMzMGtZMk5qWjJkWFpzMmJkUmREa0RkcVNGV0toU0tQLy84YyszYXRibTV1ZVhsNWVYbDVUS1pySkZyZ0EraHJhMnRwNmVucDZkbmJtNitkdTFhUHorL2xyT29MazNUY1hGeHExYXR5c2pJRUlsRVpXVmxVcWxVM1VYQi85RFMwdExYMTlmVjFiV3dzSmcvZi82RUNSTmF6djVaV3dxRjRzS0ZDei8rK0dPTE91cHl1VnlsVXFudUtqNElqOGNqQjF0alkrTVpNMmJNbWpWTEtCU3F1eWlBT3FFYmwxd3VYN0JnQVk3K3pZNldsdGFjT1hQa2Nua2o3ekJxSVpmTDE2NWRxNjJ0cmU2L090VENxRkdqS2lvcTFMM3ZORVU0NmpZN2d3WU5Fb2xFNnQ1eEFPcWlzVnNyRHgwNk5HWEtGSVZDUVZHVW1ablpaNTk5MXI1OWU0elVhNXBLU2txZVBYc1dIeC8vNnRVcmNqNjlkKy9leVpNbnE3dXVCbmZtekpsUm8wYVJ2ZFRBd09Eenp6KzN0N2ZIbXNKTmpVS2h5TS9QVDB4TVRFaElJRnQrK09HSFZhdFdxYnV1SmdkSDNhYVBwdW44L1B5a3BLUmJ0MjZSTFFzWEx2enBwNS9VWFJkQXJUVnFyTXpLeXZyaWl5K2VQSGxDVWRTQUFRTTJiOTVzWTJOallHREE1L01iclFiNGNGS3B0S3lzTERzN2UrWEtsVkZSVVJSRnRXN2QrdGF0VyszYnQxZDNhUTBvSnlkbjlPalJjWEZ4RkVYMTd0MTcrL2J0dHJhMmhvYUdHRS9hMUNpVlNvbEVrcCtmdjJQSGp1M2J0MU1VMWI1OSt4TW5UbUNsUGxWWldWbjkrL2RQVDAvSFViY3BvMmxhSXBFVUZCUWNPSENBbkJvWkdSbEZSa1orL3ZubjZpNE5vSFlhZFNUNHZYdjM4dkx5eUJsemFHaW9xNnVycWFrcGptNU5GcC9QTnpFeGNYRngyYmR2bjRXRkJVVlJiOSsrdlhuenBycnJhbGpKeWNua045akl5R2pUcGszZHUzYzNOemRIcG15Q3VGeXVqbzVPMjdadEZ5OWUvTmxubjVGVEFuSStBSXg3OSs3bDV1WlNGR1ZwYVltamJwUEY0WENFUW1IcjFxMFhMVm8wYU5BZ2lxSktTMHV2WGJ1bTdyb0FhcTFSWTJWQlFZRmNMcWNveXN2THk4cktxakUvR3VyRDJOalkxOWVYdEEvbDUrZXJ1NXlHVlZSVVZGRlJRVkdVcTZ1cm82T2p1c3VCOTdPd3NQRHc4S0FvU2lhVEZSWVdxbXQyaTZhSk9lb09HalFJUjkybVR5QVErUG41a2ZiTGdvS0M1akxrQ0lEUnFMR3lzTENRREQ5czE2NGRocmsxSTFwYVdyYTJ0aVJXRmhRVXFMdWNobFZjWEV4aXBhV2xwWkdSa2JyTGdmZmo4WGlXbHBZOEhvK202YUtpSXRLSkVBam1xR3R2YjQramJ0UEg0WERJNVJHYXBvdUxpeVVTaWJvckFxaWRSbzJWWXJHWW5IdnA2ZW54ZUx6Ry9HaW9EeTZYYTJob1NHSmxlWG01dXN0cFdCS0poTFR1Q0lWQ1hDdHNGamdjanI2K1BqbWtpRVFpeEVwVk9PbzJMeHdPUjBkSGh4eDV4R0p4UzVnSENqUU1WdGtCQUFBQUFCWWdWZ0lBQUFBQUN4QXJBUUFBQUlBRmlKVUFBQUFBd0FMRVNnQUFBQUJnQVdJbEFBQUFBTEFBc1JJQUFBQUFXSUJZQ1FBQUFBQXNRS3dFQUFBQUFCWWdWZ0lBQUFBQUN4QXJBUUFBQUlBRmlKVUFBQUFBd0FJdGRSY0FBQUFBVUJjMFRWZFVWRWdrRXJsY3J2Zy9GRVh4L28rV2xwWkFJTkRSMGVGd09Pb3V0a1ZBckFRQUFJQm1KanM3T3lrcDZjR0RCOG5KeVM5ZXZDZ3RMUzB0TFMwckt5c3RMYVVvU2w5ZjM4REFnUHkzYmR1MlhidDI3ZHExcTZ1cnE0Mk5qYm9MMTNDSWxRQUFBTkE4S0pYS3VMaTRiZHUyUFg3OHVMQ3dzTEN3a0RSUFZsSlFVRkJRVU1EY1BYUG1qTEd4c1ltSlNjZU9IZWZPbmV2dDdjM2o4UnEzOEpZQ3NSSUFBQUNhdXRMUzBzZVBILy93d3crWEwxK3VOa3JXUUtGUTVPZm41K2ZucDZlblIwZEhEeGd3WVBYcTFjN096Z1lHQnJnNHppNE0yUUZRZzlqWTJNMmJOMHVsMGpxL3crblRweU1pSWlpS0tpb3Fxc1BMczdPelQ1MDZKUktKNmx3QXRGaEZSVVduVHAxS1MwdHI1TStsYVZyMWJtWm1wdXJkK3Z4cmVxK01qQXlaVEZaMSs0c1hMOFJpY2NOOUxoQktwZkxreVpOang0NzE5UFM4ZVBGaWJUTmxKUXFGNHZMbHkxNWVYaU5HakRoMjdGZzkzdzBxUVdzbGdCcGN2MzU5L2ZyMUN4Y3VyUE03L1B6enp3cUZRa3RMYS9Ma3laR1JrWjk5OWxtMVQvUHg4ZW5TcGN2Mjdkc3JiWStQai9mMzk4L0p5ZEhWMVgzWFI3eDU4MmJzMkxGTGxpeng4Zkg1OE1MS3k4djkvZjIxdExTMHRHbzZ2SFRvMEdIVHBrMGYvcmJRZEdSbFpYMzk5ZGZidG0xemNIQWdXNlJTYWFWVEZCMGRIWUZBVU9tRmhZV0ZEZzRPWm1abVpOOG9MeTkzZFhXTmlJaW9xS2l3c2JGaHRvdEVvazZkT2wyOGVGSDF0V0t4Mk4vZmY5Q2dRVE5uenFRb0tpNHV6c3ZMNjh5Wk00TUhEeVpQbUROblRrWkd4dFdyVjFsdmZDb29LT2pSbzhmMDZkTTNiOTZzdWwycFZQYnAwNmRQbno0SERoeGc5eE5CVlZsWjJjcVZLdzhmUGx4WVdGanRFOHpNekR3OFBCd2RIYTJ0cmEyc3JOcTBhY1BsY25OeWN2THk4dkx5OGpJeU1tN2N1UEg2OWV0S3I1SktwVEV4TVltSmliR3hzVUZCUWNiR3hvM3liVFFmWWlWQVkvamxsMS9TMHRKKytPRUhRME5EaXFLMHRiVXBpdUx6K1hWK1F5MHRMUTZINCtycXFxK3ZQMlRJa05qWVdHZG41NnBQSXdNa3EyNG5QL2xWZi9oVlRaczI3Y2FORyt2WHIvL3Z2LzhPSHo3TTUvT3IvY0dXeVdROWUvWWNNbVFJdWN2aGNDd3RMUVVDUWJYZlRxRlE3Tisvdjd5OHZIZnYzclg1dXRDRUNJVkM1ci9Fc1dQSEprK2VyUHFjN2R1M1Z6MXIwdFBUeTgvUHYzTGxTcmR1M1NpSyt1R0hIKzdmdjA4eWFHRmhJYk45NjlhdDE2NWRxL1JhZ1VBZ0VvbVdMRm5pNmVucDZPallvMGVQMXExYmI5MjZsY1RLN096c3c0Y1B6NXc1czlwZGRQWHExZHJhMmgveXowMVhWM2YrL1BtVk5nWUdCaFlXRnBxWW1JU0ZoWkV0Q29YQ3hNU2tvcUlpTXpQVHc4T0RpWnMwVFV1bDBubno1cG1ZbUx6M3MrQkRQSC8rZk9uU3BSRVJFVXFsVW5XN2dZR0JuWjNkMTE5LzdlUGo4OGtubjd6M2ZaS1NrcTVjdVhMczJMSDA5SFF5cG9jb0tpb0tDd3ZMek13TURRMjF0N2R2bUMvUnNpQldBalNHZmZ2MjVlWGw3ZGl4Zzl3VkNBUThIby9MclhzdkZCSXJiV3hzb3FPaisvVHBzMnJWcXJObnp6S1Azcmh4NDhpUkl5RWhJWHcrbi9rMXpjN09mdkhpQlVtMFdWbFpGRVU5ZXZSSVIwZUgvQlk2T1RtcG5xK3ZXYlBtd29VTDY5YXQ2OVdyMThPSEQwdExTL2w4UGlrNEt5c3JQRHg4NXN5Wit2cjZORTNMWkRLSlJNSzhVRmRYbC9uMXJhU3NyTXpmMzE4a0VxMWJ0eTR3TUxETzN4M1VpK3hSWkVkU2xaMmRUVTVVcksydDMvVkMxWDJlcG1rbW02cUdWTlh0REE2SHMzLy8vcTVkdTQ0ZlAvNzI3ZHZhMnRwejVzeFp2bng1V2xxYWc0UERtalZyQkFMQjh1WExxLzNjUzVjdWtYOElOVGRrWm1Sa1ZGUlVWSXFWa1pHUisvZnZEd2tKV2JGaWhhZW41Nnhac3lpS2tzdmxwYVdseTVjdm56MTd0a1FpQ1FzTE8zYnNHSWZEb1dsYUlwSG82T2pVOENudzRTNWZ2cngwNmRLSER4K3FibXpWcXRXUUlVTkdqaHc1WU1DQXF2dkp1N2k0dUxpNHVNeWRPemNtSnViczJiUG56cDE3Ky9ZdGVVaXBWUDc1NTU5RGh3N2R2SGt6YzNvTWRZWllDZERnU2twS2twT1RKMDZjV0lmTGN6RXhNY3poVDlYcjE2K1ZTdVh4NDhjcGlwbzVjNmFOamMzaHc0ZVZTbVZBUUFEcHUzbisvUG13c0RBdWw4dDhhRXhNeko0OWUwZ21JRDB5QXdNRHVWd3UrUzBNQ1FucDJiTW5lV1pJU01pR0RSdW1UcDI2YXRVcWlxS2NuWjEzN2RxbFdsSjRlUGpLbFN2YnRtMzc0VjhrSnlkbnlKQWhLU2tweDQ0ZCsvcnJyMnY3ZDRDbWpPeGpKaVltSkZHOXE3TmFSVVdGVXFsOC9mcjFpeGN2eUwrTGlvb0s4cnRlVVZIQmJDOHVMaWJiSzJuVHBzMmVQWHRHang2OWMrZk9iNy85ZHNLRUNjSEJ3UThmUG56ejVzM2h3NGQzN2RyVnVuWHJhajgzTVRHUjNGQXFsZEhSMFlNR0RhcjJhVXVYTHExME9mdnAwNmRUcDA3ZHRtM2JOOTk4OCtqUm85T25UNTg4ZVpMUDV4Y1hGdzhjT05ESnlXbm56cDJKaVluNzkrOVBTVW1aTUdGQzdmOXk4RTUzN3R5Wk4yL2VreWRQVkRlNnVibnQzcjNid2NHaGJrTnRoRUxoNE1HRHllbkJOOTk4azVDUXdEejArUEhqT1hQbThQbjhnUU1Ic3ZRTldpakVTb0FHZCt2V0xZVkNvVlFxbVdhOGhJUUVtcVlydGVwSnBWSmpZK094WThlcWJseTllblZHUm9hOXZUMkh3eUdIVWZMZjU4K2ZrMnZycWkvbjhYZ2tWajU0OElCY1QxUTFlZkprNWtybDVjdVhmWDE5bzZPajlmWDFWWitqVUNnQ0F3TzNiZHMyZS9ic2tKQVFNaUtoWThlTzlmd0xKQ2NuKy9uNWljWGltSmlZZDNVRGhTYnU1Y3VYcTFhdDB0TFNJcG52MkxGamYvLzl0MHdtKy9ISEg4aytTWWJVVkJwWW8wb3VsMy81NVplN2QrOW10amc3Ty8vMTExOU9UazVEaHc1VjNmN3BwNTh5dDdPeXN2NzQ0dy9WaDhyTHk4bDE1d1VMRnFTbHBTMWZ2bHhQVDYrb3FFaTE3Nk96czdPZm4xK2xBclp0MjdaOCtmS3RXN2N1V2JMa3ZkLzMxYXRYQXdjTy9QcnJyMG43NWV6WnN4TVRFOVBTMHB5ZG5hOWR1MlpqWTNQZ3dBRXRMUzEzZC9mUTBORE9uVHQvMkY4UlBzaUxGeThDQXdOVk02VlFLQncrZlBpdVhidnEyY0dBdytIbzYrdTd1YmxkdTNadDJiSmxCdzRjWU01aHNyT3pWNnhZWVc5djM2RkRoM3AvZzVZTHNSS2d3WjA3ZDA1UFR5OGxKU1VsSllWc3ljdkxVeXFWdi8vK08vTWNjaVc2WThlT2xXSWxSVkdEQncvZXYzOS9wWTNEaHc4WGlVU1hMMThtcnkwcEtURXlNbUllVFVoSWtNdmx2WHIxU2tsSlNVcEt1bjc5dWtRaWlZbUpzYlMwckxuVWYvNzU1OGlSSTl1MmJWdTBhSkZDb1JnN2RteFNVbEo2ZXZwN1gxZ3pQejgvZ1VCdzdkbzFISytiTDMxOS9hRkRoM0s1M0tpb0tJcWl1bmJ0MnI5L2Y0VkNvYWVucHhvcksvV0JVMlZnWUhEbXpCblZMYkd4c1gzNzlvMklpRGh6NXN6T25UdXRyYTJydG1RL2ZmcDB4WW9WVTZkT0phZEFuMy8rZWFYWkQwaDhWQjJUY2VyVUtVOVB6NnF4Y3ViTW1lZlBuMSs2ZEdsNWVmbWFOV3RxL3I0Nk9qb2JObXdZT1hJa1JWRjc5KzVkdDI2ZHJxN3VzR0hEbUNlNHVMaVFHeFVWRllHQmdXNXVialcvSVh5Z3AwK2Z6cDQ5T3pZMmx0blNwazJidFd2WCt2djdHeGdZc1BVcCt2cjZ3Y0hCYm01dWE5ZXVKYzNrRkVYZHYzOS8rdlRwWVdGaDZHZFpaNGlWQUEwckx5L3Y2TkdqaXhjdlhyOStQYk14T0RqNHUrKytpNCtQci9QYjh2bDhackxmQnc4ZWZQcnBwK3ZYcnlmWHJITnljbkp6YzNmdjN1M2k0cko0OFdJN083dlpzMmNyRklxLy92cExJcEdRU1lDVGs1TXBpb3FJaUNDZDRVaW85Zkh4Y1hOemUvcjBLYm1VdVg3OStyaTR1RjkrK2FXZW1aTDg3bzRiTnc2WnNsa2pzWktpcUtDZ0lJcWluSnljbUZIWUg5aGFXVlY0ZUxpeHNURzU3SGovL3Yxang0NXh1VnlTNUNwWnUzYnRoM2U2ZVBEZ1FiWGJEUTBOTDErKy9OVlhYNjFidDY2aW9xTG11UWdNRFExSGp4NU5iaXNVQ2tORHcvLysrNi9hWi9iczJST1QxTEJGSXBFc1dMRGd6ei8vWkxZWUd4dnYyYlBIMTllM1BwM1JxNldycXp0cDBpUWJHNXN4WThZd2ZZMXUzTGd4WThhTXlNaEk5Skd0RzhSS2dJYTFkT2xTTHBjN2QrN2NPcjlEWGw1ZVRFd01jN2RidDI1bVptYXRXclY2OU9nUjJVS21ZbUV1THNmSHh3dUZ3b0NBQUtGUWFHUmtaRzF0VFlaZHIxaXhJanM3bTVuM0p5QWc0TWFORytRMjZWN1pzMmRQUzB0TGNqQTlmZnIwaGcwYi9QMzlaOCtlVFZIVXBrMmJObTdjV0ZaV1ZrT2RSVVZGY3JtODByQU1oa3dtcS9weXFWUXFrOG5xSDF1aDBUeCsvRGd1TG82TTQ4N0p5Vm03ZG0ybFdQa3VqeDQ5U2s5UFY1MTJTcWxVSGpwMHFFK2ZQbVRjOTRnUkl4SVNFalp1M0VqR1lVaWwwdDY5ZTZ2dUd5S1I2Tnk1YzJTd1d0WDM1L0Y0cWsySjc2S25wM2Zod29WUm8wWUZCUVY1ZW5wK1lFYzZvVkQ0L1BuelhyMTZWZnZvNDhlUEVVSFk4dWVmZjk2NmRZdTVxNk9qRXhnWTZPUGp3M3FtSkxoY3JwZVgxNlpObXhZdFdzUWNvTzdldlh2aXhJbEpreVkxeENkcVBNUktnQVowN05peFAvNzQ0L3Z2djdld3NLanptOXkrZlh2NjlPbWt5ZVRGaXhmbno1LzM4L096c2JISnpjMGxUemgxNmxTYk5tMzY5T2xEN2w2N2RzM0R3NlBxR01uVnExZFgrdkdMaTR0YnQyN2RrU05IS2dXN0J3OGVCQVFFMERUOTAwOC9rUzBjRHFmU3hjM1UxTlNpb2lLRlFpRVdpMTFkWGZsOC9yeDU4NDRlUGZxdWI3RjkrL2FxMDJkU0ZHVnFhdnJtelp0YS9rbEFiWmdla0lXRmhldlhyKy9SbzhlZ1FZTStKRmErZlBueS92MzdxaXZtN2QyNzE4TENvbnYzN2hjdVhOaTdkMi9mdm4xSjYrRGZmLzlOT21LNnVMaFlXbHIyN2R0WEtwVnFhV205ZWZQbTExOS9GUWdFbFJKR1Nrcks4K2ZQT1J4T2NYRXh1VkFlRXhOVHczZ09vVkI0K3ZUcGl4Y3ZNcG55NWN1WGxTWlhyL3FTZHUzYXZldnlRdmZ1M1Q5OFNETFVvS1NrSkN3c3JMaTRtTnpWMXRaZXVYTGwvUG56YTU0RXQ1NTRQTjc0OGVQZnZuMjdldlZxTWgyYlNDVGF0Mi9mNE1HRHpjM05HKzV6TlJWaUpVQkRTVXhNbkRGamhwT1QwN3ZtUGZsQS92Nyt2LzMyRytuR2JtTmpReloyNnRTcHNMQXdPenY3NWN1WHljbkphOWV1Wlk2OGI5Njg4ZlgxWlY0dWs4bU9IejhlRWhMaTcrLy96VGZmcVA0a2w1U1VYTDE2bGFRQnVWek81WEs1WEc1cWFxcWZueCtaM1pxWjJGSjFvaUppK3ZUcFBCNVBvVkJJcGRLRWhBUnJhK3NWSzFiTW1qVkxLQlJXWFd5M1g3OSt3NFlObXpkdm51cEdtcWJGWW5FTlhmR2dxU2t0TFQxMDZGQ0hEaDJlUEhteWF0V3EzYnQzSHp4NGNOQ2dRV1FGbXFwVERxbjY0b3N2dnZqaUMrYnVtalZyQ2dzTC8vcnJMekxwb0p1YjI0SUZDM3g5Zlpjc1dWSXBOWEk0SExKdm01dWJNKzNyakQxNzlseS9mdDNEdzJQdjNyM00rTFAzTHZlc3JhMzkxVmRmS1JTS1M1Y3U3ZHUzNzhxVkt5dFdyS2poK1ZLcDlNV0xGKzhhUXA2ZW5sN3RHanhRVzlIUjBkSFIwY3o1eWNTSkU1Y3NXZElJa1Ywb0ZDNWN1UERaczJma1NFdlQ5TjI3ZDZPaW9zZ0lTS2dWeEVxQWhwS2NuR3hvYUhqOCtQR0hEeDk2ZUhqdytYd20rVlZVVkNnVUN0VlRZVEw3WTFGUlVhVXB5c3ZMeTZzOXFucDRlSEE0bkt0WHI4YkV4TFJxMVVwMXNyM3c4SEJ5NC9Ianh6azVPZGV2WHk4cUt0cTllL2Z5NWN1WExGbWltZzVKaDdDT0hUdVNoSGZreUJGblorY0JBd2EwYXRVcUlDQkF0ZWVaNmtSRnhNMmJOeXYxZGF0aE1DeVB4N093c0tnNk9CMmFsME9IRHBXV2xnWUhCOCtjT2RQRXhPU2ZmLzRoYzUyK2Z2MWFWMWYzQXk4RTM3OS9mOUdpUmYvODg4K0ZDeGVZaWF5blQ1L2V1WFBuY2VQR0hUOStmT1BHamQ3ZTNoOXkwVE1nSU9EdzRjTUxGaXpZdW5WcnJScTA3dCsvSHg0ZWZ1VElFV3RyNjRDQWdMQ3dNQk1UazZWTGw3N3IrV0t4dUUyYk5zeS9yRXI2OXUyTEpSenJyNktpWXZIaXhjd2t1S2FtcGdzWExteTBabUNoVVBqZGQ5K2RQWHVXalAyU1NxVXJWcXdZTldwVURldVFRYlVRS3dFYXlwUXBVOGFPSFNzVUNvdUtpc2gwZDB4enpzbVRKMy83N1RmVlh5bXBWQ3FSU0txMjl4UVdGbGFhQTRnd016TnpkM2Zmc21WTGFtcnF0bTNiV3JWcXhUd1VGeGNYR1JrWkZSV1ZtWmtwRUFqbXpwMGJIQnhNVVZSVVZGUnViaTVOMDIzYXRDSFBqSW1KOGZiMmZ2YnNtWm1aR1RsSFAzandvSzJ0N2JsejUwNmVQTmt3ZnhWb3JtUXkyYlp0Mjl6ZDNRY01HRUMyTVBQbnYzNzl1dVp1SHZuNStXZlBuazFQVDc5NDhlS2pSNC9jM2QwVEVoSWNIUjFWbi9QNTU1OC9mUGh3L2ZyMXc0Y1B0N0N3R0R4NGNMOSsvVWFNR0pHV2xoWWJHeXNVQ2l1ZDJDaVZ5c09IRHc4Y09QRFRUejhsRTdneTVISzVYQzZmTm0yYTZrYWFwdi81NXg4eTkyUnhjZkdFQ1JNdVhicFU3ZHBVVlZWVVZPVGs1SXdaTTZiYVI1OCtmYXE2SWdEVVRVUkVCRE1pbTh2bERoOCszTTdPcmpFTHNMYTJuanAxNnBZdFc4ajVkbTV1N3ZIang2ZE1tZEtZTldpQUZoMHJzN096Nzk2OTYrdnIyemluSTIvZnZpVS8zaDlJSkJJeGhkRTB6ZnBDdDlBSXlLbTJzYkV4TTJhV1NFeE01SEE0bnA2ZU5iKzhyS3pzMWF0WDcvcmxtelp0MnRTcFV6MDhQQ3F0QzNMejVzMlFrSkI1OCtaOSsrMjM0OGFOWS9ZY3BWTHA0K09qcmExOTgrWk5QVDI5cW0vSTRYQW1UWnFFanVwUXJYMzc5bVZtWnU3ZHU3ZnFRL0h4OFI5Ly9ERzVYZTJSU2lBUVRKOCtYVjlmdjZ5c3pNek1yRjI3ZHV2V3JhTW95dGJXZHRPbVRVbEpTYXBUVHJxN3V4Y1dGdDYvZjkvTXpHekVpQkU1T1RrWExseW91a1lPdVZSYVVGQnc3dHk1U2g4bmw4czVIQTZKbFZsWldWZXVYQ0h0K3ZuNStmMzc5Ly94eHgrSERoMWFxNlZUSjB5WU1IRGd3RC8rK09QQWdRT3FnNVIvK3VtbkJ3OGV4TWZIMTZmek5CQW5UcHhnYmhzYkcwK1lNS0dSQjBMeCtmeVJJMGNlUEhpUTZiWis3Tmd4eE1yYWFoR3gwc2ZIcDB1WExsV0hDOFRIeC92NysrZms1TlFRSzkrOGVUTjI3TmdsUzViNCtQalVwNGJVMUZSWFY5Zmx5NWVUZ1pNZll1VElrV1ptWm9jT0hVcE1USnc2ZGVyNTgrZmJ0V3RYbnhxZzJmbnJyNy9rY2prek5iUnFOOFRYcjEvLy9QUFBaRDRPaFVMQjVYSVBIano0Nk5HamRldldUWmt5WmVyVXFWVi81N2hjN3M2ZE8zMThmTWFORzNmNjlPa0dHbGtKbXFxMHRIVHk1TWxmZlBGRnBkRXRyMTY5aW8rUER3ME5KWGNyaGIrOWUvZjYrZmxaVzF2bjV1YnE2K3NiR2hydTJMR2phOWV1RkVVZFBYcjA4dVhMbXpadHlzdkxPM1BtRExNV3pzS0ZDejA5UFpuaFlsNWVYbDVlWGxYcklkTU96SnMzYi96NDhUV1V2WHYzN3FDZ0lDTWpvOG1USjMvenpUY2ZQc3RWZm43K3k1Y3ZLM1hUZk5mcC9ldlhyOG5GVTdsYzNyRmp4MHBkV2VDOWNuTnpVMU5UbWJ2Mjl2WWVIaDZOWEFPSHczRjFkZTNjdVRNVEt4ODllcFNabVdscmE5dklsVFJyTFNKV1NpUVNNcnlyRXZJdnYrWi8vOU9tVGJ0eDQ4YjY5ZXYvKysrL3c0Y1B2MnRWV1psTTFyTm56eHFXRTUwL2Y3NVlMTDV4NDhhS0ZTdHE3dGhPaEllSFg3NThtYXd0WVdWbGxaK2Y3K2ZuRnhjWFoyaG8rTjdYZ3NZNGNPQ0FzN096bzZOaldGalltVE5uWHI5K3plVnk3ZTN0Yjk2OE9YSGlSSkZJdEhQbnprV0xGcTFhdFNvb0tLaWdvQ0E0T0hqKy9QazFUTy9uNWVYMTY2Ky9Iamh3b0x5OG5NV0poYUVsK1BiYmI2dmR2blBuVGo2ZlQ2YTByQnE4Tm16WVFCb09yYXlzeUFRdWRuWjJwQUZlZGY0QkRvZkR0TXF6dTJjR0JBVFkyTmhNbkRpeDJoYjZHdHkrZlRza0pFUzFVVE0rUGw1WFYxZTFDMlpLU2twaFlTR3poY3ovK3Z2dnYzLzAwVWZzZllNV0lTa3BTWFdWV21iRzBFYkc0WENHRGgxNjllcFZjcmUwdFBUV3JWdUlsYldpeWJIeXhvMGJSNDRjSWNjRjV0Q1FuWjM5NHNVTEV1eXlzckxJNllpT2pnNDVIRGc1T1RHOWhjaFl4UXNYTHF4YnQ2NVhyMTRQSHo0c0xTMWw1dVRMeXNvS0R3K2ZPWE9tdnI0K1RkTmt2TVc3S3RtOWUvZVZLMWNDQWdMT256OC9iZHEwZ3djUDFseDVYbDdlZ2dVTFhGeGNuSjJkSHo1OFNHWU5uRHAxNnRHalI1a1RPS1ZTS1JRS0hSd2NXUHByUVlNb0tTblIwdEtxZXJtTnREdFdQZHVSeStVU2ljVEF3SURMNWQ2NWMrZlVxVk5rUGhjYkc1c0hEeDQ0T0RpUWFYcjI3OS9mdm4zN0d6ZHVkT25TcGFDZzRQdnZ2K2R5dWVTWDdMMTl2Q1pObWpSeDRzUkdicXFVeVdUb3hhR1JFaFBmRjA2WkFBQWdBRWxFUVZRVHQyN2R1bUxGQ2lzcks3S0ZXV1dVN00rNXVibnF6VmlkT25YcTFLbFRIVjQ0Wk1nUTFaYUNPM2Z1OU9uVForL2V2YXF6WTM3MzNYZDM3dHk1Y09FQ1M4VzJVRXFsTWprNW1abFhpRnlzVTFjeHZyNitDeFlzSUxkRklsRkNRc0tZTVdQZU83Y0FNRFE1VnNiR3hwNC9mejRzTEV4MUVHdE1UTXllUFh2SXp6eFpBU3d3TUpETDVaTHBvRU5DUW5yMjdFbWVHUklTc21IRGhxbFRwNUtWUzV5ZG5YZnQyc1c4ZVV4TVRIaDQrTXFWSzkrNzhNUERodysvL2ZaYkx5K3ZzTEN3VzdkdStmajRHQnNiNzlpeDQxMi9zalJOVDU4K3ZhQ2d3TW5KYWRHaVJXVGoyN2R2NVhKNVJFVEU2ZE9ueVJhRlF1SGs1S1JhRWpSQm4zNzZhVVpHeHJzZWZWZnZyc2VQSDJ0cGFYMzU1WmM5ZXZRZ3EzaDdlM3ZuNU9RRUJnWXVYNzVjSXBHTUhUczJKQ1NFbkFLdFhidTJwS1FrS0NpSURNU3AxSjR0bDh1cnJ2L0I1WExMeTh2NWZQN0xseS9mVlFhSnZBcUZJams1K2Q2OWV3a0pDVktwOU1DQkF4UkZrYlZHd3NQRHlUZ2htcVlWQ29XM3R6Y3orUkhqMkxGanAwK2ZMaXNyS3lrcHFkdFBPelJCWk5TelJDS0pqWTBkTldxVWc0TkRwU20wek0zTlNjdFRRVUdCUXFGZ1lpWFpxUzVjdUVET2x1L2V2VXUyS3hRS2hVS3hZOGNPY2pjakk2UG05cUdTa2hJZWoxZFNVdkloY3dtOVYwVkZSWGw1T1kvSFMwdExVMTBCbFVIVDlOR2pSK2ZNbVROdTNMaEtNNjVYKys4TGFrc3NGcWVscFRHZGZCd2RIZFhZNDZ0RGh3NmRPM2NtUnptbFVwbVptVmxlWG83cmhCOU9rMlBsZ3djUHFrNW9Nbm55WlBJN1RWSFU1Y3VYZlgxOW82T2pLNDIwVlNnVWdZR0IyN1p0bXoxN2RraEl5SXNYTDhSaWNjZU9IZXRRUTNwNnVwK2ZuNzI5ZlVSRUJJL0g2OXUzNzltelo0Y05HL2J5NWN0RGh3NVZlLzM5aHg5K2lJcUtzclMwdkhMbENyTXhNakp5Nk5DaGx5OWZidEJaWVRWWVhsNmVycTV1dGI4WkRlcjA2ZE5LcGZKZGZTZXFJczNldHJhMkFvSGcxMTkvN2RhdG0ycVhpWjQ5ZS9idTNYdlZxbFdWeHZwczI3YXRVNmRPUzVZczBkYldOakV4VVgxSUtwVktwZEtxSDdSeDQwWXlTTUxMeTZ2YUl5YUpEbUt4K01tVEo1R1JrVUtoY09qUW9kSFIwZVRSMGFOSDM3dDNqOXhXS3BWaXNiaHIxNjVWWTZXdHJXMUVSSVNGaGNXU0pVdkdqUnYzSVg4QmFQcElpN2hJSkRwNzlxeUZoY1hWcTFjcmRVOWZzbVRKbWpWcklpTWpTMHRMdVZ3dXMyT1FGd29FQW5KR3hBeklrTWxrY3JuYzN0NmUvRE9wZHVvRFZkSFIwZVFpcWFtcEtiTUtRSDIrVG9jT0hVaElyWHFoUHpvNmV2YnMyZG5aMmQ5KysrMFBQL3hRNmRGMy9mc0NSbloydHJtNWVjM3pCTW5sOHZ6OGZPWXVNL3hMWFZ4Y1hKaUZPa3RLU3ZDL3VGWTBPYU1rSkNUSTVmSmV2WHFscEtRa0pTVmR2MzVkSXBIRXhNUzhkNlc0Zi83NTU4aVJJOXUyYlZ1MGFKRkNvUmc3ZG14U1VsSjZlbnB0bDVnN2NlTEVuRGx6cksydG82T2ptV3ZyQXdjT3ZIejU4dkRod3ovNzdMT0RCdzlXR3VSNy9Qang5ZXZYdTd1Ny8vMzMzNTkvL2ptVFJRb0xDMGtDWUo0cGw4dC8rZVVYWnRZM3FGbDRlUGkrZmZzR0RodzRhdFFvTnplM1J2dmMraHdmdi9ycXEwcGJoZzBiOXE3bDZhWlBuKzdqNC9QZmYvOVZhcnp4OVBTc3RrR2RqSVIxY25KaXVzUlY0dURnTUhyMGFENmZQM3o0OE9IRGg5ZnRLN2k3dTR2RjRsb051WVdtejlIUk1UazUyY3JLeXN6TXJLS2lvdXB3M2FWTGwzNzU1WmYvL2ZjZlRkT0dob1pNVERRd01BZ05EZlh6OHlQN3BMT3o4OU9uVDhtdmVHaG82T0RCZzBuZkRBTURnNXFUcGJ1Nys3Smx5K3pzN0lZTkcxYi9kVkNNalkxbnpKaEJmaXhHakJoUjZkRisvZnBObkRoeDdOaXgxZlk0OHZiMjd0S2xTejBMMEd6QndjRkpTVW1EQnc4ZU1XTEV1eVlNa3N2bDVEZU9ZR1pBVXhmVmJodUlsYldsc2JFeUp5Y25OemQzOSs3ZExpNHVpeGN2dHJPem16MTd0a0toK091dnZ5UVNDZm5wVFU1T0puTmxrVlpEMHIzU3g4Zkh6YzN0NmRPbjVGaTVmdjM2dUxpNFgzNzVwVmFaTWlzcmE5bXlaU2RQbnZUeThnb1BENi9VZ05TblQ1ODdkKzZNSGozNmswOCttVFZyMW5mZmZXZHRiVTFSRk9sL3VYcjFha3RMeTR5TWpETm56akF0VmRIUjBXUEdqRGw3OWl3VEdtUXltV28zVUtoWlNVbEpVbEpTVWxMU2xpMWJIQjBkcDAyYk5uVG9VSE56Y3dNREE0MXBBUDdvbzQrcWRtTDcvdnZ2cTMyeXU3dTd1N3Q3RGU5V256VEo0SEE0eUpTYVJ5Z1VNdWZENzVvQ3hzSEJvV29PMDlYVm5UVnJGbk9YNmZYWXZuMTcxZTE5Ky9hdHVZQ1BQdnBJZFVLaSt0dXlaY3U3SHRMVzFpWnpJVldyMHNSaFVOWGJ0MjlqWTJOalkyTlhyRmpScDArZlNaTW05ZXZYajV4c3FQYkJMU2dvWUY3eTNxNWxEUTJ4c2o0MDVBZTFxdmo0ZUtGUUdCQVFJQlFLall5TXJLMnRlL2Z1VFZIVWloVXJzck96bVNRUkVCREFyQVpHdWxmMjdOblQwdEtTSEN0UG56NjlZY01HZjMvLzJiTm5rM0V6R3pkdVpGYWpyMVpxYXVxbVRadisrT01QcFZLcHA2Zlh1WFBucXRkTnlHZTV1YmtaR2hydTNiczNMQ3hzNHNTSnUzYnQrdnp6ejBORFE2ZE9uYnBueng2NVhKNlVsTVE4LzhtVEoyU3BYR2FraFVLaDZOcTFLOG1qVUN1cHFhbExseTVkdDI2ZHE2dXJ1N3Q3ang0OXVuZnYzcTVkTzR3cEFRQm9JSEs1L05xMWE5ZXVYVE0xTlNVSFhuTHNOVFUxclhRUlhPMnhVclUvRDJKbGJXbHNyTHgyN1pxSGgwZlYvaHlyVjYrdWRIb2RGeGUzYnQyNkkwZU9WR3FQZlBEZ1FVQkFBRTNUelBScEhBNm4wdnJGcWFtcFJVVkZDb1ZDTEJhN3VycVNocGtUSjA3MDY5ZnYrKysvSittUWhCV2Fwa05EUTcyOHZNZ1ZFNFZDSVpmTFY2OWUzYjU5KzZDZ29ONjllMnRyYTJ0cmEwK2RPcFc4czFnc1ZwM2psMHdVZC83OGVkWFRPeE1URThUS09pc3ZMNzkxNjlidDI3Y05EUTNOemMyN2QrOCthdFNvZDYzNUN3QUFkY0FzOE0zSXo4Ky9lUEZpZEhSMHExYXRXcmR1M2FkUEgwOVBUOVZZcWZZSmZkQmFXUjhhR3l2ZnZIbmo2K3ZMM0pYSlpNZVBIdzhKQ2ZIMzkvL21tMjlVWjFjcEtTbTVldlVxMmZYbGNqbVh5K1Z5dWFtcHFYNStmaUtSU0hWaVM5V0ppb2pwMDZmemVEeUZRaUdWU2hNU0VxeXRyUjBkSGRQUzBzaE95UXdxSis4Y0dobzZac3lZU3V1SlVSUzFaOCtlU2x1VVNxVyt2cjdxS08vSXlNaUxGeS91MkxHRGFXZWxhYnJheVRnYmdhdXI2NE1IRDlUeTBheFRLcFZGUlVWRlJVWHA2ZWwvL1BHSG9hRmg5KzdkMVYwVUFNRC9wMG5IVzFWeXVmek5temR2M3J4SlNrb0tDUWxSZlVqdGcrdFZmK2hwbXE2YWpLRUdHaHNybWRXV0h6OStuSk9UYy8zNjlhS2lvdDI3ZHk5ZnZuekpraVdxT3czWmd6dDI3RWpUdEZnc1BuTGtpTE96ODRBQkExcTFhaFVRRUxCcDB5Ym1tYW9URlJFM2I5NnMybHhmLzBuYUpCSkpmbjYrNm1pUHAwK2ZHaGtadWJxNk1sdG9tdWJ6K2ZmdjM2L25aOVhCckZtenlNUTB6VWhzYk96MTY5ZmY5U2lId3pFek0vdmtrMDk2OU9qeDVzMGJaaTVjQUFEMWFvN0hXMVVSRVJILy92dnZ1eDRsRXdVNE96dmZ2SG1URE1hbktFcnQzemNuSjRlNWJXQmdnQTdpdGFLeHNUSXVMaTR5TWpJcUtpb3pNMU1nRU15ZE96YzRPSmlpcUtpb3FOemNYSnFtbWJGbU1URXgzdDdlejU0OUl3dDIwelI5OE9CQlcxdmJjK2ZPblR4NXNzNEZYTDkrL2ZYcjE4ek1NdVRxZVZKUzB0bXpaOGtUeU1UWFk4YU1xVG94dGJtNXVZZUhoMm9NNnR1M3I1MmQzZjc5Kyt0Y0Q0dG16cHlwN2hKcTdZY2ZmcWcyVnZMNS9KNDllNDRhTmNyTHk4dlMwdExVMUZUenBnTEY0dktnMlo0OWV4WVJFVEYrL0hobVNuWk4waHlQdDZwU1UxT3JqWlc2dXJyZTN0NWp4b3h4ZFhYbGNEaGZmdm5sNDhlUHlVT3ZYcjFxOURML1IxNWVIblBiME5BUXNiSldORFpXM3J4NU15UWtaTjY4ZWQ5KysrMjRjZU9ZbjFLbFV1bmo0Nk90clgzejVzMXExL0xpY0RpVEprMmFOR2xTUFFzNGNlSkVYRnljUUNCUS9SV1BqSXk4YytjT3VVMW1LQncxYXBUcUxydDE2OWF5c2pJdWwrdnA2YWs2aGpjbko2ZXNyS3pxcUY3U3dycDQ4ZUtxQzBDREt0WHNycTJ0YldSa1pHVmxOWExreVBIang5dmIyNnUxdEFhSHhlV2h1Vk1xbFFzWExqUXlNcXAyQk9TVEowK1dMVnZXdjM5L2pZeVZ6UjF6N09Wd09FS2gwTkRRME43ZWZ2TGt5U05Iam1RbU15a29LQ0JyS3hCTktsYWl0YksyTkRaV1Rwa3laZXJVcVZYREZwZkwzYmx6cDQrUHo3aHg0MDZmUHQxd1M5aFY2akVwbDh2NWZQN0tsU3VyOXExVTFhVkxGNUZJcEpwRTA5TFN2di8rZTVsTVJpWlgzN2h4WTZWaE9qS1pyT2FaWm9IZzhYaU9qbzdkdTNmdjNyMjd1N3Y3eHg5LzNCSU9GbGhjSGpSRGVYbDVTRWhJUlVVRnVlNmtpblIvcjNaMUNWQTdtcWIxOVBTY25KeDY5T2pSczJmUEhqMTZWSjE1aXNmanFjYktKblVSSEsyVnRhV3hzYktHYVNhOXZMeCsvZlhYQXdjT2xKZVhHeGdZTkc1ZDcxRnBGclRqeDQ4SEJ3ZDM3ZHBWTHBjN096dVhsNWR2M3J6NTk5OS85L0h4VVYrTnpWTHYzcjBqSXlNN2RlcGtabWIyM2pVOE5BWVdsd2ZOd09WeXc4TENCQUxCOXUzYkpSSkpwWjRxNUZkZmRUMHFhRHErL3Zyck9YUG10R3ZYenRUVTlGMHRJRnBhV3FxeGtya2FyaTVrVG12Q3dNQUF1MWF0YUd5c3JObWtTWk1tVHB6WWNFMlY5VlJSVVhIKy9QbmR1M2ZmdW5Wcjd0eTVRVUZCWDMzMWxiNisvdUhEaDNmdDJqVjgrUEIrL2ZvdFhMaXdmLy8rNnE2MDJhaTAybUZMZ01YbFFaTndPSnpRMEZCTFM4djNUcGF1VkNxbFVtbWxEa2lnTGw5KytlVjdueU1VQ2p0MjdNamhjTWlZNjl1M2I3OSsvVnBkUGJ0ZXZuejUxMTkva2RzY0RzZlcxcmJsdEVTd29rWEVTcmxjWG5YQ0FpNlhXMTVlenVmelNYdDd0YTNjWkFZZmhVS1JuSng4Nzk2OWhJUUVxVlI2NE1BQmlxTElncUhoNGVIa0hJdW1hWVZDNGUzdGJXTmpjL2p3NGUzYnQvUDUvS3F4bGJRMXFtNlJTcVdkT25VNmV2UW9PUm9HQmdiZXUzZnY3dDI3RW9uRTI5djc3dDI3bjM3NktiblNUYjdDdkhuemZIMTlBd01EdmIyOWJXMXRQVDA5aHcwYk5tVElrQWI0czBIemhzWGxRVFBJWkxLREJ3OU9uanlaeCtPdFhidVdiTnl6Wjg4MzMzeWorclJLTGU2NXVibm9hdGxjOEhpOGJ0MjZHUm9hRmhjWGs1L0Nnd2NQTGwyNlZDM0ZIRHQyakxtdHE2dnI1dWFHbzJXdHRJZy9sbFFxclhZNjA0MGJONUlWd0x5OHZLcnRhaVlXaThsL256eDVFaGtaS1JRS2h3NGRHaDBkVFI0ZFBYcjB2WHYzeUcybFVpa1dpN3QyN1dwalkvUEpKNThzWExoUVcxdjdRMXBEWlRJWjAvalA1WEpmdkhnaGs4bVdMVnMyZXZSbzFhVm1wVklwTTB1bHZiMTllSGg0U2twS1dGallwVXVYc0hvWVZJWEY1VUZqSER4NGNNYU1HYVNMTUhQK1AzUG1US2FmK3QyN2R6MDhQUDc3N3o4eS9FNHVsNHZGWWlNakk3VldEYlhqN094c2FtcEtZaVVaODdwNDhXSm1zZUpHSTVmTG1kbGFLSXJTMTlmdjFhdFhJOWZRM0xXSVdPbnA2Vm50WWxCRGh3N2w4L2xPVGs1RGh3NnQ5b1VPRGc2alI0L204L20xV2gvWnljbkp5Y21wYnFXU29SVlZMVjY4dUZMdzdkU3BVM0J3Y05YZTZ3QllYQjQweWJScDAxNjllclY2OWVvdnYvd3lJaUtDekpiRjRYQ1lOaVN5TS9ONFBMSkZTMHNMb3hpYkhWdGJXenM3dTZkUG41SzdHUmtaVjY5ZUhUQmdRR1AyWktCcE9qRXhNUzB0amRsaVoyZEhscTJIRDljaVltWFZlWGtJZDNkM2QzZjNHbDVZcXpUWm9MNzY2aXQxbHdETkJoYVhCdzJ6Y3VWS0V4T1Q4UER3MHRMU3hZc1hWMTJaREpvN0RvY3pjdVRJbUpnWWNyZTR1SGovL3YyOWV2VnF6R0cxWkQwVTFlbU54bzBiMTJpZnJqRmFSS3dFYUZGMGRIU3d1RHhvbU5telo4K2VQZnZhdFd1NXVibkZ4Y1dabVpuTVloUFBuejhuUzVFeFBZVm9tcFpLcGJhMnRyZ1Uzb3lNR2pWcTVjcVZaSEZ3bXFham9xTCsrKysvSGoxNk5Gb0JHUmtaeDQ0ZFk1WnFORE16R3p0MmJLTjl1c1pBckFUUVdFMThjWG1BMmpweDRzVGd3WU52Mzc0OWVmSmtMUzB0RWl0ZnZYckY1WEtaVXlsbXJ6NTgrUENBQVFQVVdpL1Vnb21KeWRhdFcyZk1tRUdPU0NVbEpSczJiRGg1OG1UamRHa1FpOFdyVjY4dUtDZ2dkN1cwdE5hdlg2ODY3UkY4SU1SS0FJM1Z4QmVYQjZnVnFWUWFFUkd4ZXZYcXRtM2JNak5tWjJWbGRlalFZZUxFaWZ2MjdWTjNnVkJmdzRjUFAzWHFWRlJVRkxrYkdSbTVhdFdxdFd2WE52U2w4UEx5OGcwYk5qQ0RkVGdjVG84ZVBacElGN2htQjdFU1FHTTE4Y1hsQVdybDRzV0xIMzMwVWFYeGwwRkJRWHA2ZWhzM2JsUmZYY0FhUTBQREtWT214TVhGa1NIaE5FMkhob2FhbXBwKysrMjNEVGNudVZ3dVAzcjBxT3BWSFIwZG5ZQ0FBQ3lKWERlSWxRQWFDSXZMZytZNWNPQ0FuNStmNnBaLy8vMzN0OTkrMjcxN04ra2N2R2JObXVMaTRwMDdkNnF2UnFnWERvZmo2K3ZibzBjUFpyYmRpb3FLb0tDZ1R6NzV4TnZidXlGR2hkTTBIUmNYRnhnWVdGNWV6bXgwY1hFWlAzNDhwdE92RzhSS0FBMkV4ZVZCdytUazVGeTZkT203Nzc1anR0QTBQWGZ1M0MrKytJS1p3TEswdEhUWHJsMTkrdlFaTVdLRStpcUZldEhSMGRtelo4K3NXYk9ZWkZsY1hEeGx5cFIxNjliNSsvdXplelZjSkJLZFBIbHkxYXBWWkVKZndzdkxhKy9ldldRZUs2Z0R4RW9BRFlURjVVSEQ3Tm16cDFXclZxcmpnbmZ2M3YzdnYvK3FMdDhjRkJSMCsvYnRhZE9tZmZycHA3YTJ0dW9wRk9yTnpzNXU5KzdkQVFFQmNYRnhaRXR1YnU3aXhZdnYzYnUzZGV0V3R1YlpMUzh2WDdObVRWaFlXRWxKQ2JQUnhjVWxKQ1NFektzUGRkTkVGOFVHZ1BxcnFLZzRjZUtFcDZmbitQSGpKMDZjZU92V0xTc3JLMzE5L2RPblR3Y0dCZzRmUHR6UHo0K1pLQTZneVNvdkw5KzllN2UzdHpjejMrckRodytYTFZzV0docmF0bTNiOHZMeXpNek1oSVNFbUppWVFZTUdrY1l0WnBvWWFJN3M3ZTJEZ29MYXRXdkhiQ2tyS3dzTEN4czBhRkJLU29wSUpLcnovMSthcGlzcUt0TFMwZ1lNR0xCOSszYlZUR2x0YmYzamp6K3FybThIZFlCWUNhQnBsRXJsc21YTFBEMDlUVXhNeG93Wkl4UUs3OTY5dTJQSERvRkFvTHE0L0wvLy9xdWpvK1B0N1cxblp6ZGx5cFFMRnk2b3UzQ0E2djM2NjY4RkJRWE1iRUdabVprZUhoNFNpU1F3TUZCUFQ4L0t5bXJBZ0FGTGxpdzVjT0JBUVVIQnBFbVRidHk0RVJJU291NnFvVjU2OSs2OVo4OGVaMmRuMVkxMzd0enAxYXZYakJrelRwOCtYVnBhV3R2M0xDOHZQM2Z1M0RmZmZQUFpaNS9GeDhlclB1VGs1TFIzNzE1ZlgxODJhbS9SY0JFY1FOTmdjWG5RSkVxbDhzU0pFeHdPaDRtVnBxYW12LzMybTVXVmxaV1ZsYlcxdGI2K2ZxV1h2SG56NXRpeFkzUG56c1dvaTJiTng4ZkgxdFoyNWNxVlo4K2VWU3FWWkdOUlVkSFJvMGVqb3FMYXQyLy94UmRmK1BuNWZmYlpaOHhFdk5XU3krVjM3dHk1ZE9uU2xTdFhNakl5bU1rcENUSzBjY2VPSGFwenNVR2RJVllDYUNBc0xnOGFnOHZsM3IxNzkrblRwOHdnTXdNRGcxR2pSdFh3a2tPSER1bnI2eU5UYW9CT25Ub2RQSGh3NmRLbFI0OGVWVzJlTEN3c0xDd3N2SC8vL3RhdFc0Mk1qTHk5dlQvKytPUFdyVnUzYnQzYTN0NWVJcEhrNXVibTVPVGs1dWFtcEtSY3VuU3BVcFFrT0J5T25wN2V5SkVqZCt6WWdRV1oySUpZQ2RDQ1lIRjVhS2JzN093Ky9NbFlIRVdUNk92ci8vTExMd01HRE5pL2YvL1ZxMWNyS2lvcVBhRzR1RGc4UER3OFBMeFdieXNRQ1ByMjdUdHQyclFSSTBZd2ZYYWgvaEFyQVFBQW9Pbmljcm5EaGczcjI3ZnYzMy8vdlhuejV0allXT2FhZU4zZXpjUERZL255NVc1dWJtWm1abWpWWmhjU09nQUFBRFJwSEE3SDFOVFUyOXY3eXBVcjU4K2ZkM056czdDdzBOUFQrOENHUmc2SG82dXJhMjV1M3ExYnQyUEhqcEZKQTh6TnpaRXBXWWZXU2dBQUFHZ2VlRHplNE1HRHZiMjkwOVBUSHoxNjlQRGh3MGVQSHVYbDVaV1VsSlNWbFpXV2xwSXVtUHI2K2dZR0J1Uy9yVnUzZG5KeTZ0S2xpN096czZPalk4T3RBd21JbFFBQUFORE1hR3RyZCtuU3BVdVhMaU5HakNncEtSR0pSREtaVENhVHllVnlzcGFZbHBhVzl2L1IwZEV4TWpKQ0I4ckdnVmdKQUFBQXpSS1h5elUyTm1acjZSMm9QNFIzQUFBQUFHQUJZaVVBQUFBQXNBQ3hFZ0FBQUFCWWdGZ0pBQUFBQUN4QXJBUUFBQUFBRmlCV0FnQUFBQUFMRUNzQkFBQUFnQVdJbFFBQUFBREFBc1JLQUFBQUFHQUJZaVVBQUFBMFA2OWV2UW9KQ2NuSnlmbndsMXk2ZE9tUFAvNW95S0phT3NSS0FBQUFhS0x1MzcvZnMyZlA1T1RrcWc5bFoyZlBtemZ2MmJObkgvNXUrL2J0Mjd4NU02c0Z3djlBckFRQUFJQW1hdlBtelk4ZlA3YTB0S3o2a0phV0ZrVlJBb0hndzkrTnorZnorWHhXQzRUL29hWHVBZ0FBQUFDcWtaeWNmT3JVcWMyYk45Y1FLN1cxdGFzK05IMzY5TGk0dUtvSk1pc3JTeUtSZE92V3JkSjJtVXhtYm01KzQ4WU5Wc3R2aVJvMVZ1cnA2ZkY0UElWQ1VWWldwbEFvZUR4ZVkzNDYxSmxTcVN3cks2TW9pc3ZsR2hnWXFMdWNocVdycTh2bjg2VlNhVVZGaFZRcXhYbHRzeUFTaVpSS0pZZkQwZGZYeDRGRkZZNjZ6WTVZTEpiSlpCd09oeHlMMUYyT21xMWN1YkpMbHk2TEZpMHFMQ3cwTWpMaWNybkRoZzE3K3ZRcGlaSmlzWmlpcUhIanh1bm82RkFVUmRPMFdDemVzbVhMNE1HRFo4NmNPV0xFQ0pJN1ZXM2R1alU3T3pzNE9MalNkb1ZDZ2I4Mkt4bzFWbHBiV3dzRUFwRklsSmVYSjVGSWRIVjFHL1BUb2M0VUNzV0xGeThvaXVMeGVHM2J0bFYzT1EzTHdzTEN3TUFnUHorL29LQ2d0TFRVMU5SVTNSWEJleWdVaXBjdlg4cmxjaTB0TFd0cjY2by9KQzBaYzlSOThlSUZqcnBOSDAzVGI5NjhFWXZGWEM3WHlzcEtLQlNxdXlKMWlvcUtpb3FLdW5YcmxyYTI5c3laTTlQUzB1N2N1Yk51M1RxeFdFeE9rREl5TXZ6OS9WZXVYT25nNEVEK2VuSzV2R1BIamhSRnVibTVWZnVlUjQ0Y0tTNHU3dCsvZjZOL201YWlVWSsvVmxaV2ZENWZKQklsSmlhV2xKVGdBTmRjaU1YaVc3ZHVrVmpacGswYmRaZlRzTXpOemZYMTlmUHo4MU5TVW5KeWNoQXJtNzc4L1B6NzkrOVRGS1dqbzFQdGxiS1dqRG5xM3JwMUMwZmRwazhpa2R5OGVaTWNiRnUzYnEzdWN0UkpMQmJQbno5Lzd0eTVycTZ1MTY5Zmo0aUltRHg1c2xBb2RIRnhZWjVEWW5lWExsMnFYdFFtY25KeVZxNWNxYnJsMXExYnhjWEZreVpOVXQwNGFOQ2cwYU5ITjloWGFWa2FkY2pPSjU5OFFnNzZhV2xwYytmT2ZmWHFsVVFpVVNxVmpWa0RmRGlsVWltUlNGNi9majF0MnJUSGp4OVRGR1ZpWXVMdTdxN3V1aHFXazVPVG5aMGRSVkV2WHJ4WXRteFpYbDZlV0N4V0tCVHFyZ3NxSXhkMlg3NTh1V1hMbGovLy9KTzB6UFhvMFVQZGRUVXR6RkgzOGVQSE9PbzJXVXFsVWlRU3ZYcjFhdnYyN2NlUEg2Y29TbDlmMzhQRFE5MTFxZE9FQ1JNeU1qTEN3c0pNVEV6Njlldlh1blhycWxldTM2dXdzUERnd1lPR2hvYk8vNmRWcTFhNnVyck9LcUtpb2hJU0Vocm1TN1JFSEpxbUcvUHpJaU1qaHcwYkpwZkxLWXJxMEtHRGw1ZVhpWWxKQzIvbmI3TEVZbkZoWVdGc2JHeHFhaXJwSEgzeTVNbGh3NGFwdTY0R2QrM2F0WUVEQjVLOXRHM2J0dDdlM21abVpxVHZEalFkNWVYbFQ1OCsvZnZ2djU4L2YwNjI3Tnk1Yy83OCtlcXVxOG01Y09IQzhPSER5Zjdjc1dOSFQwOVBISFdiR3JGWW5KbVplZi8rL2ZUMGRMSmwzYnAxYTlldVZYTlphaFVkSGMzajhSd2NISzVkdXpabHlwU1ltSmgrL2ZxUkU2VEJnd2Z6K1h3T2h5T1ZTcDg5ZTJacmEwc0dnOHZsOHM2ZE8xKzRjSUY1azRjUEgzNzg4Y2Z4OGZGTWc4aWtTWk5TVWxMdTNMbkRQS2RUcDA1K2ZuNTF5S3hRUGJweHllWHlVYU5HcWZ0TFExMlE4NEZHM21IVVFpNlhUNWt5UmQxL2I2aWQ3dDI3aTBRaWRlODdUUkdPdXMxTzE2NWR5OHJLMUwzak5BbDVlWG10V3JWYXNtUUpzMFVrRWoxNDhDQTFOVFc5aWtlUEhxV2twS2krL045Ly82VW9LajQrbnRrU0VCRFFzMmRQMWVjNE9qcXF2ai9VVTJQM2JlZnhlSHYyN1Bub280LysrT09Qc3JJeW1Vd21sOHR4aGJGcDRuSzUydHJhMnRyYXVycTZYMy85OWVyVnExdklNRkllanhjYUdtcGpZL1A3Nzc4WEZSWEpaREtaVElhOXRLbFIzVDk5Zkh5Q2c0UFJvbHd0Y3RTMXNMQ0lpSWpBVWJkcDRuSzVXbHBhMnRyYVFxR3dUNTgrd2NIQmVucDY2aTVLL1dpYW5qWnRXdnYyN1gvODhVZG1vNDZPam1yM3lnOXg2dFNweE1SRWNqc2xKWVdzemNNOFdsUlV4RjdKME9nWHdSbkp5Y2xQbno1OSsvWnRmbjQrbVNNQW1ocUJRR0JtWm1abVptWnJhL3V1RHRHYUxTVWxKUzB0TFQ4Ly8rM2J0eUtSU04zbHNDQS9QMThtazFsWldhbTdFQllJQkFKVFUxTXpNN04yN2RwMTdkb1ZBOERmUy9PT3VubDVlU1VsSllhR2hwYVdsbHh1TTE3ZFExdGIyOFRFeE56Y3ZIWHIxbTV1YnRWT3hOZ0NiZG15WmNPR0RiR3hzWHcrUHpNek16azVlZXJVcVJZV0ZtZk9uTm01YzJmVjU3ZHYzMzcvL3YycVc4aEY4SUVEQjVxWm1aRUw2UC84OHc5RlVTTkhqbVFtVWI5dzRjTDA2ZE54RVp3dGFqc1FkKzNhdFd2WHJ1cjZkSUFQMGFsVHAwNmRPcW03Q2pZRkJ3Zm41dWEyOEQ1YkxaYm1IWFhYckZtVGtKRGc2K3U3WXNXS1dpMjFBazFmUkVURWloVXJLSXJxMmJPbnJhMnRnNE9EalkwTm1Wb3lKeWNuTVRFeE1qSlM5Zm0vLy81NzFaRTNBb0hBMGRFeEtDakl4Y1VsUHorZmFSK3hzckxhdFdzWHVlM3I2MnRoWWRGWVgwdno0Zndlb0tVb0xpNU9UazdPek13c0tpb3lOalpXZHprQUFPL2s3T3g4OXV4WkJ3Y0hPenU3cXRjaXRMUzBQRDA5VmJmRXhNU1Fsa2hWSFR0MlRFbEpJWXZvZlAzMTF5VWxKVzV1Ym1scGFhR2hvWDM2OUNGOWpxT2lvaHIrMjdRZ3pmaXFBUURVU25KeWNrNU9qa1FpdVgzN3RycHJBUUNvaWFPam81K2ZuNE9EQTVNcFUxSlNrcEtTNnZCV1pXVmxJMGFNdUgzNzlybHo1NXljbkRwMzd2enp6eitQR1RQbTExOS9aYnRxUUt3RWFCbG9tbjd5NUVseGNiRmNMdi8zMzM4eFlnTUFtamlaVFBiczJiT3paODh1V0xEQXdjSEIzOTgvTHkrdnRtOXk1c3laYnQyNjNiMTdOem82bW1uZ25ETm56dmJ0MitmT25UdDI3TmlNakl3R3FMM2xRcXdFYUJGa01sbFNVaElab3Zma3laUDgvSHgxVndRQThFNUJRVUZDb2RET3ppNG9LTWpXMXZiUFAvOTg4T0NCajQvUEI3NDhKU1ZsKy9idG5UdDNIajU4ZU51MmJmLysrKzgrZmZxb1BtSCsvUG5YcjErL2ZmdDI1ODZkSjB5WWNPclVxWktTa29iNUtpMEwrbFlDdEFpbHBhWEp5Y2trVnFhbnArZms1S0NYT2dBMFdWOTg4Y1hTcFV1blRKbEMxdnRXSlpQSlNrdExPM1Rvb0xxeG9LQ0FXZTd5enAwN3ZYcjFJdXM2bmo1OVduVVZENmxVS3BQSnlPM1BQLzg4TlRVMU5EUTBPRGo0eUpFalBqNCtseTVkYXZodnB1RVFLd0ZhaExpNHVPTGlZbks3dExUMC92MzdycTZ1Nmk0S0FLQjZibTV1Ym01dTFUNGtsVXExdExRdVg3NnN1dkdubjM2S2pZMGx0OTNkM2JkczJUSmd3SUNxVStPUmVZaVp1d0tCWU5HaVJRc1hMb3lQanpjMU5XMkE3OUhpSUZZQ2FENmFwcytlUGN0TVVrdlQ5UFhyMTZkTW1RTTdYcElBQUFQalNVUkJWTUxoY05SZEdnQkE3WGg3ZXhzYkcxZHFyWnd4WThhZ1FZT1l1MHVYTHEzMnRkT21UYXM2L3ptSHcvbnNzODhhcHRnV0I3RVNRUE9SbVlSVnQ2U21wajU1OHFSang0N3FLd29Bb0M1Y1hWMnJYbXh4Y1hINWtOVjNCZzRjMkdCMUFZVWhPd0F0d3ZYcjF5dXRwNlZVS3MrZE82ZStpZ0FBUUFNaFZnSm9PREpSWmFWWVNkTjBkSFMwWnF6Z0J3QUFUUVJpSllDR1MwMU5mZm55SmJuTjRYQ1kvcFRsNWVWVjF6b0RBQUNvTThSS0FBMlhscGIyNXMyYnF0dWxVdW05ZS9mVVVSRUFBR2dteEVvQVRWWlJVWkdjbkN5WHkwbFRKZGxJYnRBMG5aYVdWblZRSkFBQVFOMGdWZ0pvc3RMUzBzVEV4SGM5K3ZUcFUrYjZPQUFBUUQwaFZnSm9zbi8vL2ZmMTY5ZlZQa1RUZEdGaDRhTkhqeHE5S0FBQTBFeUlsUUNhN09MRml6Uk4welJkYWVaejVqbzRzeTRGQUFCQVBTRldBbWlzdDIvZnhzZkhxL2FxVkVVMkppWW1WanVnQndBQW9MYXd5ZzZBeGlvb0tCZ3laQWh6Tno4Ly85NjlleEtKeE4zZDNjcktpdG4rOHVWTGMzTnpOZFVJQUFDYUE3RVNRR001T0Rpc1dMR0N1WnVjbkp5YW1wcWZuKy92NzQ4RmNBRUFnSFc0Q0E0QUFBQUFMRUNzQkFBQUFBQVdJRllDQUFBQUFBc1FLd0VBQUFDQUJZaVZBQUFBQU1BQ3hFb0FBQUFBWUFGaUpRQUFBQUN3QUxFU0FBQUFBRmlBV0FrQUFBQUFMRUNzQkFBQUFBQVdJRllDQUFBQUFBc1FLd0VBQUFDQUJZaVZBQUFBQU1BQ3hFb0FBQUFBWUFGaUpRQUFBQUN3QUxFU0FBQUFBRmlBV0FrQUFBQUFMRUNzQkFBQUFBQVdJRllDQUFBQUFBc1FLd0VBQUFDQUJZaVZBQUFBQU1BQ0xYVVhBQUNOU3FsVXBxV2w4Zmw4ZFJjQ1VGLzUrZm5xTGdFQS9nZGlKVURMSXBmTER4NDhxSzJ0cmU1Q0FPcXJyS3hNM1NVQXdQOUFyQVJvS1V4TVRDd3NMRXBMUzVWS3BVUWlVWGM1QVBXbHJhMHRFQWphdG0yTDB5U0FKb0pEMDdTNmF3Q0F4cUJVS3JPeXN0NitmYXZ1UWdCWW82V2xaV3RyYTJ4c3JPNUNBSUJDckFRQUFBQUFkbUFrT0FBQUFBQ3dBTEVTQUFBQUFGaUFXQWtBQUFBQUxFQ3NCQUFBQUFBV0lGWUNBQUFBQUFzUUt3RUFBQUNBQllpVkFBQUFBTUFDeEVvQUFBQUFZQUZpSlFBQUFBQ3dBTEVTQUFBQUFGaUFXQWtBQUFBQUxFQ3NCQUFBQUFBV0lGWUNBQUFBQUFzUUt3RUFBQUNBQllpVkFBQUFBTUFDeEVvQUFBQUFZQUZpSlFBQUFBQ3dBTEVTQUFBQUFGaUFXQWtBQUFBQUxFQ3NCQUFBQUFBV0lGWUNBQUFBQUFzUUt3RUFBQUNBQllpVkFBQUFBTUFDeEVvQUFBQUFZQUZpSlFBQUFBQ3dBTEVTQUFBQUFGaUFXQWtBQUFBQUxFQ3NCQUFBQUFBV0lGWUNBQUFBQUFzUUt3RUFBQUNBQllpVkFBQUFBTUFDeEVvQUFBQUFZQUZpSlFBQUFBQ3dBTEVTQUFBQUFGancvd0J5YjNLeHplZkpCd0FBQUFCSlJVNUVya0pnZ2c9PSIsCgkiVGhlbWUiIDogIiIsCgkiVHlwZSIgOiAiZmxvdyIsCgkiVXNlcklkIiA6ICIzNzYxNDAzMzciLAoJIlZlcnNpb24iIDogIjciCn0K"/>
    </extobj>
  </extobjs>
</s:customData>
</file>

<file path=customXml/itemProps1.xml><?xml version="1.0" encoding="utf-8"?>
<ds:datastoreItem xmlns:ds="http://schemas.openxmlformats.org/officeDocument/2006/customXml" ds:itemID="{53C1D04A-DA75-4373-9C81-84483ABEF81A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4217</TotalTime>
  <Words>2789</Words>
  <Application>Microsoft Office PowerPoint</Application>
  <PresentationFormat>宽屏</PresentationFormat>
  <Paragraphs>425</Paragraphs>
  <Slides>38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-apple-system</vt:lpstr>
      <vt:lpstr>PingFang SC</vt:lpstr>
      <vt:lpstr>system-ui</vt:lpstr>
      <vt:lpstr>等线</vt:lpstr>
      <vt:lpstr>宋体</vt:lpstr>
      <vt:lpstr>微软雅黑</vt:lpstr>
      <vt:lpstr>Arial</vt:lpstr>
      <vt:lpstr>Calibri</vt:lpstr>
      <vt:lpstr>Cambria</vt:lpstr>
      <vt:lpstr>Cambria Math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描述平均水平的指标</dc:title>
  <dc:creator>HP</dc:creator>
  <cp:lastModifiedBy>zicong chen</cp:lastModifiedBy>
  <cp:revision>493</cp:revision>
  <dcterms:created xsi:type="dcterms:W3CDTF">2021-11-08T11:24:00Z</dcterms:created>
  <dcterms:modified xsi:type="dcterms:W3CDTF">2025-12-06T09:16:54Z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Acrobat PDFMaker 10.1 PowerPoint 版</vt:lpwstr>
  </property>
  <property fmtid="{D5CDD505-2E9C-101B-9397-08002B2CF9AE}" pid="3" name="ICV">
    <vt:lpwstr>C52A457A7E5B4CCEA8B62C7367BADFAC_13</vt:lpwstr>
  </property>
  <property fmtid="{D5CDD505-2E9C-101B-9397-08002B2CF9AE}" pid="4" name="KSOProductBuildVer">
    <vt:lpwstr>2052-12.1.0.22529</vt:lpwstr>
  </property>
</Properties>
</file>